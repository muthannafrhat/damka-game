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custom six-piece teaching position, checked with the project’s real Game rules. It is not claimed to be a position from a recorded match. The BOT is o, the human is x. There are exactly two legal BOT moves, in the order A then B. All pieces are ordinary: O moves toward larger row numbers; X toward smaller ones. O(3,0) cannot jump over X(4,1), because the landing square (5,2) is occupied by another X. This presentation explains the search; the interactive HTML lets you advance through every recursive call and update in 64 teaching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 identity stays o throughout the search. The Game copy’s currentPlayer changes after Game.move. The code checks currentPlayer, so MAX and MIN follow the actual turn. In this example every move ends the turn. A continuing capture in another position could keep the same player. The winner check comes before depth zero; our example has no terminal positions, so all depth-zero returns use material evaluation. Depth counts individual moves or jumps. Integer.MIN_VALUE/MAX_VALUE are the real starting values, written as minus/plus infinity in the diagrams. At depth zero the stored turn is x, but no fourth move is searched.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path: A is O(1,2)→(2,1). Human A1 is X(3,2)→(1,0), capturing O(2,1). BOT A1a is O(2,3)→(3,2). At depth zero the position contains two ordinary O pieces and three ordinary X pieces, so the score is 6−9=−3. The real game remains unchanged: each step acts on a new Game copy. A recursive return ends this leaf invocation, not all active calls. The waiting MAX caller receives −3 as eval.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has BOT replies O(2,3)→(3,2) and O(2,3)→(3,4), both scoring −3. A2 is X(3,2)→(1,4), capturing O(2,3); its only BOT reply is O(2,1)→(3,2), also −3. The human MIN result for A is therefore −3. In A2 beta equals alpha after its last child, but there are no remaining moves to skip. The first candidate sets both bestScore and bestMove in findBestMove.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initial move is B: O(2,3)→(3,4). Its first minimax call has depth two, human x to move, alpha=INT_MIN and beta=INT_MAX. The previous bestScore −3 does not become alpha: findBestMove starts fresh limits for each initial candidate in this implementation. Human legal moves in production order are B1/H1 X(3,2)→(2,1), B2/H2 X(3,2)→(2,3), and B3/H3 X(5,2)→(4,3). The X piece at (4,1) is blocked. These are alternatives from the same B parent 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B board, copy the position and apply H1. It is now O’s simulated turn, so the new depth-one minimax invocation uses MAX. The human MIN call is paused at int eval=minimax(...). Its minEval remains +infinity until H1 returns. The child receives copied alpha/beta values. Changes to the child’s alpha do not directly change the caller’s alpha. The real game and the paused parent’s board are separate from this child copy. Above both is findBestMove, waiting for B’s final score.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B1a applies O(1,2)→(2,3) to a copy of H1. Current turn is now x but depth is zero, so the algorithm stops before searching a human move. Winner check is empty; evaluateBoard counts three O and three X ordinary pieces, returning zero. The depth-one BOT caller resumes: eval=0, maxEval=0, alpha=0. Its beta is still +infinity, so no pruning occurs. The next loop iteration uses a fresh copy of the H1 parent, not this leaf 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H1 BOT replies in production order are O(1,2)→(2,3), O(3,4)→(4,3), and O(3,4)→(4,5). Each makes a fresh copy of H1 and each depth-zero evaluation returns zero. No one adds the three scores: they are alternative choices, so MAX returns zero. Human MIN receives eval=0, sets minEval=min(+infinity,0)=0 and beta=min(+infinity,0)=0. Its alpha remains −infinity. This beta will be passed into the next BOT child calls.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H2 from a fresh copy of B, apply X(3,2)→(2,3), then enter BOT MAX with depth one, alpha=−infinity and inherited beta=0. Its first reply O(1,2)→(2,1) returns zero. This raises maxEval and alpha to zero. beta&lt;=alpha is true even at equality, so O(3,4)→(4,3) and O(3,4)→(4,5) are skipped. The pruned call returns zero as a sufficient lower bound for its MAX result. The caller’s minEval and beta stay zero. The search continues to H3; it has not ended.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H3 alternative is X(5,2)→(4,3), copied from B, not from H2. The BOT MAX call inherits beta=0 because H1 has already given the human that choice. This call starts its own alpha and maxEval at −infinity. There are exactly two legal BOT moves, both mandatory captures: B3a O(3,0)→(5,2) captures X(4,1); B3b O(3,4)→(5,2) captures X(4,3). Both land at the same destination but use different moving pieces and remove different human pieces. They are alternatives, never two consecutive moves in this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B3a the BOT removes X at (4,1), leaving three O versus two X pieces. This board has no winner, so evaluateBoard returns 9−6=+3. The child call has completely finished at the selected horizon. Its BOT MAX parent receives eval=3 and updates maxEval and alpha to three. The beta copied into this MAX parent remains zero. The second capture B3b is still unvisited. No later exploration of alternative replies can modify B3a’s already returned score.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proof of pruning in this real example. The partially explored H3 node is MAX: the BOT can always retain its already found response worth three. Remaining replies are alternatives from the H3 parent position, not moves after the three-scoring reply. A worse alternative cannot erase that option. The human MIN parent has H1=0 available and prefers zero to any value at least three. Therefore skipping H3’s other reply cannot change the human parent’s result. This is the BOT predicting the human’s strongest response; the actual human is not making a choice during the calculation. The score three already includes the future searched under B3a, here ending at depth zero.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cutoff condition is beta&lt;=alpha, here zero&lt;=three. break exits only the for loop of the current BOT MAX invocation. Execution then reaches return maxEval and returns three to the waiting human MIN invocation. Because H3 was pruned, three is a sufficient lower bound on its full MAX value, not a claim that all H3 replies were searched. Human minEval stays zero after min(0,3). Each invocation owns its alpha, beta and best variable; the child does not directly assign the parent’s beta. The parent uses the returned eval to update its own variables.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 human MIN call has an exact score zero: H1 provides zero, while the H2 and H3 cutoffs establish they cannot make that MIN smaller. It returns zero to findBestMove. The root compares zero to A’s score −3, replaces bestScore with zero and bestMove with B, then returns the Game.Move for O(2,3)→(3,4). The root returns the move, not the score. Only afterward does DamkaFX applyLocalMove call Game.move on the live game and animate it. The chosen move gives score zero at this search horizon; it is not a guarantee of a drawn full match.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 includes the initial findBestMove position plus eighteen potential minimax invocations. Alpha–beta skips B2b, B2c and B3b, reducing minimax calls from eighteen to fifteen and leaf evaluations from eleven to eight. The root wrapper is excluded from both call counts. Numbers on visited leaves are real evaluations. Skipped leaves show SKIP, not scores purportedly calculated by the pruned run. The whole-tree values were checked separately without pruning, and the production private minimax and public findBestMove agree with all traced results. Node IDs match the interactive walkthrough. Even without visiting a skipped leaf, its move is available from Game.getValidMoves; the search simply never recurses into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Minimax_Interactive.html directly in a browser; it is self-contained and needs no server or internet. Move one event at a time. First try to predict the next event, then check the explanation, current board, code and per-call variable cards. Jump to a node to focus on the part that is difficult. In VS Code a breakpoint at the recursive call and another at beta&lt;=alpha can show the same call stack. Actual example verified using Game.java, Board.java, Piece.java, Position.java and BotPlayer.java from the current main checkout (52c8a2b); no application code was edited. Normal pieces score three, kings six, and terminal outcomes use ±10000, but this example has no kings, wins or continuing captures. It demonstrates the MAX-side cutoff; the same beta&lt;=alpha condition is also used symmetrically at MIN nodes.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SELF-STUDY / VERIFIED JAVA TRACE</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Watch the BOT think — on a real board</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01</a:t>
            </a:r>
          </a:p>
        </p:txBody>
      </p:sp>
      <p:sp>
        <p:nvSpPr>
          <p:cNvPr id="9" name="TextBox 8"/>
          <p:cNvSpPr txBox="1"/>
          <p:nvPr/>
        </p:nvSpPr>
        <p:spPr>
          <a:xfrm>
            <a:off x="868680" y="1600200"/>
            <a:ext cx="429768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Starting position · BOT to move</a:t>
            </a:r>
          </a:p>
        </p:txBody>
      </p:sp>
      <p:sp>
        <p:nvSpPr>
          <p:cNvPr id="10" name="Rectangle 9"/>
          <p:cNvSpPr/>
          <p:nvPr/>
        </p:nvSpPr>
        <p:spPr>
          <a:xfrm>
            <a:off x="822959" y="2194560"/>
            <a:ext cx="4389120" cy="438912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41218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24028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5890" y="224028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43100" y="224028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80310" y="224028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17520" y="224028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54730" y="224028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91940" y="224028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629150" y="224028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294939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589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77749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5890" y="277749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43100" y="277749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23681" y="2858071"/>
            <a:ext cx="376047" cy="37604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023681" y="292253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28" name="Rectangle 27"/>
          <p:cNvSpPr/>
          <p:nvPr/>
        </p:nvSpPr>
        <p:spPr>
          <a:xfrm>
            <a:off x="2480310" y="277749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3017520" y="277749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54730" y="277749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91940" y="277749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629150" y="277749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48660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4310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31470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5890" y="331470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943100" y="331470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80310" y="331470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2560891" y="3395281"/>
            <a:ext cx="376047" cy="37604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60891" y="345974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41" name="Rectangle 40"/>
          <p:cNvSpPr/>
          <p:nvPr/>
        </p:nvSpPr>
        <p:spPr>
          <a:xfrm>
            <a:off x="3017520" y="331470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3554730" y="331470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4091940" y="331470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4629150" y="331470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57783" y="402381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6" name="TextBox 45"/>
          <p:cNvSpPr txBox="1"/>
          <p:nvPr/>
        </p:nvSpPr>
        <p:spPr>
          <a:xfrm>
            <a:off x="248031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7" name="Rectangle 46"/>
          <p:cNvSpPr/>
          <p:nvPr/>
        </p:nvSpPr>
        <p:spPr>
          <a:xfrm>
            <a:off x="868680" y="385191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49261" y="3932491"/>
            <a:ext cx="376047" cy="37604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49261" y="399695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0" name="Rectangle 49"/>
          <p:cNvSpPr/>
          <p:nvPr/>
        </p:nvSpPr>
        <p:spPr>
          <a:xfrm>
            <a:off x="1405890" y="385191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1943100" y="385191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2023681" y="3932491"/>
            <a:ext cx="376047" cy="37604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023681" y="399695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54" name="Rectangle 53"/>
          <p:cNvSpPr/>
          <p:nvPr/>
        </p:nvSpPr>
        <p:spPr>
          <a:xfrm>
            <a:off x="2480310" y="385191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3017520" y="385191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ctangle 55"/>
          <p:cNvSpPr/>
          <p:nvPr/>
        </p:nvSpPr>
        <p:spPr>
          <a:xfrm>
            <a:off x="3554730" y="385191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91940" y="385191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629150" y="385191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56102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301752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38912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5890" y="438912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86471" y="4469701"/>
            <a:ext cx="376047" cy="37604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86471" y="453416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43100" y="438912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80310" y="438912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3017520" y="438912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3554730" y="438912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4091940" y="438912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4629150" y="438912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7783" y="509823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355473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868680" y="492633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405890" y="492633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943100" y="492633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2023681" y="5006911"/>
            <a:ext cx="376047" cy="37604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023681" y="5071376"/>
            <a:ext cx="376047" cy="241744"/>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8" name="Rectangle 77"/>
          <p:cNvSpPr/>
          <p:nvPr/>
        </p:nvSpPr>
        <p:spPr>
          <a:xfrm>
            <a:off x="2480310" y="492633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3017520" y="492633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54730" y="492633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91940" y="492633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629150" y="492633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63544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9194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46354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5890" y="546354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43100" y="546354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80310" y="546354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3017520" y="546354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54730" y="546354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91940" y="546354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629150" y="546354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172657"/>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629150" y="1938528"/>
            <a:ext cx="5372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0075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5890" y="600075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43100" y="600075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80310" y="600075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3017520" y="600075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54730" y="600075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91940" y="6000750"/>
            <a:ext cx="537210" cy="5372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629150" y="6000750"/>
            <a:ext cx="537210" cy="5372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ounded Rectangle 102"/>
          <p:cNvSpPr/>
          <p:nvPr/>
        </p:nvSpPr>
        <p:spPr>
          <a:xfrm>
            <a:off x="5715000" y="1892807"/>
            <a:ext cx="3383280" cy="384048"/>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5788152" y="1965960"/>
            <a:ext cx="3236976" cy="274320"/>
          </a:xfrm>
          <a:prstGeom prst="rect">
            <a:avLst/>
          </a:prstGeom>
          <a:noFill/>
        </p:spPr>
        <p:txBody>
          <a:bodyPr wrap="square" lIns="0" rIns="0" tIns="0" bIns="0">
            <a:noAutofit/>
          </a:bodyPr>
          <a:lstStyle/>
          <a:p>
            <a:pPr algn="ctr">
              <a:lnSpc>
                <a:spcPct val="107000"/>
              </a:lnSpc>
              <a:spcBef>
                <a:spcPts val="0"/>
              </a:spcBef>
              <a:spcAft>
                <a:spcPts val="500"/>
              </a:spcAft>
              <a:defRPr sz="1700" b="1">
                <a:solidFill>
                  <a:srgbClr val="267A77"/>
                </a:solidFill>
                <a:latin typeface="Arial"/>
              </a:defRPr>
            </a:pPr>
            <a:r>
              <a:t>o  BOT · MAX</a:t>
            </a:r>
          </a:p>
        </p:txBody>
      </p:sp>
      <p:sp>
        <p:nvSpPr>
          <p:cNvPr id="105" name="Rounded Rectangle 104"/>
          <p:cNvSpPr/>
          <p:nvPr/>
        </p:nvSpPr>
        <p:spPr>
          <a:xfrm>
            <a:off x="9555480" y="1892807"/>
            <a:ext cx="3703320" cy="384048"/>
          </a:xfrm>
          <a:prstGeom prst="roundRect">
            <a:avLst>
              <a:gd name="adj" fmla="val 11000"/>
            </a:avLst>
          </a:prstGeom>
          <a:solidFill>
            <a:srgbClr val="F9EA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extBox 105"/>
          <p:cNvSpPr txBox="1"/>
          <p:nvPr/>
        </p:nvSpPr>
        <p:spPr>
          <a:xfrm>
            <a:off x="9628632" y="1965960"/>
            <a:ext cx="3557015" cy="274320"/>
          </a:xfrm>
          <a:prstGeom prst="rect">
            <a:avLst/>
          </a:prstGeom>
          <a:noFill/>
        </p:spPr>
        <p:txBody>
          <a:bodyPr wrap="square" lIns="0" rIns="0" tIns="0" bIns="0">
            <a:noAutofit/>
          </a:bodyPr>
          <a:lstStyle/>
          <a:p>
            <a:pPr algn="ctr">
              <a:lnSpc>
                <a:spcPct val="107000"/>
              </a:lnSpc>
              <a:spcBef>
                <a:spcPts val="0"/>
              </a:spcBef>
              <a:spcAft>
                <a:spcPts val="500"/>
              </a:spcAft>
              <a:defRPr sz="1700" b="1">
                <a:solidFill>
                  <a:srgbClr val="B95646"/>
                </a:solidFill>
                <a:latin typeface="Arial"/>
              </a:defRPr>
            </a:pPr>
            <a:r>
              <a:t>x  HUMAN · MIN</a:t>
            </a:r>
          </a:p>
        </p:txBody>
      </p:sp>
      <p:sp>
        <p:nvSpPr>
          <p:cNvPr id="107" name="TextBox 106"/>
          <p:cNvSpPr txBox="1"/>
          <p:nvPr/>
        </p:nvSpPr>
        <p:spPr>
          <a:xfrm>
            <a:off x="5715000" y="2670048"/>
            <a:ext cx="8046720" cy="594360"/>
          </a:xfrm>
          <a:prstGeom prst="rect">
            <a:avLst/>
          </a:prstGeom>
          <a:noFill/>
        </p:spPr>
        <p:txBody>
          <a:bodyPr wrap="square" lIns="0" rIns="0" tIns="0" bIns="0">
            <a:noAutofit/>
          </a:bodyPr>
          <a:lstStyle/>
          <a:p>
            <a:pPr algn="l">
              <a:lnSpc>
                <a:spcPct val="107000"/>
              </a:lnSpc>
              <a:spcBef>
                <a:spcPts val="0"/>
              </a:spcBef>
              <a:spcAft>
                <a:spcPts val="500"/>
              </a:spcAft>
              <a:defRPr sz="2900" b="1">
                <a:solidFill>
                  <a:srgbClr val="17362D"/>
                </a:solidFill>
                <a:latin typeface="Arial"/>
              </a:defRPr>
            </a:pPr>
            <a:r>
              <a:t>Which move should O choose?</a:t>
            </a:r>
          </a:p>
        </p:txBody>
      </p:sp>
      <p:sp>
        <p:nvSpPr>
          <p:cNvPr id="108" name="Rounded Rectangle 107"/>
          <p:cNvSpPr/>
          <p:nvPr/>
        </p:nvSpPr>
        <p:spPr>
          <a:xfrm>
            <a:off x="5715000" y="3566160"/>
            <a:ext cx="7955279" cy="129844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angle 108"/>
          <p:cNvSpPr/>
          <p:nvPr/>
        </p:nvSpPr>
        <p:spPr>
          <a:xfrm>
            <a:off x="5742432" y="3703320"/>
            <a:ext cx="41148" cy="1024127"/>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5916168" y="3712463"/>
            <a:ext cx="7552944" cy="384048"/>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A  (1,2) → (2,1)</a:t>
            </a:r>
          </a:p>
        </p:txBody>
      </p:sp>
      <p:sp>
        <p:nvSpPr>
          <p:cNvPr id="111" name="TextBox 110"/>
          <p:cNvSpPr txBox="1"/>
          <p:nvPr/>
        </p:nvSpPr>
        <p:spPr>
          <a:xfrm>
            <a:off x="5916168" y="4160520"/>
            <a:ext cx="7552944" cy="612647"/>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Arial"/>
              </a:defRPr>
            </a:pPr>
            <a:r>
              <a:t>One legal starting move</a:t>
            </a:r>
          </a:p>
        </p:txBody>
      </p:sp>
      <p:sp>
        <p:nvSpPr>
          <p:cNvPr id="112" name="Rounded Rectangle 111"/>
          <p:cNvSpPr/>
          <p:nvPr/>
        </p:nvSpPr>
        <p:spPr>
          <a:xfrm>
            <a:off x="5715000" y="5084064"/>
            <a:ext cx="7955279" cy="129844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Rectangle 112"/>
          <p:cNvSpPr/>
          <p:nvPr/>
        </p:nvSpPr>
        <p:spPr>
          <a:xfrm>
            <a:off x="5742432" y="5221224"/>
            <a:ext cx="41148" cy="1024127"/>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extBox 113"/>
          <p:cNvSpPr txBox="1"/>
          <p:nvPr/>
        </p:nvSpPr>
        <p:spPr>
          <a:xfrm>
            <a:off x="5916168" y="5230368"/>
            <a:ext cx="7552944" cy="384048"/>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67A77"/>
                </a:solidFill>
                <a:latin typeface="Arial"/>
              </a:defRPr>
            </a:pPr>
            <a:r>
              <a:t>B  (2,3) → (3,4)</a:t>
            </a:r>
          </a:p>
        </p:txBody>
      </p:sp>
      <p:sp>
        <p:nvSpPr>
          <p:cNvPr id="115" name="TextBox 114"/>
          <p:cNvSpPr txBox="1"/>
          <p:nvPr/>
        </p:nvSpPr>
        <p:spPr>
          <a:xfrm>
            <a:off x="5916168" y="5678424"/>
            <a:ext cx="7552944" cy="612647"/>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Arial"/>
              </a:defRPr>
            </a:pPr>
            <a:r>
              <a:t>The other legal starting move</a:t>
            </a:r>
          </a:p>
        </p:txBody>
      </p:sp>
      <p:sp>
        <p:nvSpPr>
          <p:cNvPr id="116" name="Rounded Rectangle 115"/>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We will follow the actual recursive calls, then see exactly where work is skipped.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Depth 3 means three simulated moves</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02</a:t>
            </a:r>
          </a:p>
        </p:txBody>
      </p:sp>
      <p:sp>
        <p:nvSpPr>
          <p:cNvPr id="9" name="Rounded Rectangle 8"/>
          <p:cNvSpPr/>
          <p:nvPr/>
        </p:nvSpPr>
        <p:spPr>
          <a:xfrm>
            <a:off x="594360" y="1938528"/>
            <a:ext cx="4206240" cy="178308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 y="2075688"/>
            <a:ext cx="41148" cy="150876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95528" y="2084832"/>
            <a:ext cx="3803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67A77"/>
                </a:solidFill>
                <a:latin typeface="Arial"/>
              </a:defRPr>
            </a:pPr>
            <a:r>
              <a:t>1 · BOT candidate</a:t>
            </a:r>
          </a:p>
        </p:txBody>
      </p:sp>
      <p:sp>
        <p:nvSpPr>
          <p:cNvPr id="12" name="TextBox 11"/>
          <p:cNvSpPr txBox="1"/>
          <p:nvPr/>
        </p:nvSpPr>
        <p:spPr>
          <a:xfrm>
            <a:off x="795528" y="2596896"/>
            <a:ext cx="3803903" cy="1033271"/>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Arial"/>
              </a:defRPr>
            </a:pPr>
            <a:r>
              <a:t>findBestMove(depth 3)</a:t>
            </a:r>
          </a:p>
          <a:p>
            <a:pPr algn="l">
              <a:lnSpc>
                <a:spcPct val="107000"/>
              </a:lnSpc>
              <a:spcBef>
                <a:spcPts val="0"/>
              </a:spcBef>
              <a:spcAft>
                <a:spcPts val="500"/>
              </a:spcAft>
              <a:defRPr sz="2100" b="0">
                <a:solidFill>
                  <a:srgbClr val="17362D"/>
                </a:solidFill>
                <a:latin typeface="Arial"/>
              </a:defRPr>
            </a:pPr>
            <a:r>
              <a:t>Apply O’s move to a copy.</a:t>
            </a:r>
          </a:p>
        </p:txBody>
      </p:sp>
      <p:sp>
        <p:nvSpPr>
          <p:cNvPr id="13" name="Rounded Rectangle 12"/>
          <p:cNvSpPr/>
          <p:nvPr/>
        </p:nvSpPr>
        <p:spPr>
          <a:xfrm>
            <a:off x="5212080" y="1938528"/>
            <a:ext cx="4206240" cy="178308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239512" y="2075688"/>
            <a:ext cx="41148" cy="1508760"/>
          </a:xfrm>
          <a:prstGeom prst="rect">
            <a:avLst/>
          </a:prstGeom>
          <a:solidFill>
            <a:srgbClr val="B956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413248" y="2084832"/>
            <a:ext cx="3803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B95646"/>
                </a:solidFill>
                <a:latin typeface="Arial"/>
              </a:defRPr>
            </a:pPr>
            <a:r>
              <a:t>2 · Human response</a:t>
            </a:r>
          </a:p>
        </p:txBody>
      </p:sp>
      <p:sp>
        <p:nvSpPr>
          <p:cNvPr id="16" name="TextBox 15"/>
          <p:cNvSpPr txBox="1"/>
          <p:nvPr/>
        </p:nvSpPr>
        <p:spPr>
          <a:xfrm>
            <a:off x="5413248" y="2596896"/>
            <a:ext cx="3803903" cy="1033271"/>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Arial"/>
              </a:defRPr>
            </a:pPr>
            <a:r>
              <a:t>minimax(depth 2)</a:t>
            </a:r>
          </a:p>
          <a:p>
            <a:pPr algn="l">
              <a:lnSpc>
                <a:spcPct val="107000"/>
              </a:lnSpc>
              <a:spcBef>
                <a:spcPts val="0"/>
              </a:spcBef>
              <a:spcAft>
                <a:spcPts val="500"/>
              </a:spcAft>
              <a:defRPr sz="2100" b="0">
                <a:solidFill>
                  <a:srgbClr val="17362D"/>
                </a:solidFill>
                <a:latin typeface="Arial"/>
              </a:defRPr>
            </a:pPr>
            <a:r>
              <a:t>Current player x → MIN.</a:t>
            </a:r>
          </a:p>
        </p:txBody>
      </p:sp>
      <p:sp>
        <p:nvSpPr>
          <p:cNvPr id="17" name="Rounded Rectangle 16"/>
          <p:cNvSpPr/>
          <p:nvPr/>
        </p:nvSpPr>
        <p:spPr>
          <a:xfrm>
            <a:off x="9829800" y="1938528"/>
            <a:ext cx="4206240" cy="178308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9857232" y="2075688"/>
            <a:ext cx="41148" cy="150876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030968" y="2084832"/>
            <a:ext cx="3803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67A77"/>
                </a:solidFill>
                <a:latin typeface="Arial"/>
              </a:defRPr>
            </a:pPr>
            <a:r>
              <a:t>3 · BOT reply</a:t>
            </a:r>
          </a:p>
        </p:txBody>
      </p:sp>
      <p:sp>
        <p:nvSpPr>
          <p:cNvPr id="20" name="TextBox 19"/>
          <p:cNvSpPr txBox="1"/>
          <p:nvPr/>
        </p:nvSpPr>
        <p:spPr>
          <a:xfrm>
            <a:off x="10030968" y="2596896"/>
            <a:ext cx="3803903" cy="1033271"/>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Arial"/>
              </a:defRPr>
            </a:pPr>
            <a:r>
              <a:t>minimax(depth 1)</a:t>
            </a:r>
          </a:p>
          <a:p>
            <a:pPr algn="l">
              <a:lnSpc>
                <a:spcPct val="107000"/>
              </a:lnSpc>
              <a:spcBef>
                <a:spcPts val="0"/>
              </a:spcBef>
              <a:spcAft>
                <a:spcPts val="500"/>
              </a:spcAft>
              <a:defRPr sz="2100" b="0">
                <a:solidFill>
                  <a:srgbClr val="17362D"/>
                </a:solidFill>
                <a:latin typeface="Arial"/>
              </a:defRPr>
            </a:pPr>
            <a:r>
              <a:t>Current player o → MAX.</a:t>
            </a:r>
          </a:p>
        </p:txBody>
      </p:sp>
      <p:sp>
        <p:nvSpPr>
          <p:cNvPr id="21" name="TextBox 20"/>
          <p:cNvSpPr txBox="1"/>
          <p:nvPr/>
        </p:nvSpPr>
        <p:spPr>
          <a:xfrm>
            <a:off x="640080" y="4041648"/>
            <a:ext cx="13441680" cy="594360"/>
          </a:xfrm>
          <a:prstGeom prst="rect">
            <a:avLst/>
          </a:prstGeom>
          <a:noFill/>
        </p:spPr>
        <p:txBody>
          <a:bodyPr wrap="square" lIns="0" rIns="0" tIns="0" bIns="0">
            <a:noAutofit/>
          </a:bodyPr>
          <a:lstStyle/>
          <a:p>
            <a:pPr algn="l">
              <a:lnSpc>
                <a:spcPct val="107000"/>
              </a:lnSpc>
              <a:spcBef>
                <a:spcPts val="0"/>
              </a:spcBef>
              <a:spcAft>
                <a:spcPts val="500"/>
              </a:spcAft>
              <a:defRPr sz="2500" b="1">
                <a:solidFill>
                  <a:srgbClr val="17362D"/>
                </a:solidFill>
                <a:latin typeface="Arial"/>
              </a:defRPr>
            </a:pPr>
            <a:r>
              <a:t>After the third move: minimax(depth 0) counts the pieces and returns a score.</a:t>
            </a:r>
          </a:p>
        </p:txBody>
      </p:sp>
      <p:sp>
        <p:nvSpPr>
          <p:cNvPr id="22" name="Rounded Rectangle 21"/>
          <p:cNvSpPr/>
          <p:nvPr/>
        </p:nvSpPr>
        <p:spPr>
          <a:xfrm>
            <a:off x="640080" y="4992624"/>
            <a:ext cx="7863840" cy="1536192"/>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2959" y="5120640"/>
            <a:ext cx="7498079" cy="315468"/>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Game copy = new Game(game);</a:t>
            </a:r>
          </a:p>
        </p:txBody>
      </p:sp>
      <p:sp>
        <p:nvSpPr>
          <p:cNvPr id="24" name="TextBox 23"/>
          <p:cNvSpPr txBox="1"/>
          <p:nvPr/>
        </p:nvSpPr>
        <p:spPr>
          <a:xfrm>
            <a:off x="822959" y="5436107"/>
            <a:ext cx="7498079" cy="315468"/>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copy.move(from, to);</a:t>
            </a:r>
          </a:p>
        </p:txBody>
      </p:sp>
      <p:sp>
        <p:nvSpPr>
          <p:cNvPr id="25" name="TextBox 24"/>
          <p:cNvSpPr txBox="1"/>
          <p:nvPr/>
        </p:nvSpPr>
        <p:spPr>
          <a:xfrm>
            <a:off x="822959" y="5751575"/>
            <a:ext cx="7498079" cy="315468"/>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minimax(copy, 2, 'o',</a:t>
            </a:r>
          </a:p>
        </p:txBody>
      </p:sp>
      <p:sp>
        <p:nvSpPr>
          <p:cNvPr id="26" name="TextBox 25"/>
          <p:cNvSpPr txBox="1"/>
          <p:nvPr/>
        </p:nvSpPr>
        <p:spPr>
          <a:xfrm>
            <a:off x="822959" y="6067044"/>
            <a:ext cx="7498079" cy="315468"/>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        Integer.MIN_VALUE, Integer.MAX_VALUE);</a:t>
            </a:r>
          </a:p>
        </p:txBody>
      </p:sp>
      <p:sp>
        <p:nvSpPr>
          <p:cNvPr id="27" name="Rounded Rectangle 26"/>
          <p:cNvSpPr/>
          <p:nvPr/>
        </p:nvSpPr>
        <p:spPr>
          <a:xfrm>
            <a:off x="8823960" y="4617720"/>
            <a:ext cx="5193792" cy="192024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8851392" y="4754880"/>
            <a:ext cx="41148" cy="1645920"/>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025128" y="4818888"/>
            <a:ext cx="4791455"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27604A"/>
                </a:solidFill>
                <a:latin typeface="Arial"/>
              </a:defRPr>
            </a:pPr>
            <a:r>
              <a:t>The first limits</a:t>
            </a:r>
          </a:p>
        </p:txBody>
      </p:sp>
      <p:sp>
        <p:nvSpPr>
          <p:cNvPr id="30" name="TextBox 29"/>
          <p:cNvSpPr txBox="1"/>
          <p:nvPr/>
        </p:nvSpPr>
        <p:spPr>
          <a:xfrm>
            <a:off x="9025128" y="5477256"/>
            <a:ext cx="4791455" cy="969264"/>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Arial"/>
              </a:defRPr>
            </a:pPr>
            <a:r>
              <a:t>alpha = −2,147,483,648  (−∞)</a:t>
            </a:r>
          </a:p>
          <a:p>
            <a:pPr algn="l">
              <a:lnSpc>
                <a:spcPct val="107000"/>
              </a:lnSpc>
              <a:spcBef>
                <a:spcPts val="0"/>
              </a:spcBef>
              <a:spcAft>
                <a:spcPts val="500"/>
              </a:spcAft>
              <a:defRPr sz="1800" b="0">
                <a:solidFill>
                  <a:srgbClr val="17362D"/>
                </a:solidFill>
                <a:latin typeface="Arial"/>
              </a:defRPr>
            </a:pPr>
            <a:r>
              <a:t>beta  = +2,147,483,647  (+∞)</a:t>
            </a:r>
          </a:p>
        </p:txBody>
      </p:sp>
      <p:sp>
        <p:nvSpPr>
          <p:cNvPr id="31" name="Rounded Rectangle 30"/>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The BOT calculates both sides. Game.move() decides whose simulated turn comes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Candidate A: follow one path to a real score</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03</a:t>
            </a:r>
          </a:p>
        </p:txBody>
      </p:sp>
      <p:sp>
        <p:nvSpPr>
          <p:cNvPr id="9" name="TextBox 8"/>
          <p:cNvSpPr txBox="1"/>
          <p:nvPr/>
        </p:nvSpPr>
        <p:spPr>
          <a:xfrm>
            <a:off x="868680" y="1664208"/>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Leaf A1a · depth 0 · return −3</a:t>
            </a:r>
          </a:p>
        </p:txBody>
      </p:sp>
      <p:sp>
        <p:nvSpPr>
          <p:cNvPr id="10" name="Rectangle 9"/>
          <p:cNvSpPr/>
          <p:nvPr/>
        </p:nvSpPr>
        <p:spPr>
          <a:xfrm>
            <a:off x="822959" y="2258568"/>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47436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042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042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042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042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042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042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042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042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0586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8357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948404" y="2915507"/>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48404" y="297928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26" name="Rectangle 25"/>
          <p:cNvSpPr/>
          <p:nvPr/>
        </p:nvSpPr>
        <p:spPr>
          <a:xfrm>
            <a:off x="1400175" y="28357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1931669" y="28357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463165" y="28357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2994660" y="28357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26155" y="28357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57650" y="28357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589145" y="28357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53735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31669"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3672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0175" y="33672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931669" y="33672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3672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2994660" y="33672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3526155" y="33672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4057650" y="33672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4589145" y="33672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557783" y="40688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4" name="TextBox 43"/>
          <p:cNvSpPr txBox="1"/>
          <p:nvPr/>
        </p:nvSpPr>
        <p:spPr>
          <a:xfrm>
            <a:off x="2463165"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5" name="Rectangle 44"/>
          <p:cNvSpPr/>
          <p:nvPr/>
        </p:nvSpPr>
        <p:spPr>
          <a:xfrm>
            <a:off x="868680" y="38987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948404" y="3978497"/>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948404" y="404227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48" name="Rectangle 47"/>
          <p:cNvSpPr/>
          <p:nvPr/>
        </p:nvSpPr>
        <p:spPr>
          <a:xfrm>
            <a:off x="1400175" y="38987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1931669" y="38987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2011394" y="3978497"/>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2011394" y="404227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2" name="Rectangle 51"/>
          <p:cNvSpPr/>
          <p:nvPr/>
        </p:nvSpPr>
        <p:spPr>
          <a:xfrm>
            <a:off x="2463165" y="38987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8987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ectangle 53"/>
          <p:cNvSpPr/>
          <p:nvPr/>
        </p:nvSpPr>
        <p:spPr>
          <a:xfrm>
            <a:off x="3526155" y="38987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4057650" y="38987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ctangle 55"/>
          <p:cNvSpPr/>
          <p:nvPr/>
        </p:nvSpPr>
        <p:spPr>
          <a:xfrm>
            <a:off x="4589145" y="38987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57783" y="460034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58" name="TextBox 57"/>
          <p:cNvSpPr txBox="1"/>
          <p:nvPr/>
        </p:nvSpPr>
        <p:spPr>
          <a:xfrm>
            <a:off x="2994660"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59" name="Rectangle 58"/>
          <p:cNvSpPr/>
          <p:nvPr/>
        </p:nvSpPr>
        <p:spPr>
          <a:xfrm>
            <a:off x="868680" y="443026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ctangle 59"/>
          <p:cNvSpPr/>
          <p:nvPr/>
        </p:nvSpPr>
        <p:spPr>
          <a:xfrm>
            <a:off x="1400175" y="443026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1479899" y="4509992"/>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1479899" y="4573771"/>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3" name="Rectangle 62"/>
          <p:cNvSpPr/>
          <p:nvPr/>
        </p:nvSpPr>
        <p:spPr>
          <a:xfrm>
            <a:off x="1931669" y="443026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ectangle 63"/>
          <p:cNvSpPr/>
          <p:nvPr/>
        </p:nvSpPr>
        <p:spPr>
          <a:xfrm>
            <a:off x="2463165" y="443026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Rectangle 64"/>
          <p:cNvSpPr/>
          <p:nvPr/>
        </p:nvSpPr>
        <p:spPr>
          <a:xfrm>
            <a:off x="2994660" y="443026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3526155" y="443026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4057650" y="443026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4589145" y="443026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57783" y="513184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0" name="TextBox 69"/>
          <p:cNvSpPr txBox="1"/>
          <p:nvPr/>
        </p:nvSpPr>
        <p:spPr>
          <a:xfrm>
            <a:off x="3526155"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1" name="Rectangle 70"/>
          <p:cNvSpPr/>
          <p:nvPr/>
        </p:nvSpPr>
        <p:spPr>
          <a:xfrm>
            <a:off x="868680" y="496176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angle 71"/>
          <p:cNvSpPr/>
          <p:nvPr/>
        </p:nvSpPr>
        <p:spPr>
          <a:xfrm>
            <a:off x="1400175" y="496176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ectangle 72"/>
          <p:cNvSpPr/>
          <p:nvPr/>
        </p:nvSpPr>
        <p:spPr>
          <a:xfrm>
            <a:off x="1931669" y="496176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2011394" y="5041487"/>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11394" y="510526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6" name="Rectangle 75"/>
          <p:cNvSpPr/>
          <p:nvPr/>
        </p:nvSpPr>
        <p:spPr>
          <a:xfrm>
            <a:off x="2463165" y="496176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2994660" y="496176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3526155" y="496176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4057650" y="496176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4589145" y="496176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57783" y="566333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2" name="TextBox 81"/>
          <p:cNvSpPr txBox="1"/>
          <p:nvPr/>
        </p:nvSpPr>
        <p:spPr>
          <a:xfrm>
            <a:off x="4057650"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3" name="Rectangle 82"/>
          <p:cNvSpPr/>
          <p:nvPr/>
        </p:nvSpPr>
        <p:spPr>
          <a:xfrm>
            <a:off x="868680" y="549325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1400175" y="549325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1931669" y="549325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2463165" y="549325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2994660" y="549325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3526155" y="549325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4057650" y="549325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4589145" y="549325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557783" y="619483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2" name="TextBox 91"/>
          <p:cNvSpPr txBox="1"/>
          <p:nvPr/>
        </p:nvSpPr>
        <p:spPr>
          <a:xfrm>
            <a:off x="4589145" y="2002536"/>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3" name="Rectangle 92"/>
          <p:cNvSpPr/>
          <p:nvPr/>
        </p:nvSpPr>
        <p:spPr>
          <a:xfrm>
            <a:off x="868680" y="602475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angle 93"/>
          <p:cNvSpPr/>
          <p:nvPr/>
        </p:nvSpPr>
        <p:spPr>
          <a:xfrm>
            <a:off x="1400175" y="602475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ectangle 94"/>
          <p:cNvSpPr/>
          <p:nvPr/>
        </p:nvSpPr>
        <p:spPr>
          <a:xfrm>
            <a:off x="1931669" y="602475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2463165" y="602475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2994660" y="602475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3526155" y="602475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4057650" y="602475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4589145" y="602475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2490597" y="3394710"/>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1959101" y="3926205"/>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3" name="Connector 102"/>
          <p:cNvCxnSpPr/>
          <p:nvPr/>
        </p:nvCxnSpPr>
        <p:spPr>
          <a:xfrm flipH="1">
            <a:off x="2197417" y="3633025"/>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4" name="TextBox 103"/>
          <p:cNvSpPr txBox="1"/>
          <p:nvPr/>
        </p:nvSpPr>
        <p:spPr>
          <a:xfrm>
            <a:off x="5715000" y="1975104"/>
            <a:ext cx="8046720" cy="457200"/>
          </a:xfrm>
          <a:prstGeom prst="rect">
            <a:avLst/>
          </a:prstGeom>
          <a:noFill/>
        </p:spPr>
        <p:txBody>
          <a:bodyPr wrap="square" lIns="0" rIns="0" tIns="0" bIns="0">
            <a:noAutofit/>
          </a:bodyPr>
          <a:lstStyle/>
          <a:p>
            <a:pPr algn="l">
              <a:lnSpc>
                <a:spcPct val="107000"/>
              </a:lnSpc>
              <a:spcBef>
                <a:spcPts val="0"/>
              </a:spcBef>
              <a:spcAft>
                <a:spcPts val="500"/>
              </a:spcAft>
              <a:defRPr sz="2700" b="1">
                <a:solidFill>
                  <a:srgbClr val="17362D"/>
                </a:solidFill>
                <a:latin typeface="Arial"/>
              </a:defRPr>
            </a:pPr>
            <a:r>
              <a:t>The moves on this simulated path</a:t>
            </a:r>
          </a:p>
        </p:txBody>
      </p:sp>
      <p:sp>
        <p:nvSpPr>
          <p:cNvPr id="105" name="Rounded Rectangle 104"/>
          <p:cNvSpPr/>
          <p:nvPr/>
        </p:nvSpPr>
        <p:spPr>
          <a:xfrm>
            <a:off x="5715000" y="2761488"/>
            <a:ext cx="1417320" cy="384048"/>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extBox 105"/>
          <p:cNvSpPr txBox="1"/>
          <p:nvPr/>
        </p:nvSpPr>
        <p:spPr>
          <a:xfrm>
            <a:off x="5788152" y="2834640"/>
            <a:ext cx="1271016" cy="274320"/>
          </a:xfrm>
          <a:prstGeom prst="rect">
            <a:avLst/>
          </a:prstGeom>
          <a:noFill/>
        </p:spPr>
        <p:txBody>
          <a:bodyPr wrap="square" lIns="0" rIns="0" tIns="0" bIns="0">
            <a:noAutofit/>
          </a:bodyPr>
          <a:lstStyle/>
          <a:p>
            <a:pPr algn="ctr">
              <a:lnSpc>
                <a:spcPct val="107000"/>
              </a:lnSpc>
              <a:spcBef>
                <a:spcPts val="0"/>
              </a:spcBef>
              <a:spcAft>
                <a:spcPts val="500"/>
              </a:spcAft>
              <a:defRPr sz="1500" b="1">
                <a:solidFill>
                  <a:srgbClr val="267A77"/>
                </a:solidFill>
                <a:latin typeface="Arial"/>
              </a:defRPr>
            </a:pPr>
            <a:r>
              <a:t>BOT</a:t>
            </a:r>
          </a:p>
        </p:txBody>
      </p:sp>
      <p:sp>
        <p:nvSpPr>
          <p:cNvPr id="107" name="TextBox 106"/>
          <p:cNvSpPr txBox="1"/>
          <p:nvPr/>
        </p:nvSpPr>
        <p:spPr>
          <a:xfrm>
            <a:off x="7388352" y="2761488"/>
            <a:ext cx="6035040" cy="475488"/>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17362D"/>
                </a:solidFill>
                <a:latin typeface="Arial"/>
              </a:defRPr>
            </a:pPr>
            <a:r>
              <a:t>(1,2) → (2,1)</a:t>
            </a:r>
          </a:p>
        </p:txBody>
      </p:sp>
      <p:sp>
        <p:nvSpPr>
          <p:cNvPr id="108" name="Rounded Rectangle 107"/>
          <p:cNvSpPr/>
          <p:nvPr/>
        </p:nvSpPr>
        <p:spPr>
          <a:xfrm>
            <a:off x="5715000" y="3575304"/>
            <a:ext cx="1417320" cy="384048"/>
          </a:xfrm>
          <a:prstGeom prst="roundRect">
            <a:avLst>
              <a:gd name="adj" fmla="val 11000"/>
            </a:avLst>
          </a:prstGeom>
          <a:solidFill>
            <a:srgbClr val="F9EA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5788152" y="3648456"/>
            <a:ext cx="1271016" cy="274320"/>
          </a:xfrm>
          <a:prstGeom prst="rect">
            <a:avLst/>
          </a:prstGeom>
          <a:noFill/>
        </p:spPr>
        <p:txBody>
          <a:bodyPr wrap="square" lIns="0" rIns="0" tIns="0" bIns="0">
            <a:noAutofit/>
          </a:bodyPr>
          <a:lstStyle/>
          <a:p>
            <a:pPr algn="ctr">
              <a:lnSpc>
                <a:spcPct val="107000"/>
              </a:lnSpc>
              <a:spcBef>
                <a:spcPts val="0"/>
              </a:spcBef>
              <a:spcAft>
                <a:spcPts val="500"/>
              </a:spcAft>
              <a:defRPr sz="1500" b="1">
                <a:solidFill>
                  <a:srgbClr val="B95646"/>
                </a:solidFill>
                <a:latin typeface="Arial"/>
              </a:defRPr>
            </a:pPr>
            <a:r>
              <a:t>HUMAN</a:t>
            </a:r>
          </a:p>
        </p:txBody>
      </p:sp>
      <p:sp>
        <p:nvSpPr>
          <p:cNvPr id="110" name="TextBox 109"/>
          <p:cNvSpPr txBox="1"/>
          <p:nvPr/>
        </p:nvSpPr>
        <p:spPr>
          <a:xfrm>
            <a:off x="7388352" y="3575304"/>
            <a:ext cx="6035040" cy="475488"/>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17362D"/>
                </a:solidFill>
                <a:latin typeface="Arial"/>
              </a:defRPr>
            </a:pPr>
            <a:r>
              <a:t>(3,2) → (1,0)</a:t>
            </a:r>
          </a:p>
        </p:txBody>
      </p:sp>
      <p:sp>
        <p:nvSpPr>
          <p:cNvPr id="111" name="Rounded Rectangle 110"/>
          <p:cNvSpPr/>
          <p:nvPr/>
        </p:nvSpPr>
        <p:spPr>
          <a:xfrm>
            <a:off x="5715000" y="4389120"/>
            <a:ext cx="1417320" cy="384048"/>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788152" y="4462272"/>
            <a:ext cx="1271016" cy="274320"/>
          </a:xfrm>
          <a:prstGeom prst="rect">
            <a:avLst/>
          </a:prstGeom>
          <a:noFill/>
        </p:spPr>
        <p:txBody>
          <a:bodyPr wrap="square" lIns="0" rIns="0" tIns="0" bIns="0">
            <a:noAutofit/>
          </a:bodyPr>
          <a:lstStyle/>
          <a:p>
            <a:pPr algn="ctr">
              <a:lnSpc>
                <a:spcPct val="107000"/>
              </a:lnSpc>
              <a:spcBef>
                <a:spcPts val="0"/>
              </a:spcBef>
              <a:spcAft>
                <a:spcPts val="500"/>
              </a:spcAft>
              <a:defRPr sz="1500" b="1">
                <a:solidFill>
                  <a:srgbClr val="267A77"/>
                </a:solidFill>
                <a:latin typeface="Arial"/>
              </a:defRPr>
            </a:pPr>
            <a:r>
              <a:t>BOT</a:t>
            </a:r>
          </a:p>
        </p:txBody>
      </p:sp>
      <p:sp>
        <p:nvSpPr>
          <p:cNvPr id="113" name="TextBox 112"/>
          <p:cNvSpPr txBox="1"/>
          <p:nvPr/>
        </p:nvSpPr>
        <p:spPr>
          <a:xfrm>
            <a:off x="7388352" y="4389120"/>
            <a:ext cx="6035040" cy="475488"/>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17362D"/>
                </a:solidFill>
                <a:latin typeface="Arial"/>
              </a:defRPr>
            </a:pPr>
            <a:r>
              <a:t>(2,3) → (3,2)</a:t>
            </a:r>
          </a:p>
        </p:txBody>
      </p:sp>
      <p:sp>
        <p:nvSpPr>
          <p:cNvPr id="114" name="TextBox 113"/>
          <p:cNvSpPr txBox="1"/>
          <p:nvPr/>
        </p:nvSpPr>
        <p:spPr>
          <a:xfrm>
            <a:off x="5715000" y="5312664"/>
            <a:ext cx="7955279" cy="502920"/>
          </a:xfrm>
          <a:prstGeom prst="rect">
            <a:avLst/>
          </a:prstGeom>
          <a:noFill/>
        </p:spPr>
        <p:txBody>
          <a:bodyPr wrap="square" lIns="0" rIns="0" tIns="0" bIns="0">
            <a:noAutofit/>
          </a:bodyPr>
          <a:lstStyle/>
          <a:p>
            <a:pPr algn="l">
              <a:lnSpc>
                <a:spcPct val="107000"/>
              </a:lnSpc>
              <a:spcBef>
                <a:spcPts val="0"/>
              </a:spcBef>
              <a:spcAft>
                <a:spcPts val="500"/>
              </a:spcAft>
              <a:defRPr sz="2300" b="0">
                <a:solidFill>
                  <a:srgbClr val="17362D"/>
                </a:solidFill>
                <a:latin typeface="Arial"/>
              </a:defRPr>
            </a:pPr>
            <a:r>
              <a:t>The human’s jump removed O at (2,1).</a:t>
            </a:r>
          </a:p>
        </p:txBody>
      </p:sp>
      <p:sp>
        <p:nvSpPr>
          <p:cNvPr id="115" name="Rounded Rectangle 114"/>
          <p:cNvSpPr/>
          <p:nvPr/>
        </p:nvSpPr>
        <p:spPr>
          <a:xfrm>
            <a:off x="5715000" y="5879592"/>
            <a:ext cx="7955279" cy="8229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ectangle 115"/>
          <p:cNvSpPr/>
          <p:nvPr/>
        </p:nvSpPr>
        <p:spPr>
          <a:xfrm>
            <a:off x="5742432" y="6016752"/>
            <a:ext cx="41148" cy="548640"/>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5925312" y="6108192"/>
            <a:ext cx="7543800" cy="411480"/>
          </a:xfrm>
          <a:prstGeom prst="rect">
            <a:avLst/>
          </a:prstGeom>
          <a:noFill/>
        </p:spPr>
        <p:txBody>
          <a:bodyPr wrap="square" lIns="0" rIns="0" tIns="0" bIns="0">
            <a:noAutofit/>
          </a:bodyPr>
          <a:lstStyle/>
          <a:p>
            <a:pPr algn="l">
              <a:lnSpc>
                <a:spcPct val="107000"/>
              </a:lnSpc>
              <a:spcBef>
                <a:spcPts val="0"/>
              </a:spcBef>
              <a:spcAft>
                <a:spcPts val="500"/>
              </a:spcAft>
              <a:defRPr sz="2700" b="1">
                <a:solidFill>
                  <a:srgbClr val="17362D"/>
                </a:solidFill>
                <a:latin typeface="Arial"/>
              </a:defRPr>
            </a:pPr>
            <a:r>
              <a:t>2 O × 3 − 3 X × 3 = −3</a:t>
            </a:r>
          </a:p>
        </p:txBody>
      </p:sp>
      <p:sp>
        <p:nvSpPr>
          <p:cNvPr id="118" name="Rounded Rectangle 117"/>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extBox 118"/>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The leaf returns −3 to its waiting caller. No real game piece has moved.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Candidate A finishes and returns −3</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04</a:t>
            </a:r>
          </a:p>
        </p:txBody>
      </p:sp>
      <p:sp>
        <p:nvSpPr>
          <p:cNvPr id="9" name="Rounded Rectangle 8"/>
          <p:cNvSpPr/>
          <p:nvPr/>
        </p:nvSpPr>
        <p:spPr>
          <a:xfrm>
            <a:off x="640080" y="1956816"/>
            <a:ext cx="6492240" cy="21945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67512" y="2093976"/>
            <a:ext cx="41148" cy="1920240"/>
          </a:xfrm>
          <a:prstGeom prst="rect">
            <a:avLst/>
          </a:prstGeom>
          <a:solidFill>
            <a:srgbClr val="B956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41247" y="2157984"/>
            <a:ext cx="6089903"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B95646"/>
                </a:solidFill>
                <a:latin typeface="Arial"/>
              </a:defRPr>
            </a:pPr>
            <a:r>
              <a:t>Human response A1</a:t>
            </a:r>
          </a:p>
        </p:txBody>
      </p:sp>
      <p:sp>
        <p:nvSpPr>
          <p:cNvPr id="12" name="TextBox 11"/>
          <p:cNvSpPr txBox="1"/>
          <p:nvPr/>
        </p:nvSpPr>
        <p:spPr>
          <a:xfrm>
            <a:off x="841247" y="2816352"/>
            <a:ext cx="6089903" cy="1243584"/>
          </a:xfrm>
          <a:prstGeom prst="rect">
            <a:avLst/>
          </a:prstGeom>
          <a:noFill/>
        </p:spPr>
        <p:txBody>
          <a:bodyPr wrap="square" lIns="0" rIns="0" tIns="0" bIns="0">
            <a:noAutofit/>
          </a:bodyPr>
          <a:lstStyle/>
          <a:p>
            <a:pPr algn="l">
              <a:lnSpc>
                <a:spcPct val="107000"/>
              </a:lnSpc>
              <a:spcBef>
                <a:spcPts val="0"/>
              </a:spcBef>
              <a:spcAft>
                <a:spcPts val="500"/>
              </a:spcAft>
              <a:defRPr sz="2400" b="0">
                <a:solidFill>
                  <a:srgbClr val="17362D"/>
                </a:solidFill>
                <a:latin typeface="Arial"/>
              </a:defRPr>
            </a:pPr>
            <a:r>
              <a:t>(3,2) → (1,0)</a:t>
            </a:r>
          </a:p>
          <a:p>
            <a:pPr algn="l">
              <a:lnSpc>
                <a:spcPct val="107000"/>
              </a:lnSpc>
              <a:spcBef>
                <a:spcPts val="0"/>
              </a:spcBef>
              <a:spcAft>
                <a:spcPts val="500"/>
              </a:spcAft>
              <a:defRPr sz="2400" b="0">
                <a:solidFill>
                  <a:srgbClr val="17362D"/>
                </a:solidFill>
                <a:latin typeface="Arial"/>
              </a:defRPr>
            </a:pPr>
            <a:r>
              <a:t>BOT replies: −3, −3</a:t>
            </a:r>
          </a:p>
          <a:p>
            <a:pPr algn="l">
              <a:lnSpc>
                <a:spcPct val="107000"/>
              </a:lnSpc>
              <a:spcBef>
                <a:spcPts val="0"/>
              </a:spcBef>
              <a:spcAft>
                <a:spcPts val="500"/>
              </a:spcAft>
              <a:defRPr sz="2400" b="0">
                <a:solidFill>
                  <a:srgbClr val="17362D"/>
                </a:solidFill>
                <a:latin typeface="Arial"/>
              </a:defRPr>
            </a:pPr>
            <a:r>
              <a:t>MAX returns −3</a:t>
            </a:r>
          </a:p>
        </p:txBody>
      </p:sp>
      <p:sp>
        <p:nvSpPr>
          <p:cNvPr id="13" name="Rounded Rectangle 12"/>
          <p:cNvSpPr/>
          <p:nvPr/>
        </p:nvSpPr>
        <p:spPr>
          <a:xfrm>
            <a:off x="7452360" y="1956816"/>
            <a:ext cx="6492240" cy="21945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479792" y="2093976"/>
            <a:ext cx="41148" cy="1920240"/>
          </a:xfrm>
          <a:prstGeom prst="rect">
            <a:avLst/>
          </a:prstGeom>
          <a:solidFill>
            <a:srgbClr val="B956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653528" y="2157984"/>
            <a:ext cx="6089903"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B95646"/>
                </a:solidFill>
                <a:latin typeface="Arial"/>
              </a:defRPr>
            </a:pPr>
            <a:r>
              <a:t>Human response A2</a:t>
            </a:r>
          </a:p>
        </p:txBody>
      </p:sp>
      <p:sp>
        <p:nvSpPr>
          <p:cNvPr id="16" name="TextBox 15"/>
          <p:cNvSpPr txBox="1"/>
          <p:nvPr/>
        </p:nvSpPr>
        <p:spPr>
          <a:xfrm>
            <a:off x="7653528" y="2816352"/>
            <a:ext cx="6089903" cy="1243584"/>
          </a:xfrm>
          <a:prstGeom prst="rect">
            <a:avLst/>
          </a:prstGeom>
          <a:noFill/>
        </p:spPr>
        <p:txBody>
          <a:bodyPr wrap="square" lIns="0" rIns="0" tIns="0" bIns="0">
            <a:noAutofit/>
          </a:bodyPr>
          <a:lstStyle/>
          <a:p>
            <a:pPr algn="l">
              <a:lnSpc>
                <a:spcPct val="107000"/>
              </a:lnSpc>
              <a:spcBef>
                <a:spcPts val="0"/>
              </a:spcBef>
              <a:spcAft>
                <a:spcPts val="500"/>
              </a:spcAft>
              <a:defRPr sz="2400" b="0">
                <a:solidFill>
                  <a:srgbClr val="17362D"/>
                </a:solidFill>
                <a:latin typeface="Arial"/>
              </a:defRPr>
            </a:pPr>
            <a:r>
              <a:t>(3,2) → (1,4)</a:t>
            </a:r>
          </a:p>
          <a:p>
            <a:pPr algn="l">
              <a:lnSpc>
                <a:spcPct val="107000"/>
              </a:lnSpc>
              <a:spcBef>
                <a:spcPts val="0"/>
              </a:spcBef>
              <a:spcAft>
                <a:spcPts val="500"/>
              </a:spcAft>
              <a:defRPr sz="2400" b="0">
                <a:solidFill>
                  <a:srgbClr val="17362D"/>
                </a:solidFill>
                <a:latin typeface="Arial"/>
              </a:defRPr>
            </a:pPr>
            <a:r>
              <a:t>BOT reply: −3</a:t>
            </a:r>
          </a:p>
          <a:p>
            <a:pPr algn="l">
              <a:lnSpc>
                <a:spcPct val="107000"/>
              </a:lnSpc>
              <a:spcBef>
                <a:spcPts val="0"/>
              </a:spcBef>
              <a:spcAft>
                <a:spcPts val="500"/>
              </a:spcAft>
              <a:defRPr sz="2400" b="0">
                <a:solidFill>
                  <a:srgbClr val="17362D"/>
                </a:solidFill>
                <a:latin typeface="Arial"/>
              </a:defRPr>
            </a:pPr>
            <a:r>
              <a:t>MAX returns −3</a:t>
            </a:r>
          </a:p>
        </p:txBody>
      </p:sp>
      <p:sp>
        <p:nvSpPr>
          <p:cNvPr id="17" name="TextBox 16"/>
          <p:cNvSpPr txBox="1"/>
          <p:nvPr/>
        </p:nvSpPr>
        <p:spPr>
          <a:xfrm>
            <a:off x="640080" y="4599432"/>
            <a:ext cx="13350240" cy="594360"/>
          </a:xfrm>
          <a:prstGeom prst="rect">
            <a:avLst/>
          </a:prstGeom>
          <a:noFill/>
        </p:spPr>
        <p:txBody>
          <a:bodyPr wrap="square" lIns="0" rIns="0" tIns="0" bIns="0">
            <a:noAutofit/>
          </a:bodyPr>
          <a:lstStyle/>
          <a:p>
            <a:pPr algn="l">
              <a:lnSpc>
                <a:spcPct val="107000"/>
              </a:lnSpc>
              <a:spcBef>
                <a:spcPts val="0"/>
              </a:spcBef>
              <a:spcAft>
                <a:spcPts val="500"/>
              </a:spcAft>
              <a:defRPr sz="3000" b="1">
                <a:solidFill>
                  <a:srgbClr val="17362D"/>
                </a:solidFill>
                <a:latin typeface="Arial"/>
              </a:defRPr>
            </a:pPr>
            <a:r>
              <a:t>The human MIN call returns MIN(−3, −3) = −3.</a:t>
            </a:r>
          </a:p>
        </p:txBody>
      </p:sp>
      <p:sp>
        <p:nvSpPr>
          <p:cNvPr id="18" name="Rounded Rectangle 17"/>
          <p:cNvSpPr/>
          <p:nvPr/>
        </p:nvSpPr>
        <p:spPr>
          <a:xfrm>
            <a:off x="685800" y="5522976"/>
            <a:ext cx="6492240" cy="123444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5650992"/>
            <a:ext cx="6126479" cy="240030"/>
          </a:xfrm>
          <a:prstGeom prst="rect">
            <a:avLst/>
          </a:prstGeom>
          <a:noFill/>
        </p:spPr>
        <p:txBody>
          <a:bodyPr wrap="square" lIns="0" rIns="0" tIns="0" bIns="0">
            <a:noAutofit/>
          </a:bodyPr>
          <a:lstStyle/>
          <a:p>
            <a:pPr algn="l">
              <a:lnSpc>
                <a:spcPct val="107000"/>
              </a:lnSpc>
              <a:spcBef>
                <a:spcPts val="0"/>
              </a:spcBef>
              <a:spcAft>
                <a:spcPts val="500"/>
              </a:spcAft>
              <a:defRPr sz="1700" b="0">
                <a:solidFill>
                  <a:srgbClr val="17362D"/>
                </a:solidFill>
                <a:latin typeface="Consolas"/>
              </a:defRPr>
            </a:pPr>
            <a:r>
              <a:t>// Back inside findBestMove()</a:t>
            </a:r>
          </a:p>
        </p:txBody>
      </p:sp>
      <p:sp>
        <p:nvSpPr>
          <p:cNvPr id="20" name="TextBox 19"/>
          <p:cNvSpPr txBox="1"/>
          <p:nvPr/>
        </p:nvSpPr>
        <p:spPr>
          <a:xfrm>
            <a:off x="868680" y="5891022"/>
            <a:ext cx="6126479" cy="240030"/>
          </a:xfrm>
          <a:prstGeom prst="rect">
            <a:avLst/>
          </a:prstGeom>
          <a:noFill/>
        </p:spPr>
        <p:txBody>
          <a:bodyPr wrap="square" lIns="0" rIns="0" tIns="0" bIns="0">
            <a:noAutofit/>
          </a:bodyPr>
          <a:lstStyle/>
          <a:p>
            <a:pPr algn="l">
              <a:lnSpc>
                <a:spcPct val="107000"/>
              </a:lnSpc>
              <a:spcBef>
                <a:spcPts val="0"/>
              </a:spcBef>
              <a:spcAft>
                <a:spcPts val="500"/>
              </a:spcAft>
              <a:defRPr sz="1700" b="0">
                <a:solidFill>
                  <a:srgbClr val="17362D"/>
                </a:solidFill>
                <a:latin typeface="Consolas"/>
              </a:defRPr>
            </a:pPr>
            <a:r>
              <a:t>score = -3;</a:t>
            </a:r>
          </a:p>
        </p:txBody>
      </p:sp>
      <p:sp>
        <p:nvSpPr>
          <p:cNvPr id="21" name="TextBox 20"/>
          <p:cNvSpPr txBox="1"/>
          <p:nvPr/>
        </p:nvSpPr>
        <p:spPr>
          <a:xfrm>
            <a:off x="868680" y="6131052"/>
            <a:ext cx="6126479" cy="240030"/>
          </a:xfrm>
          <a:prstGeom prst="rect">
            <a:avLst/>
          </a:prstGeom>
          <a:noFill/>
        </p:spPr>
        <p:txBody>
          <a:bodyPr wrap="square" lIns="0" rIns="0" tIns="0" bIns="0">
            <a:noAutofit/>
          </a:bodyPr>
          <a:lstStyle/>
          <a:p>
            <a:pPr algn="l">
              <a:lnSpc>
                <a:spcPct val="107000"/>
              </a:lnSpc>
              <a:spcBef>
                <a:spcPts val="0"/>
              </a:spcBef>
              <a:spcAft>
                <a:spcPts val="500"/>
              </a:spcAft>
              <a:defRPr sz="1700" b="0">
                <a:solidFill>
                  <a:srgbClr val="17362D"/>
                </a:solidFill>
                <a:latin typeface="Consolas"/>
              </a:defRPr>
            </a:pPr>
            <a:r>
              <a:t>bestScore = -3;</a:t>
            </a:r>
          </a:p>
        </p:txBody>
      </p:sp>
      <p:sp>
        <p:nvSpPr>
          <p:cNvPr id="22" name="TextBox 21"/>
          <p:cNvSpPr txBox="1"/>
          <p:nvPr/>
        </p:nvSpPr>
        <p:spPr>
          <a:xfrm>
            <a:off x="868680" y="6371081"/>
            <a:ext cx="6126479" cy="240030"/>
          </a:xfrm>
          <a:prstGeom prst="rect">
            <a:avLst/>
          </a:prstGeom>
          <a:noFill/>
        </p:spPr>
        <p:txBody>
          <a:bodyPr wrap="square" lIns="0" rIns="0" tIns="0" bIns="0">
            <a:noAutofit/>
          </a:bodyPr>
          <a:lstStyle/>
          <a:p>
            <a:pPr algn="l">
              <a:lnSpc>
                <a:spcPct val="107000"/>
              </a:lnSpc>
              <a:spcBef>
                <a:spcPts val="0"/>
              </a:spcBef>
              <a:spcAft>
                <a:spcPts val="500"/>
              </a:spcAft>
              <a:defRPr sz="1700" b="0">
                <a:solidFill>
                  <a:srgbClr val="17362D"/>
                </a:solidFill>
                <a:latin typeface="Consolas"/>
              </a:defRPr>
            </a:pPr>
            <a:r>
              <a:t>bestMove = A;</a:t>
            </a:r>
          </a:p>
        </p:txBody>
      </p:sp>
      <p:sp>
        <p:nvSpPr>
          <p:cNvPr id="23" name="TextBox 22"/>
          <p:cNvSpPr txBox="1"/>
          <p:nvPr/>
        </p:nvSpPr>
        <p:spPr>
          <a:xfrm>
            <a:off x="7635240" y="5513832"/>
            <a:ext cx="6035040" cy="960120"/>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27604A"/>
                </a:solidFill>
                <a:latin typeface="Arial"/>
              </a:defRPr>
            </a:pPr>
            <a:r>
              <a:t>A is the best initial move</a:t>
            </a:r>
          </a:p>
          <a:p>
            <a:pPr algn="l">
              <a:lnSpc>
                <a:spcPct val="107000"/>
              </a:lnSpc>
              <a:spcBef>
                <a:spcPts val="0"/>
              </a:spcBef>
              <a:spcAft>
                <a:spcPts val="500"/>
              </a:spcAft>
              <a:defRPr sz="2600" b="1">
                <a:solidFill>
                  <a:srgbClr val="27604A"/>
                </a:solidFill>
                <a:latin typeface="Arial"/>
              </a:defRPr>
            </a:pPr>
            <a:r>
              <a:t>found so far.</a:t>
            </a:r>
          </a:p>
        </p:txBody>
      </p:sp>
      <p:sp>
        <p:nvSpPr>
          <p:cNvPr id="24" name="Rounded Rectangle 23"/>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minimax() returns a score. findBestMove() remembers which initial move produced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Candidate B starts with fresh limits</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05</a:t>
            </a:r>
          </a:p>
        </p:txBody>
      </p:sp>
      <p:sp>
        <p:nvSpPr>
          <p:cNvPr id="9" name="TextBox 8"/>
          <p:cNvSpPr txBox="1"/>
          <p:nvPr/>
        </p:nvSpPr>
        <p:spPr>
          <a:xfrm>
            <a:off x="868680" y="1691639"/>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After B · human turn · depth 2</a:t>
            </a:r>
          </a:p>
        </p:txBody>
      </p:sp>
      <p:sp>
        <p:nvSpPr>
          <p:cNvPr id="10" name="Rectangle 9"/>
          <p:cNvSpPr/>
          <p:nvPr/>
        </p:nvSpPr>
        <p:spPr>
          <a:xfrm>
            <a:off x="822959" y="2286000"/>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0179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317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317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317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317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317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317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317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317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3329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863214"/>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863214"/>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863214"/>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11394" y="294293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011394" y="300671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28" name="Rectangle 27"/>
          <p:cNvSpPr/>
          <p:nvPr/>
        </p:nvSpPr>
        <p:spPr>
          <a:xfrm>
            <a:off x="2463165" y="2863214"/>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2994660" y="2863214"/>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26155" y="2863214"/>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57650" y="2863214"/>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589145" y="2863214"/>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56478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31669"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3947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0175" y="33947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931669" y="33947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3947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2994660" y="33947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3526155" y="33947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4057650" y="33947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4589145" y="33947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557783" y="409628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4" name="TextBox 43"/>
          <p:cNvSpPr txBox="1"/>
          <p:nvPr/>
        </p:nvSpPr>
        <p:spPr>
          <a:xfrm>
            <a:off x="2463165"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5" name="Rectangle 44"/>
          <p:cNvSpPr/>
          <p:nvPr/>
        </p:nvSpPr>
        <p:spPr>
          <a:xfrm>
            <a:off x="868680" y="39262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948404" y="400592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948404" y="406970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48" name="Rectangle 47"/>
          <p:cNvSpPr/>
          <p:nvPr/>
        </p:nvSpPr>
        <p:spPr>
          <a:xfrm>
            <a:off x="1400175" y="39262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1931669" y="39262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2011394" y="4005929"/>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2011394" y="406970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52" name="Rectangle 51"/>
          <p:cNvSpPr/>
          <p:nvPr/>
        </p:nvSpPr>
        <p:spPr>
          <a:xfrm>
            <a:off x="2463165" y="39262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9262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3074384" y="400592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74384" y="406970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6" name="Rectangle 55"/>
          <p:cNvSpPr/>
          <p:nvPr/>
        </p:nvSpPr>
        <p:spPr>
          <a:xfrm>
            <a:off x="3526155" y="39262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57650" y="39262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589145" y="39262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62777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994660"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45770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0175" y="445770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79899" y="4537424"/>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79899" y="460120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31669" y="445770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63165" y="445770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994660" y="445770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3526155" y="445770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4057650" y="445770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4589145" y="445770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7783" y="515927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3526155"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868680" y="498919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400175" y="498919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931669" y="498919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2011394" y="5068919"/>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011394" y="513269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8" name="Rectangle 77"/>
          <p:cNvSpPr/>
          <p:nvPr/>
        </p:nvSpPr>
        <p:spPr>
          <a:xfrm>
            <a:off x="2463165" y="498919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994660" y="498919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26155" y="498919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57650" y="498919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589145" y="498919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69076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57650"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52069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0175" y="552069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31669" y="552069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63165" y="552069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994660" y="552069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26155" y="552069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57650" y="552069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589145" y="552069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22226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589145" y="2029967"/>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5218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0175" y="605218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31669" y="605218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63165" y="605218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994660" y="605218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26155" y="605218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57650" y="605218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589145" y="605218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2490597" y="3422141"/>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3022092" y="3953637"/>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a:off x="2728912" y="3660457"/>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Rounded Rectangle 105"/>
          <p:cNvSpPr/>
          <p:nvPr/>
        </p:nvSpPr>
        <p:spPr>
          <a:xfrm>
            <a:off x="5715000" y="1965960"/>
            <a:ext cx="7909560"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5897880" y="2130552"/>
            <a:ext cx="7543800"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HUMAN MIN · depth 2 · ACTIVE</a:t>
            </a:r>
          </a:p>
        </p:txBody>
      </p:sp>
      <p:sp>
        <p:nvSpPr>
          <p:cNvPr id="108" name="TextBox 107"/>
          <p:cNvSpPr txBox="1"/>
          <p:nvPr/>
        </p:nvSpPr>
        <p:spPr>
          <a:xfrm>
            <a:off x="5897880" y="2606039"/>
            <a:ext cx="7543800"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    beta = +∞</a:t>
            </a:r>
          </a:p>
        </p:txBody>
      </p:sp>
      <p:sp>
        <p:nvSpPr>
          <p:cNvPr id="109" name="TextBox 108"/>
          <p:cNvSpPr txBox="1"/>
          <p:nvPr/>
        </p:nvSpPr>
        <p:spPr>
          <a:xfrm>
            <a:off x="5897880" y="2971800"/>
            <a:ext cx="7543800"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minEval = +∞</a:t>
            </a:r>
          </a:p>
        </p:txBody>
      </p:sp>
      <p:sp>
        <p:nvSpPr>
          <p:cNvPr id="110" name="TextBox 109"/>
          <p:cNvSpPr txBox="1"/>
          <p:nvPr/>
        </p:nvSpPr>
        <p:spPr>
          <a:xfrm>
            <a:off x="5715000" y="3685032"/>
            <a:ext cx="7909560" cy="502920"/>
          </a:xfrm>
          <a:prstGeom prst="rect">
            <a:avLst/>
          </a:prstGeom>
          <a:noFill/>
        </p:spPr>
        <p:txBody>
          <a:bodyPr wrap="square" lIns="0" rIns="0" tIns="0" bIns="0">
            <a:noAutofit/>
          </a:bodyPr>
          <a:lstStyle/>
          <a:p>
            <a:pPr algn="l">
              <a:lnSpc>
                <a:spcPct val="107000"/>
              </a:lnSpc>
              <a:spcBef>
                <a:spcPts val="0"/>
              </a:spcBef>
              <a:spcAft>
                <a:spcPts val="500"/>
              </a:spcAft>
              <a:defRPr sz="2700" b="1">
                <a:solidFill>
                  <a:srgbClr val="17362D"/>
                </a:solidFill>
                <a:latin typeface="Arial"/>
              </a:defRPr>
            </a:pPr>
            <a:r>
              <a:t>Three legal human responses</a:t>
            </a:r>
          </a:p>
        </p:txBody>
      </p:sp>
      <p:sp>
        <p:nvSpPr>
          <p:cNvPr id="111" name="TextBox 110"/>
          <p:cNvSpPr txBox="1"/>
          <p:nvPr/>
        </p:nvSpPr>
        <p:spPr>
          <a:xfrm>
            <a:off x="5852160" y="4489704"/>
            <a:ext cx="7589520" cy="475488"/>
          </a:xfrm>
          <a:prstGeom prst="rect">
            <a:avLst/>
          </a:prstGeom>
          <a:noFill/>
        </p:spPr>
        <p:txBody>
          <a:bodyPr wrap="square" lIns="0" rIns="0" tIns="0" bIns="0">
            <a:noAutofit/>
          </a:bodyPr>
          <a:lstStyle/>
          <a:p>
            <a:pPr algn="l">
              <a:lnSpc>
                <a:spcPct val="107000"/>
              </a:lnSpc>
              <a:spcBef>
                <a:spcPts val="0"/>
              </a:spcBef>
              <a:spcAft>
                <a:spcPts val="500"/>
              </a:spcAft>
              <a:defRPr sz="2500" b="1">
                <a:solidFill>
                  <a:srgbClr val="B95646"/>
                </a:solidFill>
                <a:latin typeface="Arial"/>
              </a:defRPr>
            </a:pPr>
            <a:r>
              <a:t>H1   (3,2) → (2,1)</a:t>
            </a:r>
          </a:p>
        </p:txBody>
      </p:sp>
      <p:sp>
        <p:nvSpPr>
          <p:cNvPr id="112" name="TextBox 111"/>
          <p:cNvSpPr txBox="1"/>
          <p:nvPr/>
        </p:nvSpPr>
        <p:spPr>
          <a:xfrm>
            <a:off x="5852160" y="5111496"/>
            <a:ext cx="7589520" cy="475488"/>
          </a:xfrm>
          <a:prstGeom prst="rect">
            <a:avLst/>
          </a:prstGeom>
          <a:noFill/>
        </p:spPr>
        <p:txBody>
          <a:bodyPr wrap="square" lIns="0" rIns="0" tIns="0" bIns="0">
            <a:noAutofit/>
          </a:bodyPr>
          <a:lstStyle/>
          <a:p>
            <a:pPr algn="l">
              <a:lnSpc>
                <a:spcPct val="107000"/>
              </a:lnSpc>
              <a:spcBef>
                <a:spcPts val="0"/>
              </a:spcBef>
              <a:spcAft>
                <a:spcPts val="500"/>
              </a:spcAft>
              <a:defRPr sz="2500" b="1">
                <a:solidFill>
                  <a:srgbClr val="B95646"/>
                </a:solidFill>
                <a:latin typeface="Arial"/>
              </a:defRPr>
            </a:pPr>
            <a:r>
              <a:t>H2   (3,2) → (2,3)</a:t>
            </a:r>
          </a:p>
        </p:txBody>
      </p:sp>
      <p:sp>
        <p:nvSpPr>
          <p:cNvPr id="113" name="TextBox 112"/>
          <p:cNvSpPr txBox="1"/>
          <p:nvPr/>
        </p:nvSpPr>
        <p:spPr>
          <a:xfrm>
            <a:off x="5852160" y="5733288"/>
            <a:ext cx="7589520" cy="475488"/>
          </a:xfrm>
          <a:prstGeom prst="rect">
            <a:avLst/>
          </a:prstGeom>
          <a:noFill/>
        </p:spPr>
        <p:txBody>
          <a:bodyPr wrap="square" lIns="0" rIns="0" tIns="0" bIns="0">
            <a:noAutofit/>
          </a:bodyPr>
          <a:lstStyle/>
          <a:p>
            <a:pPr algn="l">
              <a:lnSpc>
                <a:spcPct val="107000"/>
              </a:lnSpc>
              <a:spcBef>
                <a:spcPts val="0"/>
              </a:spcBef>
              <a:spcAft>
                <a:spcPts val="500"/>
              </a:spcAft>
              <a:defRPr sz="2500" b="1">
                <a:solidFill>
                  <a:srgbClr val="B95646"/>
                </a:solidFill>
                <a:latin typeface="Arial"/>
              </a:defRPr>
            </a:pPr>
            <a:r>
              <a:t>H3   (5,2) → (4,3)</a:t>
            </a:r>
          </a:p>
        </p:txBody>
      </p:sp>
      <p:sp>
        <p:nvSpPr>
          <p:cNvPr id="114" name="Rounded Rectangle 113"/>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Your code resets alpha and beta for B; A’s score stays only in bestScore.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H1 creates a child call; its parent waits</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06</a:t>
            </a:r>
          </a:p>
        </p:txBody>
      </p:sp>
      <p:sp>
        <p:nvSpPr>
          <p:cNvPr id="9" name="TextBox 8"/>
          <p:cNvSpPr txBox="1"/>
          <p:nvPr/>
        </p:nvSpPr>
        <p:spPr>
          <a:xfrm>
            <a:off x="868680" y="1737360"/>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H1: X (3,2) → (2,1)</a:t>
            </a:r>
          </a:p>
        </p:txBody>
      </p:sp>
      <p:sp>
        <p:nvSpPr>
          <p:cNvPr id="10" name="Rectangle 9"/>
          <p:cNvSpPr/>
          <p:nvPr/>
        </p:nvSpPr>
        <p:spPr>
          <a:xfrm>
            <a:off x="822959" y="2331720"/>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4751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7901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11394" y="298865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011394" y="305243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28" name="Rectangle 27"/>
          <p:cNvSpPr/>
          <p:nvPr/>
        </p:nvSpPr>
        <p:spPr>
          <a:xfrm>
            <a:off x="246316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299466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2615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5765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58914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61050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31669"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017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val 36"/>
          <p:cNvSpPr/>
          <p:nvPr/>
        </p:nvSpPr>
        <p:spPr>
          <a:xfrm>
            <a:off x="1479899" y="3520154"/>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1479899" y="358393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39" name="Rectangle 38"/>
          <p:cNvSpPr/>
          <p:nvPr/>
        </p:nvSpPr>
        <p:spPr>
          <a:xfrm>
            <a:off x="1931669"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246316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299466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352615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405765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458914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57783" y="414200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6" name="TextBox 45"/>
          <p:cNvSpPr txBox="1"/>
          <p:nvPr/>
        </p:nvSpPr>
        <p:spPr>
          <a:xfrm>
            <a:off x="246316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7" name="Rectangle 46"/>
          <p:cNvSpPr/>
          <p:nvPr/>
        </p:nvSpPr>
        <p:spPr>
          <a:xfrm>
            <a:off x="86868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48404" y="405164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48404" y="411542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0" name="Rectangle 49"/>
          <p:cNvSpPr/>
          <p:nvPr/>
        </p:nvSpPr>
        <p:spPr>
          <a:xfrm>
            <a:off x="140017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1931669"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246316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3074384" y="405164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74384" y="411542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6" name="Rectangle 55"/>
          <p:cNvSpPr/>
          <p:nvPr/>
        </p:nvSpPr>
        <p:spPr>
          <a:xfrm>
            <a:off x="352615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5765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58914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67349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99466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017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79899" y="4583144"/>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79899" y="464692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31669"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6316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99466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352615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405765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458914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7783" y="520499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352615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86868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40017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931669"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2011394" y="5114639"/>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011394" y="517841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8" name="Rectangle 77"/>
          <p:cNvSpPr/>
          <p:nvPr/>
        </p:nvSpPr>
        <p:spPr>
          <a:xfrm>
            <a:off x="246316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99466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2615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5765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58914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73648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5765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017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31669"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6316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99466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2615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5765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58914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26798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58914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017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31669"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6316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99466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2615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5765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58914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959101" y="3999357"/>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1427607" y="3467862"/>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flipH="1" flipV="1">
            <a:off x="1665922" y="3706177"/>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Rounded Rectangle 105"/>
          <p:cNvSpPr/>
          <p:nvPr/>
        </p:nvSpPr>
        <p:spPr>
          <a:xfrm>
            <a:off x="5715000" y="1965960"/>
            <a:ext cx="7955279" cy="1371600"/>
          </a:xfrm>
          <a:prstGeom prst="roundRect">
            <a:avLst>
              <a:gd name="adj" fmla="val 11000"/>
            </a:avLst>
          </a:prstGeom>
          <a:solidFill>
            <a:srgbClr val="FFFFFF"/>
          </a:solidFill>
          <a:ln w="15240">
            <a:solidFill>
              <a:srgbClr val="80908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5897880" y="2130552"/>
            <a:ext cx="758951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809087"/>
                </a:solidFill>
                <a:latin typeface="Arial"/>
              </a:defRPr>
            </a:pPr>
            <a:r>
              <a:t>HUMAN MIN · depth 2 · PAUSED</a:t>
            </a:r>
          </a:p>
        </p:txBody>
      </p:sp>
      <p:sp>
        <p:nvSpPr>
          <p:cNvPr id="108" name="TextBox 107"/>
          <p:cNvSpPr txBox="1"/>
          <p:nvPr/>
        </p:nvSpPr>
        <p:spPr>
          <a:xfrm>
            <a:off x="5897880" y="2606039"/>
            <a:ext cx="758951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    beta = +∞</a:t>
            </a:r>
          </a:p>
        </p:txBody>
      </p:sp>
      <p:sp>
        <p:nvSpPr>
          <p:cNvPr id="109" name="TextBox 108"/>
          <p:cNvSpPr txBox="1"/>
          <p:nvPr/>
        </p:nvSpPr>
        <p:spPr>
          <a:xfrm>
            <a:off x="5897880" y="2971800"/>
            <a:ext cx="758951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minEval = +∞</a:t>
            </a:r>
          </a:p>
        </p:txBody>
      </p:sp>
      <p:sp>
        <p:nvSpPr>
          <p:cNvPr id="110" name="TextBox 109"/>
          <p:cNvSpPr txBox="1"/>
          <p:nvPr/>
        </p:nvSpPr>
        <p:spPr>
          <a:xfrm>
            <a:off x="5943600" y="3602736"/>
            <a:ext cx="7498079" cy="411480"/>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Consolas"/>
              </a:defRPr>
            </a:pPr>
            <a:r>
              <a:t>CALL ↓  minimax(copy, 1, 'o', −∞, +∞)</a:t>
            </a:r>
          </a:p>
        </p:txBody>
      </p:sp>
      <p:sp>
        <p:nvSpPr>
          <p:cNvPr id="111" name="Rounded Rectangle 110"/>
          <p:cNvSpPr/>
          <p:nvPr/>
        </p:nvSpPr>
        <p:spPr>
          <a:xfrm>
            <a:off x="5715000" y="4325112"/>
            <a:ext cx="7955279"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897880" y="4489704"/>
            <a:ext cx="758951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BOT MAX · depth 1 · ACTIVE</a:t>
            </a:r>
          </a:p>
        </p:txBody>
      </p:sp>
      <p:sp>
        <p:nvSpPr>
          <p:cNvPr id="113" name="TextBox 112"/>
          <p:cNvSpPr txBox="1"/>
          <p:nvPr/>
        </p:nvSpPr>
        <p:spPr>
          <a:xfrm>
            <a:off x="5897880" y="4965192"/>
            <a:ext cx="758951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    beta = +∞</a:t>
            </a:r>
          </a:p>
        </p:txBody>
      </p:sp>
      <p:sp>
        <p:nvSpPr>
          <p:cNvPr id="114" name="TextBox 113"/>
          <p:cNvSpPr txBox="1"/>
          <p:nvPr/>
        </p:nvSpPr>
        <p:spPr>
          <a:xfrm>
            <a:off x="5897880" y="5330952"/>
            <a:ext cx="758951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maxEval = −∞</a:t>
            </a:r>
          </a:p>
        </p:txBody>
      </p:sp>
      <p:sp>
        <p:nvSpPr>
          <p:cNvPr id="115" name="Rounded Rectangle 114"/>
          <p:cNvSpPr/>
          <p:nvPr/>
        </p:nvSpPr>
        <p:spPr>
          <a:xfrm>
            <a:off x="5715000" y="5852160"/>
            <a:ext cx="7955279" cy="77724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ectangle 115"/>
          <p:cNvSpPr/>
          <p:nvPr/>
        </p:nvSpPr>
        <p:spPr>
          <a:xfrm>
            <a:off x="5788152" y="5961888"/>
            <a:ext cx="7808975" cy="251460"/>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5897880" y="5980176"/>
            <a:ext cx="7589519" cy="25146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int eval = minimax(...);</a:t>
            </a:r>
          </a:p>
        </p:txBody>
      </p:sp>
      <p:sp>
        <p:nvSpPr>
          <p:cNvPr id="118" name="TextBox 117"/>
          <p:cNvSpPr txBox="1"/>
          <p:nvPr/>
        </p:nvSpPr>
        <p:spPr>
          <a:xfrm>
            <a:off x="5897880" y="6231636"/>
            <a:ext cx="7589519" cy="25146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 The parent pauses on this line.</a:t>
            </a:r>
          </a:p>
        </p:txBody>
      </p:sp>
      <p:sp>
        <p:nvSpPr>
          <p:cNvPr id="119" name="Rounded Rectangle 118"/>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A new call owns new variables. The caller resumes only after that call returns.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The first H1 leaf returns 0</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07</a:t>
            </a:r>
          </a:p>
        </p:txBody>
      </p:sp>
      <p:sp>
        <p:nvSpPr>
          <p:cNvPr id="9" name="TextBox 8"/>
          <p:cNvSpPr txBox="1"/>
          <p:nvPr/>
        </p:nvSpPr>
        <p:spPr>
          <a:xfrm>
            <a:off x="868680" y="1719072"/>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BOT reply: O (1,2) → (2,3)</a:t>
            </a:r>
          </a:p>
        </p:txBody>
      </p:sp>
      <p:sp>
        <p:nvSpPr>
          <p:cNvPr id="10" name="Rectangle 9"/>
          <p:cNvSpPr/>
          <p:nvPr/>
        </p:nvSpPr>
        <p:spPr>
          <a:xfrm>
            <a:off x="822959" y="2313432"/>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2923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6072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246316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299466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352615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405765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58914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57783" y="359222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2" name="TextBox 31"/>
          <p:cNvSpPr txBox="1"/>
          <p:nvPr/>
        </p:nvSpPr>
        <p:spPr>
          <a:xfrm>
            <a:off x="1931669"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3" name="Rectangle 32"/>
          <p:cNvSpPr/>
          <p:nvPr/>
        </p:nvSpPr>
        <p:spPr>
          <a:xfrm>
            <a:off x="86868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140017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1479899" y="3501866"/>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479899" y="3565645"/>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37" name="Rectangle 36"/>
          <p:cNvSpPr/>
          <p:nvPr/>
        </p:nvSpPr>
        <p:spPr>
          <a:xfrm>
            <a:off x="1931669"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2542889" y="3501866"/>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42889" y="3565645"/>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41" name="Rectangle 40"/>
          <p:cNvSpPr/>
          <p:nvPr/>
        </p:nvSpPr>
        <p:spPr>
          <a:xfrm>
            <a:off x="299466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352615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405765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458914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57783" y="412371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6" name="TextBox 45"/>
          <p:cNvSpPr txBox="1"/>
          <p:nvPr/>
        </p:nvSpPr>
        <p:spPr>
          <a:xfrm>
            <a:off x="246316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7" name="Rectangle 46"/>
          <p:cNvSpPr/>
          <p:nvPr/>
        </p:nvSpPr>
        <p:spPr>
          <a:xfrm>
            <a:off x="86868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48404" y="4033361"/>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48404" y="409714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0" name="Rectangle 49"/>
          <p:cNvSpPr/>
          <p:nvPr/>
        </p:nvSpPr>
        <p:spPr>
          <a:xfrm>
            <a:off x="140017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1931669"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246316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3074384" y="4033361"/>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74384" y="409714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6" name="Rectangle 55"/>
          <p:cNvSpPr/>
          <p:nvPr/>
        </p:nvSpPr>
        <p:spPr>
          <a:xfrm>
            <a:off x="352615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5765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58914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65521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99466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017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79899" y="4564856"/>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79899" y="4628635"/>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31669"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6316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99466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352615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405765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458914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7783" y="518670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352615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86868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40017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931669"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2011394" y="5096351"/>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011394" y="516013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8" name="Rectangle 77"/>
          <p:cNvSpPr/>
          <p:nvPr/>
        </p:nvSpPr>
        <p:spPr>
          <a:xfrm>
            <a:off x="246316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99466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2615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5765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58914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71820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5765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017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31669"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6316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99466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2615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5765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58914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24969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58914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017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31669"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6316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99466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2615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5765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58914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959101" y="2918078"/>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2490597" y="3449574"/>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a:off x="2197417" y="3156394"/>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Rounded Rectangle 105"/>
          <p:cNvSpPr/>
          <p:nvPr/>
        </p:nvSpPr>
        <p:spPr>
          <a:xfrm>
            <a:off x="5715000" y="1965960"/>
            <a:ext cx="7955279" cy="384048"/>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5788152" y="2039112"/>
            <a:ext cx="7808975" cy="27432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7604A"/>
                </a:solidFill>
                <a:latin typeface="Arial"/>
              </a:defRPr>
            </a:pPr>
            <a:r>
              <a:t>LEAF · depth 0 · no winner</a:t>
            </a:r>
          </a:p>
        </p:txBody>
      </p:sp>
      <p:sp>
        <p:nvSpPr>
          <p:cNvPr id="108" name="TextBox 107"/>
          <p:cNvSpPr txBox="1"/>
          <p:nvPr/>
        </p:nvSpPr>
        <p:spPr>
          <a:xfrm>
            <a:off x="5715000" y="2770632"/>
            <a:ext cx="7909560" cy="594360"/>
          </a:xfrm>
          <a:prstGeom prst="rect">
            <a:avLst/>
          </a:prstGeom>
          <a:noFill/>
        </p:spPr>
        <p:txBody>
          <a:bodyPr wrap="square" lIns="0" rIns="0" tIns="0" bIns="0">
            <a:noAutofit/>
          </a:bodyPr>
          <a:lstStyle/>
          <a:p>
            <a:pPr algn="l">
              <a:lnSpc>
                <a:spcPct val="107000"/>
              </a:lnSpc>
              <a:spcBef>
                <a:spcPts val="0"/>
              </a:spcBef>
              <a:spcAft>
                <a:spcPts val="500"/>
              </a:spcAft>
              <a:defRPr sz="3200" b="1">
                <a:solidFill>
                  <a:srgbClr val="17362D"/>
                </a:solidFill>
                <a:latin typeface="Arial"/>
              </a:defRPr>
            </a:pPr>
            <a:r>
              <a:t>3 O × 3 − 3 X × 3 = 0</a:t>
            </a:r>
          </a:p>
        </p:txBody>
      </p:sp>
      <p:sp>
        <p:nvSpPr>
          <p:cNvPr id="109" name="Rounded Rectangle 108"/>
          <p:cNvSpPr/>
          <p:nvPr/>
        </p:nvSpPr>
        <p:spPr>
          <a:xfrm>
            <a:off x="5715000" y="3776472"/>
            <a:ext cx="7955279" cy="1069848"/>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5897880" y="3904487"/>
            <a:ext cx="7589519" cy="265176"/>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if (depth &lt;= 0) {</a:t>
            </a:r>
          </a:p>
        </p:txBody>
      </p:sp>
      <p:sp>
        <p:nvSpPr>
          <p:cNvPr id="111" name="Rectangle 110"/>
          <p:cNvSpPr/>
          <p:nvPr/>
        </p:nvSpPr>
        <p:spPr>
          <a:xfrm>
            <a:off x="5788152" y="4151376"/>
            <a:ext cx="7808975" cy="265176"/>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897880" y="4169663"/>
            <a:ext cx="7589519" cy="265176"/>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    return evaluateBoard(game, botSymbol);</a:t>
            </a:r>
          </a:p>
        </p:txBody>
      </p:sp>
      <p:sp>
        <p:nvSpPr>
          <p:cNvPr id="113" name="TextBox 112"/>
          <p:cNvSpPr txBox="1"/>
          <p:nvPr/>
        </p:nvSpPr>
        <p:spPr>
          <a:xfrm>
            <a:off x="5897880" y="4434840"/>
            <a:ext cx="7589519" cy="265176"/>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a:t>
            </a:r>
          </a:p>
        </p:txBody>
      </p:sp>
      <p:sp>
        <p:nvSpPr>
          <p:cNvPr id="114" name="TextBox 113"/>
          <p:cNvSpPr txBox="1"/>
          <p:nvPr/>
        </p:nvSpPr>
        <p:spPr>
          <a:xfrm>
            <a:off x="5715000" y="5120640"/>
            <a:ext cx="7955279" cy="365760"/>
          </a:xfrm>
          <a:prstGeom prst="rect">
            <a:avLst/>
          </a:prstGeom>
          <a:noFill/>
        </p:spPr>
        <p:txBody>
          <a:bodyPr wrap="square" lIns="0" rIns="0" tIns="0" bIns="0">
            <a:noAutofit/>
          </a:bodyPr>
          <a:lstStyle/>
          <a:p>
            <a:pPr algn="l">
              <a:lnSpc>
                <a:spcPct val="107000"/>
              </a:lnSpc>
              <a:spcBef>
                <a:spcPts val="0"/>
              </a:spcBef>
              <a:spcAft>
                <a:spcPts val="500"/>
              </a:spcAft>
              <a:defRPr sz="2300" b="1">
                <a:solidFill>
                  <a:srgbClr val="27604A"/>
                </a:solidFill>
                <a:latin typeface="Arial"/>
              </a:defRPr>
            </a:pPr>
            <a:r>
              <a:t>RETURN 0 → resume the waiting BOT MAX call</a:t>
            </a:r>
          </a:p>
        </p:txBody>
      </p:sp>
      <p:sp>
        <p:nvSpPr>
          <p:cNvPr id="115" name="Rounded Rectangle 114"/>
          <p:cNvSpPr/>
          <p:nvPr/>
        </p:nvSpPr>
        <p:spPr>
          <a:xfrm>
            <a:off x="5715000" y="5605272"/>
            <a:ext cx="7955279" cy="105156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extBox 115"/>
          <p:cNvSpPr txBox="1"/>
          <p:nvPr/>
        </p:nvSpPr>
        <p:spPr>
          <a:xfrm>
            <a:off x="5897880" y="5733288"/>
            <a:ext cx="7589519" cy="259079"/>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eval = 0; // returned child score</a:t>
            </a:r>
          </a:p>
        </p:txBody>
      </p:sp>
      <p:sp>
        <p:nvSpPr>
          <p:cNvPr id="117" name="TextBox 116"/>
          <p:cNvSpPr txBox="1"/>
          <p:nvPr/>
        </p:nvSpPr>
        <p:spPr>
          <a:xfrm>
            <a:off x="5897880" y="5992367"/>
            <a:ext cx="7589519" cy="259079"/>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maxEval = Math.max(maxEval, eval); // 0</a:t>
            </a:r>
          </a:p>
        </p:txBody>
      </p:sp>
      <p:sp>
        <p:nvSpPr>
          <p:cNvPr id="118" name="TextBox 117"/>
          <p:cNvSpPr txBox="1"/>
          <p:nvPr/>
        </p:nvSpPr>
        <p:spPr>
          <a:xfrm>
            <a:off x="5897880" y="6251447"/>
            <a:ext cx="7589519" cy="259079"/>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17362D"/>
                </a:solidFill>
                <a:latin typeface="Consolas"/>
              </a:defRPr>
            </a:pPr>
            <a:r>
              <a:t>alpha = Math.max(alpha, eval);     // 0</a:t>
            </a:r>
          </a:p>
        </p:txBody>
      </p:sp>
      <p:sp>
        <p:nvSpPr>
          <p:cNvPr id="119" name="Rounded Rectangle 118"/>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The score 0 is fully calculated for this reply, up to the chosen depth.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Finish H1, then give its result to the human MIN call</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08</a:t>
            </a:r>
          </a:p>
        </p:txBody>
      </p:sp>
      <p:sp>
        <p:nvSpPr>
          <p:cNvPr id="9" name="TextBox 8"/>
          <p:cNvSpPr txBox="1"/>
          <p:nvPr/>
        </p:nvSpPr>
        <p:spPr>
          <a:xfrm>
            <a:off x="914400" y="1810512"/>
            <a:ext cx="28803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Reply 1 · score 0</a:t>
            </a:r>
          </a:p>
        </p:txBody>
      </p:sp>
      <p:sp>
        <p:nvSpPr>
          <p:cNvPr id="10" name="Rectangle 9"/>
          <p:cNvSpPr/>
          <p:nvPr/>
        </p:nvSpPr>
        <p:spPr>
          <a:xfrm>
            <a:off x="868680" y="2404872"/>
            <a:ext cx="2971800" cy="29718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3503" y="256580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91440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91440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27444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63449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99453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35458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271462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307467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343471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03503" y="29258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27444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91440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27444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63449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199453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235458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1462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307467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43471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03503" y="328589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2" name="TextBox 31"/>
          <p:cNvSpPr txBox="1"/>
          <p:nvPr/>
        </p:nvSpPr>
        <p:spPr>
          <a:xfrm>
            <a:off x="163449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3" name="Rectangle 32"/>
          <p:cNvSpPr/>
          <p:nvPr/>
        </p:nvSpPr>
        <p:spPr>
          <a:xfrm>
            <a:off x="91440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127444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1328451" y="322468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328451" y="326789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37" name="Rectangle 36"/>
          <p:cNvSpPr/>
          <p:nvPr/>
        </p:nvSpPr>
        <p:spPr>
          <a:xfrm>
            <a:off x="163449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199453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2048541" y="3224688"/>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048541" y="326789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41" name="Rectangle 40"/>
          <p:cNvSpPr/>
          <p:nvPr/>
        </p:nvSpPr>
        <p:spPr>
          <a:xfrm>
            <a:off x="235458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271462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307467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471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3" y="364594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6" name="TextBox 45"/>
          <p:cNvSpPr txBox="1"/>
          <p:nvPr/>
        </p:nvSpPr>
        <p:spPr>
          <a:xfrm>
            <a:off x="199453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7" name="Rectangle 46"/>
          <p:cNvSpPr/>
          <p:nvPr/>
        </p:nvSpPr>
        <p:spPr>
          <a:xfrm>
            <a:off x="91440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68406" y="358473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68406" y="362793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50" name="Rectangle 49"/>
          <p:cNvSpPr/>
          <p:nvPr/>
        </p:nvSpPr>
        <p:spPr>
          <a:xfrm>
            <a:off x="127444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163449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199453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35458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2408586" y="358473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2408586" y="362793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56" name="Rectangle 55"/>
          <p:cNvSpPr/>
          <p:nvPr/>
        </p:nvSpPr>
        <p:spPr>
          <a:xfrm>
            <a:off x="271462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307467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343471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03503" y="400598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35458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91440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27444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328451" y="394477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328451" y="398798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65" name="Rectangle 64"/>
          <p:cNvSpPr/>
          <p:nvPr/>
        </p:nvSpPr>
        <p:spPr>
          <a:xfrm>
            <a:off x="163449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199453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35458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271462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307467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343471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03503" y="436603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271462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91440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27444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63449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1688496" y="4304823"/>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1688496" y="434802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78" name="Rectangle 77"/>
          <p:cNvSpPr/>
          <p:nvPr/>
        </p:nvSpPr>
        <p:spPr>
          <a:xfrm>
            <a:off x="199453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35458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271462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307467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343471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603503" y="472607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307467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91440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27444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63449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199453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35458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271462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307467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343471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03503" y="508612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343471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91440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27444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63449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199453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35458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271462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307467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343471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661922" y="2838069"/>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2021966" y="3198114"/>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a:off x="1814512" y="2990659"/>
            <a:ext cx="360045" cy="36004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TextBox 105"/>
          <p:cNvSpPr txBox="1"/>
          <p:nvPr/>
        </p:nvSpPr>
        <p:spPr>
          <a:xfrm>
            <a:off x="914400" y="5532120"/>
            <a:ext cx="2880360" cy="457200"/>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17362D"/>
                </a:solidFill>
                <a:latin typeface="Arial"/>
              </a:defRPr>
            </a:pPr>
            <a:r>
              <a:t>(1,2) → (2,3)</a:t>
            </a:r>
          </a:p>
        </p:txBody>
      </p:sp>
      <p:sp>
        <p:nvSpPr>
          <p:cNvPr id="107" name="TextBox 106"/>
          <p:cNvSpPr txBox="1"/>
          <p:nvPr/>
        </p:nvSpPr>
        <p:spPr>
          <a:xfrm>
            <a:off x="4251960" y="1810512"/>
            <a:ext cx="28803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Reply 2 · score 0</a:t>
            </a:r>
          </a:p>
        </p:txBody>
      </p:sp>
      <p:sp>
        <p:nvSpPr>
          <p:cNvPr id="108" name="Rectangle 107"/>
          <p:cNvSpPr/>
          <p:nvPr/>
        </p:nvSpPr>
        <p:spPr>
          <a:xfrm>
            <a:off x="4206240" y="2404872"/>
            <a:ext cx="2971800" cy="29718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3941064" y="256580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10" name="TextBox 109"/>
          <p:cNvSpPr txBox="1"/>
          <p:nvPr/>
        </p:nvSpPr>
        <p:spPr>
          <a:xfrm>
            <a:off x="425196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11" name="Rectangle 110"/>
          <p:cNvSpPr/>
          <p:nvPr/>
        </p:nvSpPr>
        <p:spPr>
          <a:xfrm>
            <a:off x="425196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angle 111"/>
          <p:cNvSpPr/>
          <p:nvPr/>
        </p:nvSpPr>
        <p:spPr>
          <a:xfrm>
            <a:off x="461200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Rectangle 112"/>
          <p:cNvSpPr/>
          <p:nvPr/>
        </p:nvSpPr>
        <p:spPr>
          <a:xfrm>
            <a:off x="497205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Rectangle 113"/>
          <p:cNvSpPr/>
          <p:nvPr/>
        </p:nvSpPr>
        <p:spPr>
          <a:xfrm>
            <a:off x="533209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ectangle 114"/>
          <p:cNvSpPr/>
          <p:nvPr/>
        </p:nvSpPr>
        <p:spPr>
          <a:xfrm>
            <a:off x="569214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ectangle 115"/>
          <p:cNvSpPr/>
          <p:nvPr/>
        </p:nvSpPr>
        <p:spPr>
          <a:xfrm>
            <a:off x="605218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ectangle 116"/>
          <p:cNvSpPr/>
          <p:nvPr/>
        </p:nvSpPr>
        <p:spPr>
          <a:xfrm>
            <a:off x="641223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Rectangle 117"/>
          <p:cNvSpPr/>
          <p:nvPr/>
        </p:nvSpPr>
        <p:spPr>
          <a:xfrm>
            <a:off x="677227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extBox 118"/>
          <p:cNvSpPr txBox="1"/>
          <p:nvPr/>
        </p:nvSpPr>
        <p:spPr>
          <a:xfrm>
            <a:off x="3941064" y="29258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120" name="TextBox 119"/>
          <p:cNvSpPr txBox="1"/>
          <p:nvPr/>
        </p:nvSpPr>
        <p:spPr>
          <a:xfrm>
            <a:off x="461200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121" name="Rectangle 120"/>
          <p:cNvSpPr/>
          <p:nvPr/>
        </p:nvSpPr>
        <p:spPr>
          <a:xfrm>
            <a:off x="425196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Rectangle 121"/>
          <p:cNvSpPr/>
          <p:nvPr/>
        </p:nvSpPr>
        <p:spPr>
          <a:xfrm>
            <a:off x="461200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Rectangle 122"/>
          <p:cNvSpPr/>
          <p:nvPr/>
        </p:nvSpPr>
        <p:spPr>
          <a:xfrm>
            <a:off x="497205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Oval 123"/>
          <p:cNvSpPr/>
          <p:nvPr/>
        </p:nvSpPr>
        <p:spPr>
          <a:xfrm>
            <a:off x="5026056" y="286464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TextBox 124"/>
          <p:cNvSpPr txBox="1"/>
          <p:nvPr/>
        </p:nvSpPr>
        <p:spPr>
          <a:xfrm>
            <a:off x="5026056" y="290784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126" name="Rectangle 125"/>
          <p:cNvSpPr/>
          <p:nvPr/>
        </p:nvSpPr>
        <p:spPr>
          <a:xfrm>
            <a:off x="533209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Rectangle 126"/>
          <p:cNvSpPr/>
          <p:nvPr/>
        </p:nvSpPr>
        <p:spPr>
          <a:xfrm>
            <a:off x="569214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Rectangle 127"/>
          <p:cNvSpPr/>
          <p:nvPr/>
        </p:nvSpPr>
        <p:spPr>
          <a:xfrm>
            <a:off x="605218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Rectangle 128"/>
          <p:cNvSpPr/>
          <p:nvPr/>
        </p:nvSpPr>
        <p:spPr>
          <a:xfrm>
            <a:off x="641223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Rectangle 129"/>
          <p:cNvSpPr/>
          <p:nvPr/>
        </p:nvSpPr>
        <p:spPr>
          <a:xfrm>
            <a:off x="677227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3941064" y="328589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132" name="TextBox 131"/>
          <p:cNvSpPr txBox="1"/>
          <p:nvPr/>
        </p:nvSpPr>
        <p:spPr>
          <a:xfrm>
            <a:off x="497205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133" name="Rectangle 132"/>
          <p:cNvSpPr/>
          <p:nvPr/>
        </p:nvSpPr>
        <p:spPr>
          <a:xfrm>
            <a:off x="425196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Rectangle 133"/>
          <p:cNvSpPr/>
          <p:nvPr/>
        </p:nvSpPr>
        <p:spPr>
          <a:xfrm>
            <a:off x="461200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Oval 134"/>
          <p:cNvSpPr/>
          <p:nvPr/>
        </p:nvSpPr>
        <p:spPr>
          <a:xfrm>
            <a:off x="4666011" y="322468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4666011" y="326789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137" name="Rectangle 136"/>
          <p:cNvSpPr/>
          <p:nvPr/>
        </p:nvSpPr>
        <p:spPr>
          <a:xfrm>
            <a:off x="497205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Rectangle 137"/>
          <p:cNvSpPr/>
          <p:nvPr/>
        </p:nvSpPr>
        <p:spPr>
          <a:xfrm>
            <a:off x="533209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Rectangle 138"/>
          <p:cNvSpPr/>
          <p:nvPr/>
        </p:nvSpPr>
        <p:spPr>
          <a:xfrm>
            <a:off x="569214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Rectangle 139"/>
          <p:cNvSpPr/>
          <p:nvPr/>
        </p:nvSpPr>
        <p:spPr>
          <a:xfrm>
            <a:off x="605218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Rectangle 140"/>
          <p:cNvSpPr/>
          <p:nvPr/>
        </p:nvSpPr>
        <p:spPr>
          <a:xfrm>
            <a:off x="641223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Rectangle 141"/>
          <p:cNvSpPr/>
          <p:nvPr/>
        </p:nvSpPr>
        <p:spPr>
          <a:xfrm>
            <a:off x="677227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p:cNvSpPr txBox="1"/>
          <p:nvPr/>
        </p:nvSpPr>
        <p:spPr>
          <a:xfrm>
            <a:off x="3941064" y="364594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144" name="TextBox 143"/>
          <p:cNvSpPr txBox="1"/>
          <p:nvPr/>
        </p:nvSpPr>
        <p:spPr>
          <a:xfrm>
            <a:off x="533209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145" name="Rectangle 144"/>
          <p:cNvSpPr/>
          <p:nvPr/>
        </p:nvSpPr>
        <p:spPr>
          <a:xfrm>
            <a:off x="425196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Oval 145"/>
          <p:cNvSpPr/>
          <p:nvPr/>
        </p:nvSpPr>
        <p:spPr>
          <a:xfrm>
            <a:off x="4305966" y="358473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TextBox 146"/>
          <p:cNvSpPr txBox="1"/>
          <p:nvPr/>
        </p:nvSpPr>
        <p:spPr>
          <a:xfrm>
            <a:off x="4305966" y="362793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148" name="Rectangle 147"/>
          <p:cNvSpPr/>
          <p:nvPr/>
        </p:nvSpPr>
        <p:spPr>
          <a:xfrm>
            <a:off x="461200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Rectangle 148"/>
          <p:cNvSpPr/>
          <p:nvPr/>
        </p:nvSpPr>
        <p:spPr>
          <a:xfrm>
            <a:off x="497205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Rectangle 149"/>
          <p:cNvSpPr/>
          <p:nvPr/>
        </p:nvSpPr>
        <p:spPr>
          <a:xfrm>
            <a:off x="533209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Rectangle 150"/>
          <p:cNvSpPr/>
          <p:nvPr/>
        </p:nvSpPr>
        <p:spPr>
          <a:xfrm>
            <a:off x="569214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Rectangle 151"/>
          <p:cNvSpPr/>
          <p:nvPr/>
        </p:nvSpPr>
        <p:spPr>
          <a:xfrm>
            <a:off x="605218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Rectangle 152"/>
          <p:cNvSpPr/>
          <p:nvPr/>
        </p:nvSpPr>
        <p:spPr>
          <a:xfrm>
            <a:off x="641223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Rectangle 153"/>
          <p:cNvSpPr/>
          <p:nvPr/>
        </p:nvSpPr>
        <p:spPr>
          <a:xfrm>
            <a:off x="677227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TextBox 154"/>
          <p:cNvSpPr txBox="1"/>
          <p:nvPr/>
        </p:nvSpPr>
        <p:spPr>
          <a:xfrm>
            <a:off x="3941064" y="400598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156" name="TextBox 155"/>
          <p:cNvSpPr txBox="1"/>
          <p:nvPr/>
        </p:nvSpPr>
        <p:spPr>
          <a:xfrm>
            <a:off x="569214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157" name="Rectangle 156"/>
          <p:cNvSpPr/>
          <p:nvPr/>
        </p:nvSpPr>
        <p:spPr>
          <a:xfrm>
            <a:off x="425196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Rectangle 157"/>
          <p:cNvSpPr/>
          <p:nvPr/>
        </p:nvSpPr>
        <p:spPr>
          <a:xfrm>
            <a:off x="461200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Oval 158"/>
          <p:cNvSpPr/>
          <p:nvPr/>
        </p:nvSpPr>
        <p:spPr>
          <a:xfrm>
            <a:off x="4666011" y="394477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TextBox 159"/>
          <p:cNvSpPr txBox="1"/>
          <p:nvPr/>
        </p:nvSpPr>
        <p:spPr>
          <a:xfrm>
            <a:off x="4666011" y="398798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161" name="Rectangle 160"/>
          <p:cNvSpPr/>
          <p:nvPr/>
        </p:nvSpPr>
        <p:spPr>
          <a:xfrm>
            <a:off x="497205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Rectangle 161"/>
          <p:cNvSpPr/>
          <p:nvPr/>
        </p:nvSpPr>
        <p:spPr>
          <a:xfrm>
            <a:off x="533209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Oval 162"/>
          <p:cNvSpPr/>
          <p:nvPr/>
        </p:nvSpPr>
        <p:spPr>
          <a:xfrm>
            <a:off x="5386101" y="3944778"/>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Box 163"/>
          <p:cNvSpPr txBox="1"/>
          <p:nvPr/>
        </p:nvSpPr>
        <p:spPr>
          <a:xfrm>
            <a:off x="5386101" y="398798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165" name="Rectangle 164"/>
          <p:cNvSpPr/>
          <p:nvPr/>
        </p:nvSpPr>
        <p:spPr>
          <a:xfrm>
            <a:off x="569214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Rectangle 165"/>
          <p:cNvSpPr/>
          <p:nvPr/>
        </p:nvSpPr>
        <p:spPr>
          <a:xfrm>
            <a:off x="605218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Rectangle 166"/>
          <p:cNvSpPr/>
          <p:nvPr/>
        </p:nvSpPr>
        <p:spPr>
          <a:xfrm>
            <a:off x="641223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Rectangle 167"/>
          <p:cNvSpPr/>
          <p:nvPr/>
        </p:nvSpPr>
        <p:spPr>
          <a:xfrm>
            <a:off x="677227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3941064" y="436603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170" name="TextBox 169"/>
          <p:cNvSpPr txBox="1"/>
          <p:nvPr/>
        </p:nvSpPr>
        <p:spPr>
          <a:xfrm>
            <a:off x="605218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171" name="Rectangle 170"/>
          <p:cNvSpPr/>
          <p:nvPr/>
        </p:nvSpPr>
        <p:spPr>
          <a:xfrm>
            <a:off x="425196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Rectangle 171"/>
          <p:cNvSpPr/>
          <p:nvPr/>
        </p:nvSpPr>
        <p:spPr>
          <a:xfrm>
            <a:off x="461200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Rectangle 172"/>
          <p:cNvSpPr/>
          <p:nvPr/>
        </p:nvSpPr>
        <p:spPr>
          <a:xfrm>
            <a:off x="497205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Oval 173"/>
          <p:cNvSpPr/>
          <p:nvPr/>
        </p:nvSpPr>
        <p:spPr>
          <a:xfrm>
            <a:off x="5026056" y="4304823"/>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TextBox 174"/>
          <p:cNvSpPr txBox="1"/>
          <p:nvPr/>
        </p:nvSpPr>
        <p:spPr>
          <a:xfrm>
            <a:off x="5026056" y="434802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176" name="Rectangle 175"/>
          <p:cNvSpPr/>
          <p:nvPr/>
        </p:nvSpPr>
        <p:spPr>
          <a:xfrm>
            <a:off x="533209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Rectangle 176"/>
          <p:cNvSpPr/>
          <p:nvPr/>
        </p:nvSpPr>
        <p:spPr>
          <a:xfrm>
            <a:off x="569214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Rectangle 177"/>
          <p:cNvSpPr/>
          <p:nvPr/>
        </p:nvSpPr>
        <p:spPr>
          <a:xfrm>
            <a:off x="605218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Rectangle 178"/>
          <p:cNvSpPr/>
          <p:nvPr/>
        </p:nvSpPr>
        <p:spPr>
          <a:xfrm>
            <a:off x="641223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Rectangle 179"/>
          <p:cNvSpPr/>
          <p:nvPr/>
        </p:nvSpPr>
        <p:spPr>
          <a:xfrm>
            <a:off x="677227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TextBox 180"/>
          <p:cNvSpPr txBox="1"/>
          <p:nvPr/>
        </p:nvSpPr>
        <p:spPr>
          <a:xfrm>
            <a:off x="3941064" y="472607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182" name="TextBox 181"/>
          <p:cNvSpPr txBox="1"/>
          <p:nvPr/>
        </p:nvSpPr>
        <p:spPr>
          <a:xfrm>
            <a:off x="641223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183" name="Rectangle 182"/>
          <p:cNvSpPr/>
          <p:nvPr/>
        </p:nvSpPr>
        <p:spPr>
          <a:xfrm>
            <a:off x="425196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Rectangle 183"/>
          <p:cNvSpPr/>
          <p:nvPr/>
        </p:nvSpPr>
        <p:spPr>
          <a:xfrm>
            <a:off x="461200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Rectangle 184"/>
          <p:cNvSpPr/>
          <p:nvPr/>
        </p:nvSpPr>
        <p:spPr>
          <a:xfrm>
            <a:off x="497205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Rectangle 185"/>
          <p:cNvSpPr/>
          <p:nvPr/>
        </p:nvSpPr>
        <p:spPr>
          <a:xfrm>
            <a:off x="533209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Rectangle 186"/>
          <p:cNvSpPr/>
          <p:nvPr/>
        </p:nvSpPr>
        <p:spPr>
          <a:xfrm>
            <a:off x="569214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Rectangle 187"/>
          <p:cNvSpPr/>
          <p:nvPr/>
        </p:nvSpPr>
        <p:spPr>
          <a:xfrm>
            <a:off x="605218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Rectangle 188"/>
          <p:cNvSpPr/>
          <p:nvPr/>
        </p:nvSpPr>
        <p:spPr>
          <a:xfrm>
            <a:off x="641223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Rectangle 189"/>
          <p:cNvSpPr/>
          <p:nvPr/>
        </p:nvSpPr>
        <p:spPr>
          <a:xfrm>
            <a:off x="677227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TextBox 190"/>
          <p:cNvSpPr txBox="1"/>
          <p:nvPr/>
        </p:nvSpPr>
        <p:spPr>
          <a:xfrm>
            <a:off x="3941064" y="508612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192" name="TextBox 191"/>
          <p:cNvSpPr txBox="1"/>
          <p:nvPr/>
        </p:nvSpPr>
        <p:spPr>
          <a:xfrm>
            <a:off x="677227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193" name="Rectangle 192"/>
          <p:cNvSpPr/>
          <p:nvPr/>
        </p:nvSpPr>
        <p:spPr>
          <a:xfrm>
            <a:off x="425196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Rectangle 193"/>
          <p:cNvSpPr/>
          <p:nvPr/>
        </p:nvSpPr>
        <p:spPr>
          <a:xfrm>
            <a:off x="461200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Rectangle 194"/>
          <p:cNvSpPr/>
          <p:nvPr/>
        </p:nvSpPr>
        <p:spPr>
          <a:xfrm>
            <a:off x="497205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Rectangle 195"/>
          <p:cNvSpPr/>
          <p:nvPr/>
        </p:nvSpPr>
        <p:spPr>
          <a:xfrm>
            <a:off x="533209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Rectangle 196"/>
          <p:cNvSpPr/>
          <p:nvPr/>
        </p:nvSpPr>
        <p:spPr>
          <a:xfrm>
            <a:off x="569214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Rectangle 197"/>
          <p:cNvSpPr/>
          <p:nvPr/>
        </p:nvSpPr>
        <p:spPr>
          <a:xfrm>
            <a:off x="605218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Rectangle 198"/>
          <p:cNvSpPr/>
          <p:nvPr/>
        </p:nvSpPr>
        <p:spPr>
          <a:xfrm>
            <a:off x="641223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Rectangle 199"/>
          <p:cNvSpPr/>
          <p:nvPr/>
        </p:nvSpPr>
        <p:spPr>
          <a:xfrm>
            <a:off x="677227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Rectangle 200"/>
          <p:cNvSpPr/>
          <p:nvPr/>
        </p:nvSpPr>
        <p:spPr>
          <a:xfrm>
            <a:off x="5719572" y="3558159"/>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Rectangle 201"/>
          <p:cNvSpPr/>
          <p:nvPr/>
        </p:nvSpPr>
        <p:spPr>
          <a:xfrm>
            <a:off x="5359527" y="3918204"/>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3" name="Connector 202"/>
          <p:cNvCxnSpPr/>
          <p:nvPr/>
        </p:nvCxnSpPr>
        <p:spPr>
          <a:xfrm flipH="1">
            <a:off x="5512117" y="3710749"/>
            <a:ext cx="360045" cy="36004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204" name="TextBox 203"/>
          <p:cNvSpPr txBox="1"/>
          <p:nvPr/>
        </p:nvSpPr>
        <p:spPr>
          <a:xfrm>
            <a:off x="4251960" y="5532120"/>
            <a:ext cx="2880360" cy="457200"/>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17362D"/>
                </a:solidFill>
                <a:latin typeface="Arial"/>
              </a:defRPr>
            </a:pPr>
            <a:r>
              <a:t>(3,4) → (4,3)</a:t>
            </a:r>
          </a:p>
        </p:txBody>
      </p:sp>
      <p:sp>
        <p:nvSpPr>
          <p:cNvPr id="205" name="TextBox 204"/>
          <p:cNvSpPr txBox="1"/>
          <p:nvPr/>
        </p:nvSpPr>
        <p:spPr>
          <a:xfrm>
            <a:off x="7589520" y="1810512"/>
            <a:ext cx="28803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Reply 3 · score 0</a:t>
            </a:r>
          </a:p>
        </p:txBody>
      </p:sp>
      <p:sp>
        <p:nvSpPr>
          <p:cNvPr id="206" name="Rectangle 205"/>
          <p:cNvSpPr/>
          <p:nvPr/>
        </p:nvSpPr>
        <p:spPr>
          <a:xfrm>
            <a:off x="7543800" y="2404872"/>
            <a:ext cx="2971800" cy="29718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TextBox 206"/>
          <p:cNvSpPr txBox="1"/>
          <p:nvPr/>
        </p:nvSpPr>
        <p:spPr>
          <a:xfrm>
            <a:off x="7278624" y="256580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208" name="TextBox 207"/>
          <p:cNvSpPr txBox="1"/>
          <p:nvPr/>
        </p:nvSpPr>
        <p:spPr>
          <a:xfrm>
            <a:off x="758952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209" name="Rectangle 208"/>
          <p:cNvSpPr/>
          <p:nvPr/>
        </p:nvSpPr>
        <p:spPr>
          <a:xfrm>
            <a:off x="758952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Rectangle 209"/>
          <p:cNvSpPr/>
          <p:nvPr/>
        </p:nvSpPr>
        <p:spPr>
          <a:xfrm>
            <a:off x="794956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Rectangle 210"/>
          <p:cNvSpPr/>
          <p:nvPr/>
        </p:nvSpPr>
        <p:spPr>
          <a:xfrm>
            <a:off x="830961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Rectangle 211"/>
          <p:cNvSpPr/>
          <p:nvPr/>
        </p:nvSpPr>
        <p:spPr>
          <a:xfrm>
            <a:off x="866965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Rectangle 212"/>
          <p:cNvSpPr/>
          <p:nvPr/>
        </p:nvSpPr>
        <p:spPr>
          <a:xfrm>
            <a:off x="902970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Rectangle 213"/>
          <p:cNvSpPr/>
          <p:nvPr/>
        </p:nvSpPr>
        <p:spPr>
          <a:xfrm>
            <a:off x="938974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Rectangle 214"/>
          <p:cNvSpPr/>
          <p:nvPr/>
        </p:nvSpPr>
        <p:spPr>
          <a:xfrm>
            <a:off x="9749790" y="245059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Rectangle 215"/>
          <p:cNvSpPr/>
          <p:nvPr/>
        </p:nvSpPr>
        <p:spPr>
          <a:xfrm>
            <a:off x="10109835" y="245059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TextBox 216"/>
          <p:cNvSpPr txBox="1"/>
          <p:nvPr/>
        </p:nvSpPr>
        <p:spPr>
          <a:xfrm>
            <a:off x="7278624" y="29258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18" name="TextBox 217"/>
          <p:cNvSpPr txBox="1"/>
          <p:nvPr/>
        </p:nvSpPr>
        <p:spPr>
          <a:xfrm>
            <a:off x="794956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19" name="Rectangle 218"/>
          <p:cNvSpPr/>
          <p:nvPr/>
        </p:nvSpPr>
        <p:spPr>
          <a:xfrm>
            <a:off x="758952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Rectangle 219"/>
          <p:cNvSpPr/>
          <p:nvPr/>
        </p:nvSpPr>
        <p:spPr>
          <a:xfrm>
            <a:off x="794956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Rectangle 220"/>
          <p:cNvSpPr/>
          <p:nvPr/>
        </p:nvSpPr>
        <p:spPr>
          <a:xfrm>
            <a:off x="830961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Oval 221"/>
          <p:cNvSpPr/>
          <p:nvPr/>
        </p:nvSpPr>
        <p:spPr>
          <a:xfrm>
            <a:off x="8363616" y="286464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TextBox 222"/>
          <p:cNvSpPr txBox="1"/>
          <p:nvPr/>
        </p:nvSpPr>
        <p:spPr>
          <a:xfrm>
            <a:off x="8363616" y="290784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224" name="Rectangle 223"/>
          <p:cNvSpPr/>
          <p:nvPr/>
        </p:nvSpPr>
        <p:spPr>
          <a:xfrm>
            <a:off x="866965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Rectangle 224"/>
          <p:cNvSpPr/>
          <p:nvPr/>
        </p:nvSpPr>
        <p:spPr>
          <a:xfrm>
            <a:off x="902970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Rectangle 225"/>
          <p:cNvSpPr/>
          <p:nvPr/>
        </p:nvSpPr>
        <p:spPr>
          <a:xfrm>
            <a:off x="938974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Rectangle 226"/>
          <p:cNvSpPr/>
          <p:nvPr/>
        </p:nvSpPr>
        <p:spPr>
          <a:xfrm>
            <a:off x="9749790" y="281063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Rectangle 227"/>
          <p:cNvSpPr/>
          <p:nvPr/>
        </p:nvSpPr>
        <p:spPr>
          <a:xfrm>
            <a:off x="10109835" y="281063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TextBox 228"/>
          <p:cNvSpPr txBox="1"/>
          <p:nvPr/>
        </p:nvSpPr>
        <p:spPr>
          <a:xfrm>
            <a:off x="7278624" y="328589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230" name="TextBox 229"/>
          <p:cNvSpPr txBox="1"/>
          <p:nvPr/>
        </p:nvSpPr>
        <p:spPr>
          <a:xfrm>
            <a:off x="830961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231" name="Rectangle 230"/>
          <p:cNvSpPr/>
          <p:nvPr/>
        </p:nvSpPr>
        <p:spPr>
          <a:xfrm>
            <a:off x="758952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Rectangle 231"/>
          <p:cNvSpPr/>
          <p:nvPr/>
        </p:nvSpPr>
        <p:spPr>
          <a:xfrm>
            <a:off x="794956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Oval 232"/>
          <p:cNvSpPr/>
          <p:nvPr/>
        </p:nvSpPr>
        <p:spPr>
          <a:xfrm>
            <a:off x="8003571" y="322468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TextBox 233"/>
          <p:cNvSpPr txBox="1"/>
          <p:nvPr/>
        </p:nvSpPr>
        <p:spPr>
          <a:xfrm>
            <a:off x="8003571" y="326789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235" name="Rectangle 234"/>
          <p:cNvSpPr/>
          <p:nvPr/>
        </p:nvSpPr>
        <p:spPr>
          <a:xfrm>
            <a:off x="830961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Rectangle 235"/>
          <p:cNvSpPr/>
          <p:nvPr/>
        </p:nvSpPr>
        <p:spPr>
          <a:xfrm>
            <a:off x="866965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Rectangle 236"/>
          <p:cNvSpPr/>
          <p:nvPr/>
        </p:nvSpPr>
        <p:spPr>
          <a:xfrm>
            <a:off x="902970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Rectangle 237"/>
          <p:cNvSpPr/>
          <p:nvPr/>
        </p:nvSpPr>
        <p:spPr>
          <a:xfrm>
            <a:off x="938974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Rectangle 238"/>
          <p:cNvSpPr/>
          <p:nvPr/>
        </p:nvSpPr>
        <p:spPr>
          <a:xfrm>
            <a:off x="9749790" y="317068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Rectangle 239"/>
          <p:cNvSpPr/>
          <p:nvPr/>
        </p:nvSpPr>
        <p:spPr>
          <a:xfrm>
            <a:off x="10109835" y="317068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TextBox 240"/>
          <p:cNvSpPr txBox="1"/>
          <p:nvPr/>
        </p:nvSpPr>
        <p:spPr>
          <a:xfrm>
            <a:off x="7278624" y="364594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242" name="TextBox 241"/>
          <p:cNvSpPr txBox="1"/>
          <p:nvPr/>
        </p:nvSpPr>
        <p:spPr>
          <a:xfrm>
            <a:off x="866965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243" name="Rectangle 242"/>
          <p:cNvSpPr/>
          <p:nvPr/>
        </p:nvSpPr>
        <p:spPr>
          <a:xfrm>
            <a:off x="758952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Oval 243"/>
          <p:cNvSpPr/>
          <p:nvPr/>
        </p:nvSpPr>
        <p:spPr>
          <a:xfrm>
            <a:off x="7643526" y="3584733"/>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TextBox 244"/>
          <p:cNvSpPr txBox="1"/>
          <p:nvPr/>
        </p:nvSpPr>
        <p:spPr>
          <a:xfrm>
            <a:off x="7643526" y="362793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246" name="Rectangle 245"/>
          <p:cNvSpPr/>
          <p:nvPr/>
        </p:nvSpPr>
        <p:spPr>
          <a:xfrm>
            <a:off x="794956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Rectangle 246"/>
          <p:cNvSpPr/>
          <p:nvPr/>
        </p:nvSpPr>
        <p:spPr>
          <a:xfrm>
            <a:off x="830961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Rectangle 247"/>
          <p:cNvSpPr/>
          <p:nvPr/>
        </p:nvSpPr>
        <p:spPr>
          <a:xfrm>
            <a:off x="866965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Rectangle 248"/>
          <p:cNvSpPr/>
          <p:nvPr/>
        </p:nvSpPr>
        <p:spPr>
          <a:xfrm>
            <a:off x="902970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Rectangle 249"/>
          <p:cNvSpPr/>
          <p:nvPr/>
        </p:nvSpPr>
        <p:spPr>
          <a:xfrm>
            <a:off x="938974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Rectangle 250"/>
          <p:cNvSpPr/>
          <p:nvPr/>
        </p:nvSpPr>
        <p:spPr>
          <a:xfrm>
            <a:off x="9749790" y="353072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Rectangle 251"/>
          <p:cNvSpPr/>
          <p:nvPr/>
        </p:nvSpPr>
        <p:spPr>
          <a:xfrm>
            <a:off x="10109835" y="353072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TextBox 252"/>
          <p:cNvSpPr txBox="1"/>
          <p:nvPr/>
        </p:nvSpPr>
        <p:spPr>
          <a:xfrm>
            <a:off x="7278624" y="400598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254" name="TextBox 253"/>
          <p:cNvSpPr txBox="1"/>
          <p:nvPr/>
        </p:nvSpPr>
        <p:spPr>
          <a:xfrm>
            <a:off x="902970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255" name="Rectangle 254"/>
          <p:cNvSpPr/>
          <p:nvPr/>
        </p:nvSpPr>
        <p:spPr>
          <a:xfrm>
            <a:off x="758952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Rectangle 255"/>
          <p:cNvSpPr/>
          <p:nvPr/>
        </p:nvSpPr>
        <p:spPr>
          <a:xfrm>
            <a:off x="794956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Oval 256"/>
          <p:cNvSpPr/>
          <p:nvPr/>
        </p:nvSpPr>
        <p:spPr>
          <a:xfrm>
            <a:off x="8003571" y="3944778"/>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TextBox 257"/>
          <p:cNvSpPr txBox="1"/>
          <p:nvPr/>
        </p:nvSpPr>
        <p:spPr>
          <a:xfrm>
            <a:off x="8003571" y="398798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259" name="Rectangle 258"/>
          <p:cNvSpPr/>
          <p:nvPr/>
        </p:nvSpPr>
        <p:spPr>
          <a:xfrm>
            <a:off x="830961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Rectangle 259"/>
          <p:cNvSpPr/>
          <p:nvPr/>
        </p:nvSpPr>
        <p:spPr>
          <a:xfrm>
            <a:off x="866965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Rectangle 260"/>
          <p:cNvSpPr/>
          <p:nvPr/>
        </p:nvSpPr>
        <p:spPr>
          <a:xfrm>
            <a:off x="902970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Rectangle 261"/>
          <p:cNvSpPr/>
          <p:nvPr/>
        </p:nvSpPr>
        <p:spPr>
          <a:xfrm>
            <a:off x="938974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Oval 262"/>
          <p:cNvSpPr/>
          <p:nvPr/>
        </p:nvSpPr>
        <p:spPr>
          <a:xfrm>
            <a:off x="9443751" y="3944778"/>
            <a:ext cx="252031" cy="252031"/>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TextBox 263"/>
          <p:cNvSpPr txBox="1"/>
          <p:nvPr/>
        </p:nvSpPr>
        <p:spPr>
          <a:xfrm>
            <a:off x="9443751" y="3987984"/>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o</a:t>
            </a:r>
          </a:p>
        </p:txBody>
      </p:sp>
      <p:sp>
        <p:nvSpPr>
          <p:cNvPr id="265" name="Rectangle 264"/>
          <p:cNvSpPr/>
          <p:nvPr/>
        </p:nvSpPr>
        <p:spPr>
          <a:xfrm>
            <a:off x="9749790" y="389077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Rectangle 265"/>
          <p:cNvSpPr/>
          <p:nvPr/>
        </p:nvSpPr>
        <p:spPr>
          <a:xfrm>
            <a:off x="10109835" y="389077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TextBox 266"/>
          <p:cNvSpPr txBox="1"/>
          <p:nvPr/>
        </p:nvSpPr>
        <p:spPr>
          <a:xfrm>
            <a:off x="7278624" y="436603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268" name="TextBox 267"/>
          <p:cNvSpPr txBox="1"/>
          <p:nvPr/>
        </p:nvSpPr>
        <p:spPr>
          <a:xfrm>
            <a:off x="938974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269" name="Rectangle 268"/>
          <p:cNvSpPr/>
          <p:nvPr/>
        </p:nvSpPr>
        <p:spPr>
          <a:xfrm>
            <a:off x="758952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Rectangle 269"/>
          <p:cNvSpPr/>
          <p:nvPr/>
        </p:nvSpPr>
        <p:spPr>
          <a:xfrm>
            <a:off x="794956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Rectangle 270"/>
          <p:cNvSpPr/>
          <p:nvPr/>
        </p:nvSpPr>
        <p:spPr>
          <a:xfrm>
            <a:off x="830961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Oval 271"/>
          <p:cNvSpPr/>
          <p:nvPr/>
        </p:nvSpPr>
        <p:spPr>
          <a:xfrm>
            <a:off x="8363616" y="4304823"/>
            <a:ext cx="252031" cy="252031"/>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TextBox 272"/>
          <p:cNvSpPr txBox="1"/>
          <p:nvPr/>
        </p:nvSpPr>
        <p:spPr>
          <a:xfrm>
            <a:off x="8363616" y="4348029"/>
            <a:ext cx="252031" cy="162020"/>
          </a:xfrm>
          <a:prstGeom prst="rect">
            <a:avLst/>
          </a:prstGeom>
          <a:noFill/>
        </p:spPr>
        <p:txBody>
          <a:bodyPr wrap="square" lIns="0" rIns="0" tIns="0" bIns="0">
            <a:noAutofit/>
          </a:bodyPr>
          <a:lstStyle/>
          <a:p>
            <a:pPr algn="ctr">
              <a:lnSpc>
                <a:spcPct val="107000"/>
              </a:lnSpc>
              <a:spcBef>
                <a:spcPts val="0"/>
              </a:spcBef>
              <a:spcAft>
                <a:spcPts val="500"/>
              </a:spcAft>
              <a:defRPr sz="1200" b="1">
                <a:solidFill>
                  <a:srgbClr val="FFFFFF"/>
                </a:solidFill>
                <a:latin typeface="Arial"/>
              </a:defRPr>
            </a:pPr>
            <a:r>
              <a:t>x</a:t>
            </a:r>
          </a:p>
        </p:txBody>
      </p:sp>
      <p:sp>
        <p:nvSpPr>
          <p:cNvPr id="274" name="Rectangle 273"/>
          <p:cNvSpPr/>
          <p:nvPr/>
        </p:nvSpPr>
        <p:spPr>
          <a:xfrm>
            <a:off x="866965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Rectangle 274"/>
          <p:cNvSpPr/>
          <p:nvPr/>
        </p:nvSpPr>
        <p:spPr>
          <a:xfrm>
            <a:off x="902970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Rectangle 275"/>
          <p:cNvSpPr/>
          <p:nvPr/>
        </p:nvSpPr>
        <p:spPr>
          <a:xfrm>
            <a:off x="938974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Rectangle 276"/>
          <p:cNvSpPr/>
          <p:nvPr/>
        </p:nvSpPr>
        <p:spPr>
          <a:xfrm>
            <a:off x="9749790" y="425081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Rectangle 277"/>
          <p:cNvSpPr/>
          <p:nvPr/>
        </p:nvSpPr>
        <p:spPr>
          <a:xfrm>
            <a:off x="10109835" y="425081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TextBox 278"/>
          <p:cNvSpPr txBox="1"/>
          <p:nvPr/>
        </p:nvSpPr>
        <p:spPr>
          <a:xfrm>
            <a:off x="7278624" y="472607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280" name="TextBox 279"/>
          <p:cNvSpPr txBox="1"/>
          <p:nvPr/>
        </p:nvSpPr>
        <p:spPr>
          <a:xfrm>
            <a:off x="9749790"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281" name="Rectangle 280"/>
          <p:cNvSpPr/>
          <p:nvPr/>
        </p:nvSpPr>
        <p:spPr>
          <a:xfrm>
            <a:off x="758952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Rectangle 281"/>
          <p:cNvSpPr/>
          <p:nvPr/>
        </p:nvSpPr>
        <p:spPr>
          <a:xfrm>
            <a:off x="794956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Rectangle 282"/>
          <p:cNvSpPr/>
          <p:nvPr/>
        </p:nvSpPr>
        <p:spPr>
          <a:xfrm>
            <a:off x="830961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Rectangle 283"/>
          <p:cNvSpPr/>
          <p:nvPr/>
        </p:nvSpPr>
        <p:spPr>
          <a:xfrm>
            <a:off x="866965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Rectangle 284"/>
          <p:cNvSpPr/>
          <p:nvPr/>
        </p:nvSpPr>
        <p:spPr>
          <a:xfrm>
            <a:off x="902970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Rectangle 285"/>
          <p:cNvSpPr/>
          <p:nvPr/>
        </p:nvSpPr>
        <p:spPr>
          <a:xfrm>
            <a:off x="938974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Rectangle 286"/>
          <p:cNvSpPr/>
          <p:nvPr/>
        </p:nvSpPr>
        <p:spPr>
          <a:xfrm>
            <a:off x="9749790" y="4610862"/>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Rectangle 287"/>
          <p:cNvSpPr/>
          <p:nvPr/>
        </p:nvSpPr>
        <p:spPr>
          <a:xfrm>
            <a:off x="10109835" y="4610862"/>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TextBox 288"/>
          <p:cNvSpPr txBox="1"/>
          <p:nvPr/>
        </p:nvSpPr>
        <p:spPr>
          <a:xfrm>
            <a:off x="7278624" y="508612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290" name="TextBox 289"/>
          <p:cNvSpPr txBox="1"/>
          <p:nvPr/>
        </p:nvSpPr>
        <p:spPr>
          <a:xfrm>
            <a:off x="10109835" y="2148840"/>
            <a:ext cx="36004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291" name="Rectangle 290"/>
          <p:cNvSpPr/>
          <p:nvPr/>
        </p:nvSpPr>
        <p:spPr>
          <a:xfrm>
            <a:off x="758952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Rectangle 291"/>
          <p:cNvSpPr/>
          <p:nvPr/>
        </p:nvSpPr>
        <p:spPr>
          <a:xfrm>
            <a:off x="794956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Rectangle 292"/>
          <p:cNvSpPr/>
          <p:nvPr/>
        </p:nvSpPr>
        <p:spPr>
          <a:xfrm>
            <a:off x="830961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Rectangle 293"/>
          <p:cNvSpPr/>
          <p:nvPr/>
        </p:nvSpPr>
        <p:spPr>
          <a:xfrm>
            <a:off x="866965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Rectangle 294"/>
          <p:cNvSpPr/>
          <p:nvPr/>
        </p:nvSpPr>
        <p:spPr>
          <a:xfrm>
            <a:off x="902970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Rectangle 295"/>
          <p:cNvSpPr/>
          <p:nvPr/>
        </p:nvSpPr>
        <p:spPr>
          <a:xfrm>
            <a:off x="938974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Rectangle 296"/>
          <p:cNvSpPr/>
          <p:nvPr/>
        </p:nvSpPr>
        <p:spPr>
          <a:xfrm>
            <a:off x="9749790" y="4970907"/>
            <a:ext cx="360045" cy="36004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Rectangle 297"/>
          <p:cNvSpPr/>
          <p:nvPr/>
        </p:nvSpPr>
        <p:spPr>
          <a:xfrm>
            <a:off x="10109835" y="4970907"/>
            <a:ext cx="360045" cy="36004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Rectangle 298"/>
          <p:cNvSpPr/>
          <p:nvPr/>
        </p:nvSpPr>
        <p:spPr>
          <a:xfrm>
            <a:off x="9057132" y="3558159"/>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Rectangle 299"/>
          <p:cNvSpPr/>
          <p:nvPr/>
        </p:nvSpPr>
        <p:spPr>
          <a:xfrm>
            <a:off x="9417177" y="3918204"/>
            <a:ext cx="305181" cy="30518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1" name="Connector 300"/>
          <p:cNvCxnSpPr/>
          <p:nvPr/>
        </p:nvCxnSpPr>
        <p:spPr>
          <a:xfrm>
            <a:off x="9209722" y="3710749"/>
            <a:ext cx="360045" cy="36004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302" name="TextBox 301"/>
          <p:cNvSpPr txBox="1"/>
          <p:nvPr/>
        </p:nvSpPr>
        <p:spPr>
          <a:xfrm>
            <a:off x="7589520" y="5532120"/>
            <a:ext cx="2880360" cy="457200"/>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17362D"/>
                </a:solidFill>
                <a:latin typeface="Arial"/>
              </a:defRPr>
            </a:pPr>
            <a:r>
              <a:t>(3,4) → (4,5)</a:t>
            </a:r>
          </a:p>
        </p:txBody>
      </p:sp>
      <p:sp>
        <p:nvSpPr>
          <p:cNvPr id="303" name="Rounded Rectangle 302"/>
          <p:cNvSpPr/>
          <p:nvPr/>
        </p:nvSpPr>
        <p:spPr>
          <a:xfrm>
            <a:off x="10972800" y="2011680"/>
            <a:ext cx="2999232" cy="4023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Rectangle 303"/>
          <p:cNvSpPr/>
          <p:nvPr/>
        </p:nvSpPr>
        <p:spPr>
          <a:xfrm>
            <a:off x="11000232" y="2148840"/>
            <a:ext cx="41148" cy="3749040"/>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TextBox 304"/>
          <p:cNvSpPr txBox="1"/>
          <p:nvPr/>
        </p:nvSpPr>
        <p:spPr>
          <a:xfrm>
            <a:off x="11173968" y="2212848"/>
            <a:ext cx="2596896"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27604A"/>
                </a:solidFill>
                <a:latin typeface="Arial"/>
              </a:defRPr>
            </a:pPr>
            <a:r>
              <a:t>Alternatives</a:t>
            </a:r>
          </a:p>
        </p:txBody>
      </p:sp>
      <p:sp>
        <p:nvSpPr>
          <p:cNvPr id="306" name="TextBox 305"/>
          <p:cNvSpPr txBox="1"/>
          <p:nvPr/>
        </p:nvSpPr>
        <p:spPr>
          <a:xfrm>
            <a:off x="11173968" y="2871216"/>
            <a:ext cx="2596896" cy="307238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Arial"/>
              </a:defRPr>
            </a:pPr>
            <a:r>
              <a:t>Each reply starts</a:t>
            </a:r>
          </a:p>
          <a:p>
            <a:pPr algn="l">
              <a:lnSpc>
                <a:spcPct val="107000"/>
              </a:lnSpc>
              <a:spcBef>
                <a:spcPts val="0"/>
              </a:spcBef>
              <a:spcAft>
                <a:spcPts val="500"/>
              </a:spcAft>
              <a:defRPr sz="2200" b="0">
                <a:solidFill>
                  <a:srgbClr val="17362D"/>
                </a:solidFill>
                <a:latin typeface="Arial"/>
              </a:defRPr>
            </a:pPr>
            <a:r>
              <a:t>from the same</a:t>
            </a:r>
          </a:p>
          <a:p>
            <a:pPr algn="l">
              <a:lnSpc>
                <a:spcPct val="107000"/>
              </a:lnSpc>
              <a:spcBef>
                <a:spcPts val="0"/>
              </a:spcBef>
              <a:spcAft>
                <a:spcPts val="500"/>
              </a:spcAft>
              <a:defRPr sz="2200" b="0">
                <a:solidFill>
                  <a:srgbClr val="17362D"/>
                </a:solidFill>
                <a:latin typeface="Arial"/>
              </a:defRPr>
            </a:pPr>
            <a:r>
              <a:t>H1 board.</a:t>
            </a:r>
          </a:p>
          <a:p>
            <a:pPr algn="l">
              <a:lnSpc>
                <a:spcPct val="107000"/>
              </a:lnSpc>
              <a:spcBef>
                <a:spcPts val="0"/>
              </a:spcBef>
              <a:spcAft>
                <a:spcPts val="500"/>
              </a:spcAft>
              <a:defRPr sz="2200" b="0">
                <a:solidFill>
                  <a:srgbClr val="17362D"/>
                </a:solidFill>
                <a:latin typeface="Arial"/>
              </a:defRPr>
            </a:pPr>
          </a:p>
          <a:p>
            <a:pPr algn="l">
              <a:lnSpc>
                <a:spcPct val="107000"/>
              </a:lnSpc>
              <a:spcBef>
                <a:spcPts val="0"/>
              </a:spcBef>
              <a:spcAft>
                <a:spcPts val="500"/>
              </a:spcAft>
              <a:defRPr sz="2200" b="0">
                <a:solidFill>
                  <a:srgbClr val="17362D"/>
                </a:solidFill>
                <a:latin typeface="Arial"/>
              </a:defRPr>
            </a:pPr>
            <a:r>
              <a:t>MAX(0,0,0) = 0</a:t>
            </a:r>
          </a:p>
        </p:txBody>
      </p:sp>
      <p:sp>
        <p:nvSpPr>
          <p:cNvPr id="307" name="TextBox 306"/>
          <p:cNvSpPr txBox="1"/>
          <p:nvPr/>
        </p:nvSpPr>
        <p:spPr>
          <a:xfrm>
            <a:off x="731520" y="6345936"/>
            <a:ext cx="7680960" cy="402336"/>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17362D"/>
                </a:solidFill>
                <a:latin typeface="Arial"/>
              </a:defRPr>
            </a:pPr>
            <a:r>
              <a:t>H1 returns 0 → human MIN resumes:</a:t>
            </a:r>
          </a:p>
        </p:txBody>
      </p:sp>
      <p:sp>
        <p:nvSpPr>
          <p:cNvPr id="308" name="TextBox 307"/>
          <p:cNvSpPr txBox="1"/>
          <p:nvPr/>
        </p:nvSpPr>
        <p:spPr>
          <a:xfrm>
            <a:off x="8321040" y="6345936"/>
            <a:ext cx="5486400" cy="402336"/>
          </a:xfrm>
          <a:prstGeom prst="rect">
            <a:avLst/>
          </a:prstGeom>
          <a:noFill/>
        </p:spPr>
        <p:txBody>
          <a:bodyPr wrap="square" lIns="0" rIns="0" tIns="0" bIns="0">
            <a:noAutofit/>
          </a:bodyPr>
          <a:lstStyle/>
          <a:p>
            <a:pPr algn="l">
              <a:lnSpc>
                <a:spcPct val="107000"/>
              </a:lnSpc>
              <a:spcBef>
                <a:spcPts val="0"/>
              </a:spcBef>
              <a:spcAft>
                <a:spcPts val="500"/>
              </a:spcAft>
              <a:defRPr sz="2300" b="1">
                <a:solidFill>
                  <a:srgbClr val="27604A"/>
                </a:solidFill>
                <a:latin typeface="Consolas"/>
              </a:defRPr>
            </a:pPr>
            <a:r>
              <a:t>minEval = 0     beta = 0</a:t>
            </a:r>
          </a:p>
        </p:txBody>
      </p:sp>
      <p:sp>
        <p:nvSpPr>
          <p:cNvPr id="309" name="Rounded Rectangle 308"/>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TextBox 309"/>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beta = 0 means the simulated human already has H1, which leaves the BOT with 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H2: even equality can skip work</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09</a:t>
            </a:r>
          </a:p>
        </p:txBody>
      </p:sp>
      <p:sp>
        <p:nvSpPr>
          <p:cNvPr id="9" name="TextBox 8"/>
          <p:cNvSpPr txBox="1"/>
          <p:nvPr/>
        </p:nvSpPr>
        <p:spPr>
          <a:xfrm>
            <a:off x="868680" y="1737360"/>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O (1,2) → (2,1) · returns 0</a:t>
            </a:r>
          </a:p>
        </p:txBody>
      </p:sp>
      <p:sp>
        <p:nvSpPr>
          <p:cNvPr id="10" name="Rectangle 9"/>
          <p:cNvSpPr/>
          <p:nvPr/>
        </p:nvSpPr>
        <p:spPr>
          <a:xfrm>
            <a:off x="822959" y="2331720"/>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4751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7744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7744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7901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246316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299466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352615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4057650" y="290893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589145" y="290893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57783" y="361050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2" name="TextBox 31"/>
          <p:cNvSpPr txBox="1"/>
          <p:nvPr/>
        </p:nvSpPr>
        <p:spPr>
          <a:xfrm>
            <a:off x="1931669"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3" name="Rectangle 32"/>
          <p:cNvSpPr/>
          <p:nvPr/>
        </p:nvSpPr>
        <p:spPr>
          <a:xfrm>
            <a:off x="86868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140017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1479899" y="3520154"/>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479899" y="358393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37" name="Rectangle 36"/>
          <p:cNvSpPr/>
          <p:nvPr/>
        </p:nvSpPr>
        <p:spPr>
          <a:xfrm>
            <a:off x="1931669"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2542889" y="3520154"/>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42889" y="358393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41" name="Rectangle 40"/>
          <p:cNvSpPr/>
          <p:nvPr/>
        </p:nvSpPr>
        <p:spPr>
          <a:xfrm>
            <a:off x="299466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352615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4057650" y="344043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4589145" y="344043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57783" y="414200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6" name="TextBox 45"/>
          <p:cNvSpPr txBox="1"/>
          <p:nvPr/>
        </p:nvSpPr>
        <p:spPr>
          <a:xfrm>
            <a:off x="246316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7" name="Rectangle 46"/>
          <p:cNvSpPr/>
          <p:nvPr/>
        </p:nvSpPr>
        <p:spPr>
          <a:xfrm>
            <a:off x="86868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48404" y="405164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48404" y="411542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0" name="Rectangle 49"/>
          <p:cNvSpPr/>
          <p:nvPr/>
        </p:nvSpPr>
        <p:spPr>
          <a:xfrm>
            <a:off x="140017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1931669"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246316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3074384" y="4051649"/>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74384" y="411542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6" name="Rectangle 55"/>
          <p:cNvSpPr/>
          <p:nvPr/>
        </p:nvSpPr>
        <p:spPr>
          <a:xfrm>
            <a:off x="352615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57650" y="397192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589145" y="397192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67349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99466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017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79899" y="4583144"/>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79899" y="4646923"/>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31669"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6316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99466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352615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4057650" y="450342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4589145" y="450342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7783" y="520499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2" name="TextBox 71"/>
          <p:cNvSpPr txBox="1"/>
          <p:nvPr/>
        </p:nvSpPr>
        <p:spPr>
          <a:xfrm>
            <a:off x="352615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3" name="Rectangle 72"/>
          <p:cNvSpPr/>
          <p:nvPr/>
        </p:nvSpPr>
        <p:spPr>
          <a:xfrm>
            <a:off x="86868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40017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931669"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2011394" y="5114639"/>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011394" y="5178418"/>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78" name="Rectangle 77"/>
          <p:cNvSpPr/>
          <p:nvPr/>
        </p:nvSpPr>
        <p:spPr>
          <a:xfrm>
            <a:off x="246316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99466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2615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57650" y="503491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589145" y="503491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736488"/>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57650"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017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31669"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6316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99466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2615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57650" y="5566410"/>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589145" y="5566410"/>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267983"/>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589145" y="2075688"/>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017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31669"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6316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99466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2615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57650" y="6097905"/>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589145" y="6097905"/>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959101" y="2936367"/>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1427607" y="3467862"/>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flipH="1">
            <a:off x="1665922" y="3174682"/>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TextBox 105"/>
          <p:cNvSpPr txBox="1"/>
          <p:nvPr/>
        </p:nvSpPr>
        <p:spPr>
          <a:xfrm>
            <a:off x="5715000" y="1920240"/>
            <a:ext cx="7955279" cy="502920"/>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B95646"/>
                </a:solidFill>
                <a:latin typeface="Arial"/>
              </a:defRPr>
            </a:pPr>
            <a:r>
              <a:t>H2 is X (3,2) → (2,3).</a:t>
            </a:r>
          </a:p>
        </p:txBody>
      </p:sp>
      <p:sp>
        <p:nvSpPr>
          <p:cNvPr id="107" name="Rounded Rectangle 106"/>
          <p:cNvSpPr/>
          <p:nvPr/>
        </p:nvSpPr>
        <p:spPr>
          <a:xfrm>
            <a:off x="5715000" y="2761488"/>
            <a:ext cx="7955279"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5897880" y="2926080"/>
            <a:ext cx="758951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BOT MAX · depth 1 · ACTIVE</a:t>
            </a:r>
          </a:p>
        </p:txBody>
      </p:sp>
      <p:sp>
        <p:nvSpPr>
          <p:cNvPr id="109" name="TextBox 108"/>
          <p:cNvSpPr txBox="1"/>
          <p:nvPr/>
        </p:nvSpPr>
        <p:spPr>
          <a:xfrm>
            <a:off x="5897880" y="3401568"/>
            <a:ext cx="758951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0    beta = 0</a:t>
            </a:r>
          </a:p>
        </p:txBody>
      </p:sp>
      <p:sp>
        <p:nvSpPr>
          <p:cNvPr id="110" name="TextBox 109"/>
          <p:cNvSpPr txBox="1"/>
          <p:nvPr/>
        </p:nvSpPr>
        <p:spPr>
          <a:xfrm>
            <a:off x="5897880" y="3767328"/>
            <a:ext cx="758951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maxEval = 0</a:t>
            </a:r>
          </a:p>
        </p:txBody>
      </p:sp>
      <p:sp>
        <p:nvSpPr>
          <p:cNvPr id="111" name="Rounded Rectangle 110"/>
          <p:cNvSpPr/>
          <p:nvPr/>
        </p:nvSpPr>
        <p:spPr>
          <a:xfrm>
            <a:off x="5715000" y="4462272"/>
            <a:ext cx="7955279" cy="114300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897880" y="4590288"/>
            <a:ext cx="7589519" cy="289560"/>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Consolas"/>
              </a:defRPr>
            </a:pPr>
            <a:r>
              <a:t>if (beta &lt;= alpha) {</a:t>
            </a:r>
          </a:p>
        </p:txBody>
      </p:sp>
      <p:sp>
        <p:nvSpPr>
          <p:cNvPr id="113" name="Rectangle 112"/>
          <p:cNvSpPr/>
          <p:nvPr/>
        </p:nvSpPr>
        <p:spPr>
          <a:xfrm>
            <a:off x="5788152" y="4861560"/>
            <a:ext cx="7808975" cy="289560"/>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extBox 113"/>
          <p:cNvSpPr txBox="1"/>
          <p:nvPr/>
        </p:nvSpPr>
        <p:spPr>
          <a:xfrm>
            <a:off x="5897880" y="4879847"/>
            <a:ext cx="7589519" cy="289560"/>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Consolas"/>
              </a:defRPr>
            </a:pPr>
            <a:r>
              <a:t>    break;  // 0 &lt;= 0 is true</a:t>
            </a:r>
          </a:p>
        </p:txBody>
      </p:sp>
      <p:sp>
        <p:nvSpPr>
          <p:cNvPr id="115" name="TextBox 114"/>
          <p:cNvSpPr txBox="1"/>
          <p:nvPr/>
        </p:nvSpPr>
        <p:spPr>
          <a:xfrm>
            <a:off x="5897880" y="5169407"/>
            <a:ext cx="7589519" cy="289560"/>
          </a:xfrm>
          <a:prstGeom prst="rect">
            <a:avLst/>
          </a:prstGeom>
          <a:noFill/>
        </p:spPr>
        <p:txBody>
          <a:bodyPr wrap="square" lIns="0" rIns="0" tIns="0" bIns="0">
            <a:noAutofit/>
          </a:bodyPr>
          <a:lstStyle/>
          <a:p>
            <a:pPr algn="l">
              <a:lnSpc>
                <a:spcPct val="107000"/>
              </a:lnSpc>
              <a:spcBef>
                <a:spcPts val="0"/>
              </a:spcBef>
              <a:spcAft>
                <a:spcPts val="500"/>
              </a:spcAft>
              <a:defRPr sz="2100" b="0">
                <a:solidFill>
                  <a:srgbClr val="17362D"/>
                </a:solidFill>
                <a:latin typeface="Consolas"/>
              </a:defRPr>
            </a:pPr>
            <a:r>
              <a:t>}</a:t>
            </a:r>
          </a:p>
        </p:txBody>
      </p:sp>
      <p:sp>
        <p:nvSpPr>
          <p:cNvPr id="116" name="TextBox 115"/>
          <p:cNvSpPr txBox="1"/>
          <p:nvPr/>
        </p:nvSpPr>
        <p:spPr>
          <a:xfrm>
            <a:off x="5715000" y="5815584"/>
            <a:ext cx="7955279" cy="868680"/>
          </a:xfrm>
          <a:prstGeom prst="rect">
            <a:avLst/>
          </a:prstGeom>
          <a:noFill/>
        </p:spPr>
        <p:txBody>
          <a:bodyPr wrap="square" lIns="0" rIns="0" tIns="0" bIns="0">
            <a:noAutofit/>
          </a:bodyPr>
          <a:lstStyle/>
          <a:p>
            <a:pPr algn="l">
              <a:lnSpc>
                <a:spcPct val="107000"/>
              </a:lnSpc>
              <a:spcBef>
                <a:spcPts val="0"/>
              </a:spcBef>
              <a:spcAft>
                <a:spcPts val="500"/>
              </a:spcAft>
              <a:defRPr sz="2300" b="0">
                <a:solidFill>
                  <a:srgbClr val="17362D"/>
                </a:solidFill>
                <a:latin typeface="Arial"/>
              </a:defRPr>
            </a:pPr>
            <a:r>
              <a:t>Skip two remaining replies under H2.</a:t>
            </a:r>
          </a:p>
          <a:p>
            <a:pPr algn="l">
              <a:lnSpc>
                <a:spcPct val="107000"/>
              </a:lnSpc>
              <a:spcBef>
                <a:spcPts val="0"/>
              </a:spcBef>
              <a:spcAft>
                <a:spcPts val="500"/>
              </a:spcAft>
              <a:defRPr sz="2300" b="0">
                <a:solidFill>
                  <a:srgbClr val="17362D"/>
                </a:solidFill>
                <a:latin typeface="Arial"/>
              </a:defRPr>
            </a:pPr>
            <a:r>
              <a:t>The human can already keep score 0 through H1.</a:t>
            </a:r>
          </a:p>
        </p:txBody>
      </p:sp>
      <p:sp>
        <p:nvSpPr>
          <p:cNvPr id="117" name="Rounded Rectangle 116"/>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extBox 117"/>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000" b="1">
                <a:solidFill>
                  <a:srgbClr val="27604A"/>
                </a:solidFill>
                <a:latin typeface="Arial"/>
              </a:defRPr>
            </a:pPr>
            <a:r>
              <a:t>H2’s final MAX is at least 0. It cannot force a score below the human’s existing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H3 gives the BOT two legal captures</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10</a:t>
            </a:r>
          </a:p>
        </p:txBody>
      </p:sp>
      <p:sp>
        <p:nvSpPr>
          <p:cNvPr id="9" name="TextBox 8"/>
          <p:cNvSpPr txBox="1"/>
          <p:nvPr/>
        </p:nvSpPr>
        <p:spPr>
          <a:xfrm>
            <a:off x="868680" y="1719072"/>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H3: X (5,2) → (4,3)</a:t>
            </a:r>
          </a:p>
        </p:txBody>
      </p:sp>
      <p:sp>
        <p:nvSpPr>
          <p:cNvPr id="10" name="Rectangle 9"/>
          <p:cNvSpPr/>
          <p:nvPr/>
        </p:nvSpPr>
        <p:spPr>
          <a:xfrm>
            <a:off x="822959" y="2313432"/>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2923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5915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5915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6072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11394" y="2970371"/>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011394" y="303415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28" name="Rectangle 27"/>
          <p:cNvSpPr/>
          <p:nvPr/>
        </p:nvSpPr>
        <p:spPr>
          <a:xfrm>
            <a:off x="246316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299466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2615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57650" y="289064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589145" y="289064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59222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31669"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017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931669"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299466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352615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4057650" y="342214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4589145" y="342214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557783" y="412371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4" name="TextBox 43"/>
          <p:cNvSpPr txBox="1"/>
          <p:nvPr/>
        </p:nvSpPr>
        <p:spPr>
          <a:xfrm>
            <a:off x="246316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5" name="Rectangle 44"/>
          <p:cNvSpPr/>
          <p:nvPr/>
        </p:nvSpPr>
        <p:spPr>
          <a:xfrm>
            <a:off x="86868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948404" y="4033361"/>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948404" y="409714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48" name="Rectangle 47"/>
          <p:cNvSpPr/>
          <p:nvPr/>
        </p:nvSpPr>
        <p:spPr>
          <a:xfrm>
            <a:off x="140017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1931669"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2011394" y="4033361"/>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2011394" y="409714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52" name="Rectangle 51"/>
          <p:cNvSpPr/>
          <p:nvPr/>
        </p:nvSpPr>
        <p:spPr>
          <a:xfrm>
            <a:off x="246316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299466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3074384" y="4033361"/>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74384" y="4097140"/>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6" name="Rectangle 55"/>
          <p:cNvSpPr/>
          <p:nvPr/>
        </p:nvSpPr>
        <p:spPr>
          <a:xfrm>
            <a:off x="352615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4057650" y="395363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4589145" y="395363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57783" y="465521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0" name="TextBox 59"/>
          <p:cNvSpPr txBox="1"/>
          <p:nvPr/>
        </p:nvSpPr>
        <p:spPr>
          <a:xfrm>
            <a:off x="299466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1" name="Rectangle 60"/>
          <p:cNvSpPr/>
          <p:nvPr/>
        </p:nvSpPr>
        <p:spPr>
          <a:xfrm>
            <a:off x="86868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140017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1479899" y="4564856"/>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479899" y="4628635"/>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1931669"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46316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2542889" y="4564856"/>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2542889" y="4628635"/>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9" name="Rectangle 68"/>
          <p:cNvSpPr/>
          <p:nvPr/>
        </p:nvSpPr>
        <p:spPr>
          <a:xfrm>
            <a:off x="299466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352615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ctangle 70"/>
          <p:cNvSpPr/>
          <p:nvPr/>
        </p:nvSpPr>
        <p:spPr>
          <a:xfrm>
            <a:off x="4057650" y="448513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angle 71"/>
          <p:cNvSpPr/>
          <p:nvPr/>
        </p:nvSpPr>
        <p:spPr>
          <a:xfrm>
            <a:off x="4589145" y="448513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57783" y="518670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4" name="TextBox 73"/>
          <p:cNvSpPr txBox="1"/>
          <p:nvPr/>
        </p:nvSpPr>
        <p:spPr>
          <a:xfrm>
            <a:off x="352615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5" name="Rectangle 74"/>
          <p:cNvSpPr/>
          <p:nvPr/>
        </p:nvSpPr>
        <p:spPr>
          <a:xfrm>
            <a:off x="86868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ectangle 75"/>
          <p:cNvSpPr/>
          <p:nvPr/>
        </p:nvSpPr>
        <p:spPr>
          <a:xfrm>
            <a:off x="140017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1931669"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246316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299466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352615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4057650" y="501662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4589145" y="501662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57783" y="5718200"/>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4" name="TextBox 83"/>
          <p:cNvSpPr txBox="1"/>
          <p:nvPr/>
        </p:nvSpPr>
        <p:spPr>
          <a:xfrm>
            <a:off x="4057650"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5" name="Rectangle 84"/>
          <p:cNvSpPr/>
          <p:nvPr/>
        </p:nvSpPr>
        <p:spPr>
          <a:xfrm>
            <a:off x="86868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40017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931669"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46316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99466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352615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4057650" y="5548122"/>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4589145" y="5548122"/>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557783" y="6249695"/>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4" name="TextBox 93"/>
          <p:cNvSpPr txBox="1"/>
          <p:nvPr/>
        </p:nvSpPr>
        <p:spPr>
          <a:xfrm>
            <a:off x="4589145" y="2057400"/>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5" name="Rectangle 94"/>
          <p:cNvSpPr/>
          <p:nvPr/>
        </p:nvSpPr>
        <p:spPr>
          <a:xfrm>
            <a:off x="86868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40017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931669"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246316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299466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352615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057650" y="6079617"/>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589145" y="6079617"/>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959101" y="5044059"/>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2490597" y="4512564"/>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flipV="1">
            <a:off x="2197417" y="4750879"/>
            <a:ext cx="531495" cy="531495"/>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06" name="Rounded Rectangle 105"/>
          <p:cNvSpPr/>
          <p:nvPr/>
        </p:nvSpPr>
        <p:spPr>
          <a:xfrm>
            <a:off x="5715000" y="1965960"/>
            <a:ext cx="7955279"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5897880" y="2130552"/>
            <a:ext cx="758951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BOT MAX · depth 1 · ACTIVE</a:t>
            </a:r>
          </a:p>
        </p:txBody>
      </p:sp>
      <p:sp>
        <p:nvSpPr>
          <p:cNvPr id="108" name="TextBox 107"/>
          <p:cNvSpPr txBox="1"/>
          <p:nvPr/>
        </p:nvSpPr>
        <p:spPr>
          <a:xfrm>
            <a:off x="5897880" y="2606039"/>
            <a:ext cx="758951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    beta = 0</a:t>
            </a:r>
          </a:p>
        </p:txBody>
      </p:sp>
      <p:sp>
        <p:nvSpPr>
          <p:cNvPr id="109" name="TextBox 108"/>
          <p:cNvSpPr txBox="1"/>
          <p:nvPr/>
        </p:nvSpPr>
        <p:spPr>
          <a:xfrm>
            <a:off x="5897880" y="2971800"/>
            <a:ext cx="758951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maxEval = −∞</a:t>
            </a:r>
          </a:p>
        </p:txBody>
      </p:sp>
      <p:sp>
        <p:nvSpPr>
          <p:cNvPr id="110" name="Rounded Rectangle 109"/>
          <p:cNvSpPr/>
          <p:nvPr/>
        </p:nvSpPr>
        <p:spPr>
          <a:xfrm>
            <a:off x="5715000" y="3703320"/>
            <a:ext cx="7955279" cy="137160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angle 110"/>
          <p:cNvSpPr/>
          <p:nvPr/>
        </p:nvSpPr>
        <p:spPr>
          <a:xfrm>
            <a:off x="5742432" y="3840480"/>
            <a:ext cx="41148" cy="109728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916168" y="3849624"/>
            <a:ext cx="7552944" cy="384048"/>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67A77"/>
                </a:solidFill>
                <a:latin typeface="Arial"/>
              </a:defRPr>
            </a:pPr>
            <a:r>
              <a:t>First BOT capture · B3a</a:t>
            </a:r>
          </a:p>
        </p:txBody>
      </p:sp>
      <p:sp>
        <p:nvSpPr>
          <p:cNvPr id="113" name="TextBox 112"/>
          <p:cNvSpPr txBox="1"/>
          <p:nvPr/>
        </p:nvSpPr>
        <p:spPr>
          <a:xfrm>
            <a:off x="5916168" y="4297680"/>
            <a:ext cx="7552944" cy="685800"/>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Arial"/>
              </a:defRPr>
            </a:pPr>
            <a:r>
              <a:t>(3,0) → (5,2)</a:t>
            </a:r>
          </a:p>
          <a:p>
            <a:pPr algn="l">
              <a:lnSpc>
                <a:spcPct val="107000"/>
              </a:lnSpc>
              <a:spcBef>
                <a:spcPts val="0"/>
              </a:spcBef>
              <a:spcAft>
                <a:spcPts val="500"/>
              </a:spcAft>
              <a:defRPr sz="2000" b="0">
                <a:solidFill>
                  <a:srgbClr val="17362D"/>
                </a:solidFill>
                <a:latin typeface="Arial"/>
              </a:defRPr>
            </a:pPr>
            <a:r>
              <a:t>Remove X at (4,1).</a:t>
            </a:r>
          </a:p>
        </p:txBody>
      </p:sp>
      <p:sp>
        <p:nvSpPr>
          <p:cNvPr id="114" name="Rounded Rectangle 113"/>
          <p:cNvSpPr/>
          <p:nvPr/>
        </p:nvSpPr>
        <p:spPr>
          <a:xfrm>
            <a:off x="5715000" y="5257800"/>
            <a:ext cx="7955279" cy="137160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ectangle 114"/>
          <p:cNvSpPr/>
          <p:nvPr/>
        </p:nvSpPr>
        <p:spPr>
          <a:xfrm>
            <a:off x="5742432" y="5394960"/>
            <a:ext cx="41148" cy="109728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extBox 115"/>
          <p:cNvSpPr txBox="1"/>
          <p:nvPr/>
        </p:nvSpPr>
        <p:spPr>
          <a:xfrm>
            <a:off x="5916168" y="5404104"/>
            <a:ext cx="7552944" cy="384048"/>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67A77"/>
                </a:solidFill>
                <a:latin typeface="Arial"/>
              </a:defRPr>
            </a:pPr>
            <a:r>
              <a:t>Second BOT capture · B3b</a:t>
            </a:r>
          </a:p>
        </p:txBody>
      </p:sp>
      <p:sp>
        <p:nvSpPr>
          <p:cNvPr id="117" name="TextBox 116"/>
          <p:cNvSpPr txBox="1"/>
          <p:nvPr/>
        </p:nvSpPr>
        <p:spPr>
          <a:xfrm>
            <a:off x="5916168" y="5852160"/>
            <a:ext cx="7552944" cy="685800"/>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Arial"/>
              </a:defRPr>
            </a:pPr>
            <a:r>
              <a:t>(3,4) → (5,2)</a:t>
            </a:r>
          </a:p>
          <a:p>
            <a:pPr algn="l">
              <a:lnSpc>
                <a:spcPct val="107000"/>
              </a:lnSpc>
              <a:spcBef>
                <a:spcPts val="0"/>
              </a:spcBef>
              <a:spcAft>
                <a:spcPts val="500"/>
              </a:spcAft>
              <a:defRPr sz="2000" b="0">
                <a:solidFill>
                  <a:srgbClr val="17362D"/>
                </a:solidFill>
                <a:latin typeface="Arial"/>
              </a:defRPr>
            </a:pPr>
            <a:r>
              <a:t>Remove X at (4,3).</a:t>
            </a:r>
          </a:p>
        </p:txBody>
      </p:sp>
      <p:sp>
        <p:nvSpPr>
          <p:cNvPr id="118" name="Rounded Rectangle 117"/>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extBox 118"/>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These are two alternative replies from H3. Each would use its own board copy.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The first capture finishes and returns +3</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11</a:t>
            </a:r>
          </a:p>
        </p:txBody>
      </p:sp>
      <p:sp>
        <p:nvSpPr>
          <p:cNvPr id="9" name="TextBox 8"/>
          <p:cNvSpPr txBox="1"/>
          <p:nvPr/>
        </p:nvSpPr>
        <p:spPr>
          <a:xfrm>
            <a:off x="868680" y="1709928"/>
            <a:ext cx="425196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B3a · O (3,0) → (5,2)</a:t>
            </a:r>
          </a:p>
        </p:txBody>
      </p:sp>
      <p:sp>
        <p:nvSpPr>
          <p:cNvPr id="10" name="Rectangle 9"/>
          <p:cNvSpPr/>
          <p:nvPr/>
        </p:nvSpPr>
        <p:spPr>
          <a:xfrm>
            <a:off x="822959" y="2304288"/>
            <a:ext cx="4343400" cy="434340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7783" y="252008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2" name="TextBox 11"/>
          <p:cNvSpPr txBox="1"/>
          <p:nvPr/>
        </p:nvSpPr>
        <p:spPr>
          <a:xfrm>
            <a:off x="868680"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13" name="Rectangle 12"/>
          <p:cNvSpPr/>
          <p:nvPr/>
        </p:nvSpPr>
        <p:spPr>
          <a:xfrm>
            <a:off x="868680" y="235000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00175" y="235000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931669" y="235000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463165" y="235000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994660" y="235000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26155" y="235000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057650" y="235000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589145" y="235000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57783" y="305158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2" name="TextBox 21"/>
          <p:cNvSpPr txBox="1"/>
          <p:nvPr/>
        </p:nvSpPr>
        <p:spPr>
          <a:xfrm>
            <a:off x="1400175"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23" name="Rectangle 22"/>
          <p:cNvSpPr/>
          <p:nvPr/>
        </p:nvSpPr>
        <p:spPr>
          <a:xfrm>
            <a:off x="868680" y="288150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400175" y="288150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931669" y="288150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11394" y="2961227"/>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011394" y="302500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28" name="Rectangle 27"/>
          <p:cNvSpPr/>
          <p:nvPr/>
        </p:nvSpPr>
        <p:spPr>
          <a:xfrm>
            <a:off x="2463165" y="288150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2994660" y="288150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526155" y="288150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057650" y="288150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4589145" y="288150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57783" y="358307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4" name="TextBox 33"/>
          <p:cNvSpPr txBox="1"/>
          <p:nvPr/>
        </p:nvSpPr>
        <p:spPr>
          <a:xfrm>
            <a:off x="1931669"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35" name="Rectangle 34"/>
          <p:cNvSpPr/>
          <p:nvPr/>
        </p:nvSpPr>
        <p:spPr>
          <a:xfrm>
            <a:off x="868680" y="341299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400175" y="341299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931669" y="341299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463165" y="341299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2994660" y="341299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3526155" y="341299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4057650" y="341299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4589145" y="341299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557783" y="411457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4" name="TextBox 43"/>
          <p:cNvSpPr txBox="1"/>
          <p:nvPr/>
        </p:nvSpPr>
        <p:spPr>
          <a:xfrm>
            <a:off x="2463165"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45" name="Rectangle 44"/>
          <p:cNvSpPr/>
          <p:nvPr/>
        </p:nvSpPr>
        <p:spPr>
          <a:xfrm>
            <a:off x="868680" y="394449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400175" y="394449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1931669" y="394449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2011394" y="4024217"/>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2011394" y="408799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50" name="Rectangle 49"/>
          <p:cNvSpPr/>
          <p:nvPr/>
        </p:nvSpPr>
        <p:spPr>
          <a:xfrm>
            <a:off x="2463165" y="394449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2994660" y="394449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3074384" y="4024217"/>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074384" y="408799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54" name="Rectangle 53"/>
          <p:cNvSpPr/>
          <p:nvPr/>
        </p:nvSpPr>
        <p:spPr>
          <a:xfrm>
            <a:off x="3526155" y="394449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4057650" y="394449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ctangle 55"/>
          <p:cNvSpPr/>
          <p:nvPr/>
        </p:nvSpPr>
        <p:spPr>
          <a:xfrm>
            <a:off x="4589145" y="394449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57783" y="464606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58" name="TextBox 57"/>
          <p:cNvSpPr txBox="1"/>
          <p:nvPr/>
        </p:nvSpPr>
        <p:spPr>
          <a:xfrm>
            <a:off x="2994660"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59" name="Rectangle 58"/>
          <p:cNvSpPr/>
          <p:nvPr/>
        </p:nvSpPr>
        <p:spPr>
          <a:xfrm>
            <a:off x="868680" y="44759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ctangle 59"/>
          <p:cNvSpPr/>
          <p:nvPr/>
        </p:nvSpPr>
        <p:spPr>
          <a:xfrm>
            <a:off x="1400175" y="44759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angle 60"/>
          <p:cNvSpPr/>
          <p:nvPr/>
        </p:nvSpPr>
        <p:spPr>
          <a:xfrm>
            <a:off x="1931669" y="44759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2463165" y="44759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2542889" y="4555712"/>
            <a:ext cx="372046" cy="372046"/>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2542889" y="4619491"/>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x</a:t>
            </a:r>
          </a:p>
        </p:txBody>
      </p:sp>
      <p:sp>
        <p:nvSpPr>
          <p:cNvPr id="65" name="Rectangle 64"/>
          <p:cNvSpPr/>
          <p:nvPr/>
        </p:nvSpPr>
        <p:spPr>
          <a:xfrm>
            <a:off x="2994660" y="44759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3526155" y="44759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4057650" y="447598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4589145" y="447598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57783" y="517756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0" name="TextBox 69"/>
          <p:cNvSpPr txBox="1"/>
          <p:nvPr/>
        </p:nvSpPr>
        <p:spPr>
          <a:xfrm>
            <a:off x="3526155"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71" name="Rectangle 70"/>
          <p:cNvSpPr/>
          <p:nvPr/>
        </p:nvSpPr>
        <p:spPr>
          <a:xfrm>
            <a:off x="868680" y="50074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angle 71"/>
          <p:cNvSpPr/>
          <p:nvPr/>
        </p:nvSpPr>
        <p:spPr>
          <a:xfrm>
            <a:off x="1400175" y="50074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ectangle 72"/>
          <p:cNvSpPr/>
          <p:nvPr/>
        </p:nvSpPr>
        <p:spPr>
          <a:xfrm>
            <a:off x="1931669" y="50074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2011394" y="5087207"/>
            <a:ext cx="372046" cy="372046"/>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11394" y="5150986"/>
            <a:ext cx="372046" cy="239172"/>
          </a:xfrm>
          <a:prstGeom prst="rect">
            <a:avLst/>
          </a:prstGeom>
          <a:noFill/>
        </p:spPr>
        <p:txBody>
          <a:bodyPr wrap="square" lIns="0" rIns="0" tIns="0" bIns="0">
            <a:noAutofit/>
          </a:bodyPr>
          <a:lstStyle/>
          <a:p>
            <a:pPr algn="ctr">
              <a:lnSpc>
                <a:spcPct val="107000"/>
              </a:lnSpc>
              <a:spcBef>
                <a:spcPts val="0"/>
              </a:spcBef>
              <a:spcAft>
                <a:spcPts val="500"/>
              </a:spcAft>
              <a:defRPr sz="1800" b="1">
                <a:solidFill>
                  <a:srgbClr val="FFFFFF"/>
                </a:solidFill>
                <a:latin typeface="Arial"/>
              </a:defRPr>
            </a:pPr>
            <a:r>
              <a:t>o</a:t>
            </a:r>
          </a:p>
        </p:txBody>
      </p:sp>
      <p:sp>
        <p:nvSpPr>
          <p:cNvPr id="76" name="Rectangle 75"/>
          <p:cNvSpPr/>
          <p:nvPr/>
        </p:nvSpPr>
        <p:spPr>
          <a:xfrm>
            <a:off x="2463165" y="50074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2994660" y="50074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3526155" y="50074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angle 78"/>
          <p:cNvSpPr/>
          <p:nvPr/>
        </p:nvSpPr>
        <p:spPr>
          <a:xfrm>
            <a:off x="4057650" y="500748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4589145" y="500748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57783" y="5709056"/>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2" name="TextBox 81"/>
          <p:cNvSpPr txBox="1"/>
          <p:nvPr/>
        </p:nvSpPr>
        <p:spPr>
          <a:xfrm>
            <a:off x="4057650"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83" name="Rectangle 82"/>
          <p:cNvSpPr/>
          <p:nvPr/>
        </p:nvSpPr>
        <p:spPr>
          <a:xfrm>
            <a:off x="868680" y="55389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1400175" y="55389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1931669" y="55389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2463165" y="55389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2994660" y="55389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3526155" y="55389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4057650" y="5538978"/>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4589145" y="5538978"/>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557783" y="62405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2" name="TextBox 91"/>
          <p:cNvSpPr txBox="1"/>
          <p:nvPr/>
        </p:nvSpPr>
        <p:spPr>
          <a:xfrm>
            <a:off x="4589145" y="2048255"/>
            <a:ext cx="531495"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93" name="Rectangle 92"/>
          <p:cNvSpPr/>
          <p:nvPr/>
        </p:nvSpPr>
        <p:spPr>
          <a:xfrm>
            <a:off x="868680" y="60704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angle 93"/>
          <p:cNvSpPr/>
          <p:nvPr/>
        </p:nvSpPr>
        <p:spPr>
          <a:xfrm>
            <a:off x="1400175" y="60704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ectangle 94"/>
          <p:cNvSpPr/>
          <p:nvPr/>
        </p:nvSpPr>
        <p:spPr>
          <a:xfrm>
            <a:off x="1931669" y="60704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2463165" y="60704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2994660" y="60704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3526155" y="60704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4057650" y="6070473"/>
            <a:ext cx="531495" cy="531495"/>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4589145" y="6070473"/>
            <a:ext cx="531495" cy="531495"/>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896112" y="3971925"/>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1959101" y="5034915"/>
            <a:ext cx="476631" cy="476631"/>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3" name="Connector 102"/>
          <p:cNvCxnSpPr/>
          <p:nvPr/>
        </p:nvCxnSpPr>
        <p:spPr>
          <a:xfrm>
            <a:off x="1134427" y="4210240"/>
            <a:ext cx="1062990" cy="1062990"/>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04" name="Connector 103"/>
          <p:cNvCxnSpPr/>
          <p:nvPr/>
        </p:nvCxnSpPr>
        <p:spPr>
          <a:xfrm>
            <a:off x="1506474" y="4582287"/>
            <a:ext cx="318897" cy="318896"/>
          </a:xfrm>
          <a:prstGeom prst="line">
            <a:avLst/>
          </a:prstGeom>
          <a:ln w="25400">
            <a:solidFill>
              <a:srgbClr val="F6D989"/>
            </a:solidFill>
          </a:ln>
          <a:effectLst/>
        </p:spPr>
        <p:style>
          <a:lnRef idx="2">
            <a:schemeClr val="accent1"/>
          </a:lnRef>
          <a:fillRef idx="0">
            <a:schemeClr val="accent1"/>
          </a:fillRef>
          <a:effectRef idx="0">
            <a:schemeClr val="accent1"/>
          </a:effectRef>
          <a:fontRef idx="minor">
            <a:schemeClr val="tx1"/>
          </a:fontRef>
        </p:style>
      </p:cxnSp>
      <p:cxnSp>
        <p:nvCxnSpPr>
          <p:cNvPr id="105" name="Connector 104"/>
          <p:cNvCxnSpPr/>
          <p:nvPr/>
        </p:nvCxnSpPr>
        <p:spPr>
          <a:xfrm flipH="1">
            <a:off x="1506474" y="4582287"/>
            <a:ext cx="318897" cy="318896"/>
          </a:xfrm>
          <a:prstGeom prst="line">
            <a:avLst/>
          </a:prstGeom>
          <a:ln w="25400">
            <a:solidFill>
              <a:srgbClr val="F6D989"/>
            </a:solidFill>
          </a:ln>
          <a:effectLst/>
        </p:spPr>
        <p:style>
          <a:lnRef idx="2">
            <a:schemeClr val="accent1"/>
          </a:lnRef>
          <a:fillRef idx="0">
            <a:schemeClr val="accent1"/>
          </a:fillRef>
          <a:effectRef idx="0">
            <a:schemeClr val="accent1"/>
          </a:effectRef>
          <a:fontRef idx="minor">
            <a:schemeClr val="tx1"/>
          </a:fontRef>
        </p:style>
      </p:cxnSp>
      <p:sp>
        <p:nvSpPr>
          <p:cNvPr id="106" name="TextBox 105"/>
          <p:cNvSpPr txBox="1"/>
          <p:nvPr/>
        </p:nvSpPr>
        <p:spPr>
          <a:xfrm>
            <a:off x="5715000" y="1947672"/>
            <a:ext cx="7955279" cy="502920"/>
          </a:xfrm>
          <a:prstGeom prst="rect">
            <a:avLst/>
          </a:prstGeom>
          <a:noFill/>
        </p:spPr>
        <p:txBody>
          <a:bodyPr wrap="square" lIns="0" rIns="0" tIns="0" bIns="0">
            <a:noAutofit/>
          </a:bodyPr>
          <a:lstStyle/>
          <a:p>
            <a:pPr algn="l">
              <a:lnSpc>
                <a:spcPct val="107000"/>
              </a:lnSpc>
              <a:spcBef>
                <a:spcPts val="0"/>
              </a:spcBef>
              <a:spcAft>
                <a:spcPts val="500"/>
              </a:spcAft>
              <a:defRPr sz="2700" b="1">
                <a:solidFill>
                  <a:srgbClr val="17362D"/>
                </a:solidFill>
                <a:latin typeface="Arial"/>
              </a:defRPr>
            </a:pPr>
            <a:r>
              <a:t>One X piece was captured.</a:t>
            </a:r>
          </a:p>
        </p:txBody>
      </p:sp>
      <p:sp>
        <p:nvSpPr>
          <p:cNvPr id="107" name="TextBox 106"/>
          <p:cNvSpPr txBox="1"/>
          <p:nvPr/>
        </p:nvSpPr>
        <p:spPr>
          <a:xfrm>
            <a:off x="5715000" y="2761488"/>
            <a:ext cx="7955279" cy="594360"/>
          </a:xfrm>
          <a:prstGeom prst="rect">
            <a:avLst/>
          </a:prstGeom>
          <a:noFill/>
        </p:spPr>
        <p:txBody>
          <a:bodyPr wrap="square" lIns="0" rIns="0" tIns="0" bIns="0">
            <a:noAutofit/>
          </a:bodyPr>
          <a:lstStyle/>
          <a:p>
            <a:pPr algn="l">
              <a:lnSpc>
                <a:spcPct val="107000"/>
              </a:lnSpc>
              <a:spcBef>
                <a:spcPts val="0"/>
              </a:spcBef>
              <a:spcAft>
                <a:spcPts val="500"/>
              </a:spcAft>
              <a:defRPr sz="3300" b="1">
                <a:solidFill>
                  <a:srgbClr val="17362D"/>
                </a:solidFill>
                <a:latin typeface="Arial"/>
              </a:defRPr>
            </a:pPr>
            <a:r>
              <a:t>3 O × 3 − 2 X × 3 = +3</a:t>
            </a:r>
          </a:p>
        </p:txBody>
      </p:sp>
      <p:sp>
        <p:nvSpPr>
          <p:cNvPr id="108" name="TextBox 107"/>
          <p:cNvSpPr txBox="1"/>
          <p:nvPr/>
        </p:nvSpPr>
        <p:spPr>
          <a:xfrm>
            <a:off x="5715000" y="3685032"/>
            <a:ext cx="7955279" cy="502920"/>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27604A"/>
                </a:solidFill>
                <a:latin typeface="Arial"/>
              </a:defRPr>
            </a:pPr>
            <a:r>
              <a:t>The depth-zero call returns 3.</a:t>
            </a:r>
          </a:p>
        </p:txBody>
      </p:sp>
      <p:sp>
        <p:nvSpPr>
          <p:cNvPr id="109" name="Rounded Rectangle 108"/>
          <p:cNvSpPr/>
          <p:nvPr/>
        </p:nvSpPr>
        <p:spPr>
          <a:xfrm>
            <a:off x="5715000" y="4507992"/>
            <a:ext cx="7955279" cy="109728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5897880" y="4636007"/>
            <a:ext cx="7589519" cy="274320"/>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Consolas"/>
              </a:defRPr>
            </a:pPr>
            <a:r>
              <a:t>eval = 3; // returned child score</a:t>
            </a:r>
          </a:p>
        </p:txBody>
      </p:sp>
      <p:sp>
        <p:nvSpPr>
          <p:cNvPr id="111" name="TextBox 110"/>
          <p:cNvSpPr txBox="1"/>
          <p:nvPr/>
        </p:nvSpPr>
        <p:spPr>
          <a:xfrm>
            <a:off x="5897880" y="4910327"/>
            <a:ext cx="7589519" cy="274320"/>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Consolas"/>
              </a:defRPr>
            </a:pPr>
            <a:r>
              <a:t>maxEval = Math.max(maxEval, eval); // 3</a:t>
            </a:r>
          </a:p>
        </p:txBody>
      </p:sp>
      <p:sp>
        <p:nvSpPr>
          <p:cNvPr id="112" name="TextBox 111"/>
          <p:cNvSpPr txBox="1"/>
          <p:nvPr/>
        </p:nvSpPr>
        <p:spPr>
          <a:xfrm>
            <a:off x="5897880" y="5184647"/>
            <a:ext cx="7589519" cy="274320"/>
          </a:xfrm>
          <a:prstGeom prst="rect">
            <a:avLst/>
          </a:prstGeom>
          <a:noFill/>
        </p:spPr>
        <p:txBody>
          <a:bodyPr wrap="square" lIns="0" rIns="0" tIns="0" bIns="0">
            <a:noAutofit/>
          </a:bodyPr>
          <a:lstStyle/>
          <a:p>
            <a:pPr algn="l">
              <a:lnSpc>
                <a:spcPct val="107000"/>
              </a:lnSpc>
              <a:spcBef>
                <a:spcPts val="0"/>
              </a:spcBef>
              <a:spcAft>
                <a:spcPts val="500"/>
              </a:spcAft>
              <a:defRPr sz="2000" b="0">
                <a:solidFill>
                  <a:srgbClr val="17362D"/>
                </a:solidFill>
                <a:latin typeface="Consolas"/>
              </a:defRPr>
            </a:pPr>
            <a:r>
              <a:t>alpha = Math.max(alpha, eval);     // 3</a:t>
            </a:r>
          </a:p>
        </p:txBody>
      </p:sp>
      <p:sp>
        <p:nvSpPr>
          <p:cNvPr id="113" name="TextBox 112"/>
          <p:cNvSpPr txBox="1"/>
          <p:nvPr/>
        </p:nvSpPr>
        <p:spPr>
          <a:xfrm>
            <a:off x="5715000" y="5879592"/>
            <a:ext cx="7955279" cy="822960"/>
          </a:xfrm>
          <a:prstGeom prst="rect">
            <a:avLst/>
          </a:prstGeom>
          <a:noFill/>
        </p:spPr>
        <p:txBody>
          <a:bodyPr wrap="square" lIns="0" rIns="0" tIns="0" bIns="0">
            <a:noAutofit/>
          </a:bodyPr>
          <a:lstStyle/>
          <a:p>
            <a:pPr algn="l">
              <a:lnSpc>
                <a:spcPct val="107000"/>
              </a:lnSpc>
              <a:spcBef>
                <a:spcPts val="0"/>
              </a:spcBef>
              <a:spcAft>
                <a:spcPts val="500"/>
              </a:spcAft>
              <a:defRPr sz="2400" b="0">
                <a:solidFill>
                  <a:srgbClr val="17362D"/>
                </a:solidFill>
                <a:latin typeface="Arial"/>
              </a:defRPr>
            </a:pPr>
            <a:r>
              <a:t>H3 now has alpha = 3, beta = 0.</a:t>
            </a:r>
          </a:p>
          <a:p>
            <a:pPr algn="l">
              <a:lnSpc>
                <a:spcPct val="107000"/>
              </a:lnSpc>
              <a:spcBef>
                <a:spcPts val="0"/>
              </a:spcBef>
              <a:spcAft>
                <a:spcPts val="500"/>
              </a:spcAft>
              <a:defRPr sz="2400" b="0">
                <a:solidFill>
                  <a:srgbClr val="17362D"/>
                </a:solidFill>
                <a:latin typeface="Arial"/>
              </a:defRPr>
            </a:pPr>
            <a:r>
              <a:t>The second capture has not been evaluated.</a:t>
            </a:r>
          </a:p>
        </p:txBody>
      </p:sp>
      <p:sp>
        <p:nvSpPr>
          <p:cNvPr id="114" name="Rounded Rectangle 113"/>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The recursive call for B3a has finished. The larger H3 subtree is still unfinished.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Why another reply cannot lower the MAX result</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12</a:t>
            </a:r>
          </a:p>
        </p:txBody>
      </p:sp>
      <p:sp>
        <p:nvSpPr>
          <p:cNvPr id="9" name="Rounded Rectangle 8"/>
          <p:cNvSpPr/>
          <p:nvPr/>
        </p:nvSpPr>
        <p:spPr>
          <a:xfrm>
            <a:off x="640080" y="1965960"/>
            <a:ext cx="6309360" cy="214884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67512" y="2103120"/>
            <a:ext cx="41148" cy="1874520"/>
          </a:xfrm>
          <a:prstGeom prst="rect">
            <a:avLst/>
          </a:prstGeom>
          <a:solidFill>
            <a:srgbClr val="B956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41247" y="2167128"/>
            <a:ext cx="5907024"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B95646"/>
                </a:solidFill>
                <a:latin typeface="Arial"/>
              </a:defRPr>
            </a:pPr>
            <a:r>
              <a:t>H1 · already finished</a:t>
            </a:r>
          </a:p>
        </p:txBody>
      </p:sp>
      <p:sp>
        <p:nvSpPr>
          <p:cNvPr id="12" name="TextBox 11"/>
          <p:cNvSpPr txBox="1"/>
          <p:nvPr/>
        </p:nvSpPr>
        <p:spPr>
          <a:xfrm>
            <a:off x="841247" y="2825496"/>
            <a:ext cx="5907024" cy="1197864"/>
          </a:xfrm>
          <a:prstGeom prst="rect">
            <a:avLst/>
          </a:prstGeom>
          <a:noFill/>
        </p:spPr>
        <p:txBody>
          <a:bodyPr wrap="square" lIns="0" rIns="0" tIns="0" bIns="0">
            <a:noAutofit/>
          </a:bodyPr>
          <a:lstStyle/>
          <a:p>
            <a:pPr algn="l">
              <a:lnSpc>
                <a:spcPct val="107000"/>
              </a:lnSpc>
              <a:spcBef>
                <a:spcPts val="0"/>
              </a:spcBef>
              <a:spcAft>
                <a:spcPts val="500"/>
              </a:spcAft>
              <a:defRPr sz="2500" b="0">
                <a:solidFill>
                  <a:srgbClr val="17362D"/>
                </a:solidFill>
                <a:latin typeface="Arial"/>
              </a:defRPr>
            </a:pPr>
            <a:r>
              <a:t>The BOT’s best reply gives 0.</a:t>
            </a:r>
          </a:p>
          <a:p>
            <a:pPr algn="l">
              <a:lnSpc>
                <a:spcPct val="107000"/>
              </a:lnSpc>
              <a:spcBef>
                <a:spcPts val="0"/>
              </a:spcBef>
              <a:spcAft>
                <a:spcPts val="500"/>
              </a:spcAft>
              <a:defRPr sz="2500" b="0">
                <a:solidFill>
                  <a:srgbClr val="17362D"/>
                </a:solidFill>
                <a:latin typeface="Arial"/>
              </a:defRPr>
            </a:pPr>
          </a:p>
          <a:p>
            <a:pPr algn="l">
              <a:lnSpc>
                <a:spcPct val="107000"/>
              </a:lnSpc>
              <a:spcBef>
                <a:spcPts val="0"/>
              </a:spcBef>
              <a:spcAft>
                <a:spcPts val="500"/>
              </a:spcAft>
              <a:defRPr sz="2500" b="0">
                <a:solidFill>
                  <a:srgbClr val="17362D"/>
                </a:solidFill>
                <a:latin typeface="Arial"/>
              </a:defRPr>
            </a:pPr>
            <a:r>
              <a:t>The human can choose this option.</a:t>
            </a:r>
          </a:p>
        </p:txBody>
      </p:sp>
      <p:sp>
        <p:nvSpPr>
          <p:cNvPr id="13" name="Rounded Rectangle 12"/>
          <p:cNvSpPr/>
          <p:nvPr/>
        </p:nvSpPr>
        <p:spPr>
          <a:xfrm>
            <a:off x="7360920" y="1965960"/>
            <a:ext cx="6583680" cy="214884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388352" y="2103120"/>
            <a:ext cx="41148" cy="187452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562088" y="2167128"/>
            <a:ext cx="6181344"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267A77"/>
                </a:solidFill>
                <a:latin typeface="Arial"/>
              </a:defRPr>
            </a:pPr>
            <a:r>
              <a:t>H3 · partly explored</a:t>
            </a:r>
          </a:p>
        </p:txBody>
      </p:sp>
      <p:sp>
        <p:nvSpPr>
          <p:cNvPr id="16" name="TextBox 15"/>
          <p:cNvSpPr txBox="1"/>
          <p:nvPr/>
        </p:nvSpPr>
        <p:spPr>
          <a:xfrm>
            <a:off x="7562088" y="2825496"/>
            <a:ext cx="6181344" cy="1197864"/>
          </a:xfrm>
          <a:prstGeom prst="rect">
            <a:avLst/>
          </a:prstGeom>
          <a:noFill/>
        </p:spPr>
        <p:txBody>
          <a:bodyPr wrap="square" lIns="0" rIns="0" tIns="0" bIns="0">
            <a:noAutofit/>
          </a:bodyPr>
          <a:lstStyle/>
          <a:p>
            <a:pPr algn="l">
              <a:lnSpc>
                <a:spcPct val="107000"/>
              </a:lnSpc>
              <a:spcBef>
                <a:spcPts val="0"/>
              </a:spcBef>
              <a:spcAft>
                <a:spcPts val="500"/>
              </a:spcAft>
              <a:defRPr sz="2500" b="0">
                <a:solidFill>
                  <a:srgbClr val="17362D"/>
                </a:solidFill>
                <a:latin typeface="Arial"/>
              </a:defRPr>
            </a:pPr>
            <a:r>
              <a:t>The BOT already has a reply worth 3.</a:t>
            </a:r>
          </a:p>
          <a:p>
            <a:pPr algn="l">
              <a:lnSpc>
                <a:spcPct val="107000"/>
              </a:lnSpc>
              <a:spcBef>
                <a:spcPts val="0"/>
              </a:spcBef>
              <a:spcAft>
                <a:spcPts val="500"/>
              </a:spcAft>
              <a:defRPr sz="2500" b="0">
                <a:solidFill>
                  <a:srgbClr val="17362D"/>
                </a:solidFill>
                <a:latin typeface="Arial"/>
              </a:defRPr>
            </a:pPr>
          </a:p>
          <a:p>
            <a:pPr algn="l">
              <a:lnSpc>
                <a:spcPct val="107000"/>
              </a:lnSpc>
              <a:spcBef>
                <a:spcPts val="0"/>
              </a:spcBef>
              <a:spcAft>
                <a:spcPts val="500"/>
              </a:spcAft>
              <a:defRPr sz="2500" b="0">
                <a:solidFill>
                  <a:srgbClr val="17362D"/>
                </a:solidFill>
                <a:latin typeface="Arial"/>
              </a:defRPr>
            </a:pPr>
            <a:r>
              <a:t>Its final MAX must be at least 3.</a:t>
            </a:r>
          </a:p>
        </p:txBody>
      </p:sp>
      <p:sp>
        <p:nvSpPr>
          <p:cNvPr id="17" name="Rounded Rectangle 16"/>
          <p:cNvSpPr/>
          <p:nvPr/>
        </p:nvSpPr>
        <p:spPr>
          <a:xfrm>
            <a:off x="868680" y="4617720"/>
            <a:ext cx="12893040" cy="68580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941832" y="4727448"/>
            <a:ext cx="12746736" cy="411480"/>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51560" y="4745736"/>
            <a:ext cx="12527280" cy="411480"/>
          </a:xfrm>
          <a:prstGeom prst="rect">
            <a:avLst/>
          </a:prstGeom>
          <a:noFill/>
        </p:spPr>
        <p:txBody>
          <a:bodyPr wrap="square" lIns="0" rIns="0" tIns="0" bIns="0">
            <a:noAutofit/>
          </a:bodyPr>
          <a:lstStyle/>
          <a:p>
            <a:pPr algn="l">
              <a:lnSpc>
                <a:spcPct val="107000"/>
              </a:lnSpc>
              <a:spcBef>
                <a:spcPts val="0"/>
              </a:spcBef>
              <a:spcAft>
                <a:spcPts val="500"/>
              </a:spcAft>
              <a:defRPr sz="2400" b="0">
                <a:solidFill>
                  <a:srgbClr val="17362D"/>
                </a:solidFill>
                <a:latin typeface="Consolas"/>
              </a:defRPr>
            </a:pPr>
            <a:r>
              <a:t>maxEval = Math.max(3, anotherReplyScore);</a:t>
            </a:r>
          </a:p>
        </p:txBody>
      </p:sp>
      <p:sp>
        <p:nvSpPr>
          <p:cNvPr id="20" name="TextBox 19"/>
          <p:cNvSpPr txBox="1"/>
          <p:nvPr/>
        </p:nvSpPr>
        <p:spPr>
          <a:xfrm>
            <a:off x="868680" y="5650992"/>
            <a:ext cx="12893040" cy="502920"/>
          </a:xfrm>
          <a:prstGeom prst="rect">
            <a:avLst/>
          </a:prstGeom>
          <a:noFill/>
        </p:spPr>
        <p:txBody>
          <a:bodyPr wrap="square" lIns="0" rIns="0" tIns="0" bIns="0">
            <a:noAutofit/>
          </a:bodyPr>
          <a:lstStyle/>
          <a:p>
            <a:pPr algn="l">
              <a:lnSpc>
                <a:spcPct val="107000"/>
              </a:lnSpc>
              <a:spcBef>
                <a:spcPts val="0"/>
              </a:spcBef>
              <a:spcAft>
                <a:spcPts val="500"/>
              </a:spcAft>
              <a:defRPr sz="2600" b="1">
                <a:solidFill>
                  <a:srgbClr val="17362D"/>
                </a:solidFill>
                <a:latin typeface="Arial"/>
              </a:defRPr>
            </a:pPr>
            <a:r>
              <a:t>A lower alternative leaves MAX at 3. A higher alternative raises it.</a:t>
            </a:r>
          </a:p>
        </p:txBody>
      </p:sp>
      <p:sp>
        <p:nvSpPr>
          <p:cNvPr id="21" name="Rounded Rectangle 20"/>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The BOT predicts the human will keep 0 through H1, so the rest of H3 is unnecessary.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The condition ends this loop, then returns to its caller</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13</a:t>
            </a:r>
          </a:p>
        </p:txBody>
      </p:sp>
      <p:sp>
        <p:nvSpPr>
          <p:cNvPr id="9" name="Rounded Rectangle 8"/>
          <p:cNvSpPr/>
          <p:nvPr/>
        </p:nvSpPr>
        <p:spPr>
          <a:xfrm>
            <a:off x="685800" y="2011680"/>
            <a:ext cx="7772400" cy="3044952"/>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68680" y="2139696"/>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int eval = minimax(...); // returns 3</a:t>
            </a:r>
          </a:p>
        </p:txBody>
      </p:sp>
      <p:sp>
        <p:nvSpPr>
          <p:cNvPr id="11" name="TextBox 10"/>
          <p:cNvSpPr txBox="1"/>
          <p:nvPr/>
        </p:nvSpPr>
        <p:spPr>
          <a:xfrm>
            <a:off x="868680" y="2535500"/>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maxEval = Math.max(maxEval, eval);</a:t>
            </a:r>
          </a:p>
        </p:txBody>
      </p:sp>
      <p:sp>
        <p:nvSpPr>
          <p:cNvPr id="12" name="TextBox 11"/>
          <p:cNvSpPr txBox="1"/>
          <p:nvPr/>
        </p:nvSpPr>
        <p:spPr>
          <a:xfrm>
            <a:off x="868680" y="2931305"/>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alpha = Math.max(alpha, eval);</a:t>
            </a:r>
          </a:p>
        </p:txBody>
      </p:sp>
      <p:sp>
        <p:nvSpPr>
          <p:cNvPr id="13" name="Rectangle 12"/>
          <p:cNvSpPr/>
          <p:nvPr/>
        </p:nvSpPr>
        <p:spPr>
          <a:xfrm>
            <a:off x="758952" y="3308821"/>
            <a:ext cx="7626096" cy="395804"/>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3327109"/>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if (beta &lt;= alpha) {     // 0 &lt;= 3</a:t>
            </a:r>
          </a:p>
        </p:txBody>
      </p:sp>
      <p:sp>
        <p:nvSpPr>
          <p:cNvPr id="15" name="Rectangle 14"/>
          <p:cNvSpPr/>
          <p:nvPr/>
        </p:nvSpPr>
        <p:spPr>
          <a:xfrm>
            <a:off x="758952" y="3704626"/>
            <a:ext cx="7626096" cy="395804"/>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68680" y="3722914"/>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    break;              // skip B3b</a:t>
            </a:r>
          </a:p>
        </p:txBody>
      </p:sp>
      <p:sp>
        <p:nvSpPr>
          <p:cNvPr id="17" name="TextBox 16"/>
          <p:cNvSpPr txBox="1"/>
          <p:nvPr/>
        </p:nvSpPr>
        <p:spPr>
          <a:xfrm>
            <a:off x="868680" y="4118718"/>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a:t>
            </a:r>
          </a:p>
        </p:txBody>
      </p:sp>
      <p:sp>
        <p:nvSpPr>
          <p:cNvPr id="18" name="Rectangle 17"/>
          <p:cNvSpPr/>
          <p:nvPr/>
        </p:nvSpPr>
        <p:spPr>
          <a:xfrm>
            <a:off x="758952" y="4496235"/>
            <a:ext cx="7626096" cy="395804"/>
          </a:xfrm>
          <a:prstGeom prst="rect">
            <a:avLst/>
          </a:prstGeom>
          <a:solidFill>
            <a:srgbClr val="FFF3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4514523"/>
            <a:ext cx="7406640" cy="395804"/>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Consolas"/>
              </a:defRPr>
            </a:pPr>
            <a:r>
              <a:t>return maxEval;          // return 3</a:t>
            </a:r>
          </a:p>
        </p:txBody>
      </p:sp>
      <p:sp>
        <p:nvSpPr>
          <p:cNvPr id="20" name="Rounded Rectangle 19"/>
          <p:cNvSpPr/>
          <p:nvPr/>
        </p:nvSpPr>
        <p:spPr>
          <a:xfrm>
            <a:off x="8823960" y="2011680"/>
            <a:ext cx="5120640"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006840" y="2176272"/>
            <a:ext cx="475487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BOT MAX · depth 1 · RETURNING</a:t>
            </a:r>
          </a:p>
        </p:txBody>
      </p:sp>
      <p:sp>
        <p:nvSpPr>
          <p:cNvPr id="22" name="TextBox 21"/>
          <p:cNvSpPr txBox="1"/>
          <p:nvPr/>
        </p:nvSpPr>
        <p:spPr>
          <a:xfrm>
            <a:off x="9006840" y="2651760"/>
            <a:ext cx="475487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3    beta = 0</a:t>
            </a:r>
          </a:p>
        </p:txBody>
      </p:sp>
      <p:sp>
        <p:nvSpPr>
          <p:cNvPr id="23" name="TextBox 22"/>
          <p:cNvSpPr txBox="1"/>
          <p:nvPr/>
        </p:nvSpPr>
        <p:spPr>
          <a:xfrm>
            <a:off x="9006840" y="3017520"/>
            <a:ext cx="475487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maxEval = 3</a:t>
            </a:r>
          </a:p>
        </p:txBody>
      </p:sp>
      <p:sp>
        <p:nvSpPr>
          <p:cNvPr id="24" name="TextBox 23"/>
          <p:cNvSpPr txBox="1"/>
          <p:nvPr/>
        </p:nvSpPr>
        <p:spPr>
          <a:xfrm>
            <a:off x="9326880" y="3721608"/>
            <a:ext cx="4114800" cy="457200"/>
          </a:xfrm>
          <a:prstGeom prst="rect">
            <a:avLst/>
          </a:prstGeom>
          <a:noFill/>
        </p:spPr>
        <p:txBody>
          <a:bodyPr wrap="square" lIns="0" rIns="0" tIns="0" bIns="0">
            <a:noAutofit/>
          </a:bodyPr>
          <a:lstStyle/>
          <a:p>
            <a:pPr algn="ctr">
              <a:lnSpc>
                <a:spcPct val="107000"/>
              </a:lnSpc>
              <a:spcBef>
                <a:spcPts val="0"/>
              </a:spcBef>
              <a:spcAft>
                <a:spcPts val="500"/>
              </a:spcAft>
              <a:defRPr sz="2600" b="1">
                <a:solidFill>
                  <a:srgbClr val="27604A"/>
                </a:solidFill>
                <a:latin typeface="Arial"/>
              </a:defRPr>
            </a:pPr>
            <a:r>
              <a:t>RETURN 3 ↓</a:t>
            </a:r>
          </a:p>
        </p:txBody>
      </p:sp>
      <p:sp>
        <p:nvSpPr>
          <p:cNvPr id="25" name="Rounded Rectangle 24"/>
          <p:cNvSpPr/>
          <p:nvPr/>
        </p:nvSpPr>
        <p:spPr>
          <a:xfrm>
            <a:off x="8823960" y="4535424"/>
            <a:ext cx="5120640" cy="1371600"/>
          </a:xfrm>
          <a:prstGeom prst="roundRect">
            <a:avLst>
              <a:gd name="adj" fmla="val 11000"/>
            </a:avLst>
          </a:prstGeom>
          <a:solidFill>
            <a:srgbClr val="E7F0E9"/>
          </a:solidFill>
          <a:ln w="15240">
            <a:solidFill>
              <a:srgbClr val="2760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9006840" y="4700016"/>
            <a:ext cx="4754879" cy="365760"/>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27604A"/>
                </a:solidFill>
                <a:latin typeface="Arial"/>
              </a:defRPr>
            </a:pPr>
            <a:r>
              <a:t>HUMAN MIN · depth 2 · RESUMES</a:t>
            </a:r>
          </a:p>
        </p:txBody>
      </p:sp>
      <p:sp>
        <p:nvSpPr>
          <p:cNvPr id="27" name="TextBox 26"/>
          <p:cNvSpPr txBox="1"/>
          <p:nvPr/>
        </p:nvSpPr>
        <p:spPr>
          <a:xfrm>
            <a:off x="9006840" y="5175504"/>
            <a:ext cx="4754879" cy="347472"/>
          </a:xfrm>
          <a:prstGeom prst="rect">
            <a:avLst/>
          </a:prstGeom>
          <a:noFill/>
        </p:spPr>
        <p:txBody>
          <a:bodyPr wrap="square" lIns="0" rIns="0" tIns="0" bIns="0">
            <a:noAutofit/>
          </a:bodyPr>
          <a:lstStyle/>
          <a:p>
            <a:pPr algn="l">
              <a:lnSpc>
                <a:spcPct val="107000"/>
              </a:lnSpc>
              <a:spcBef>
                <a:spcPts val="0"/>
              </a:spcBef>
              <a:spcAft>
                <a:spcPts val="500"/>
              </a:spcAft>
              <a:defRPr sz="2100" b="1">
                <a:solidFill>
                  <a:srgbClr val="17362D"/>
                </a:solidFill>
                <a:latin typeface="Consolas"/>
              </a:defRPr>
            </a:pPr>
            <a:r>
              <a:t>alpha = −∞    beta = 0</a:t>
            </a:r>
          </a:p>
        </p:txBody>
      </p:sp>
      <p:sp>
        <p:nvSpPr>
          <p:cNvPr id="28" name="TextBox 27"/>
          <p:cNvSpPr txBox="1"/>
          <p:nvPr/>
        </p:nvSpPr>
        <p:spPr>
          <a:xfrm>
            <a:off x="9006840" y="5541264"/>
            <a:ext cx="4754879" cy="274320"/>
          </a:xfrm>
          <a:prstGeom prst="rect">
            <a:avLst/>
          </a:prstGeom>
          <a:noFill/>
        </p:spPr>
        <p:txBody>
          <a:bodyPr wrap="square" lIns="0" rIns="0" tIns="0" bIns="0">
            <a:noAutofit/>
          </a:bodyPr>
          <a:lstStyle/>
          <a:p>
            <a:pPr algn="l">
              <a:lnSpc>
                <a:spcPct val="107000"/>
              </a:lnSpc>
              <a:spcBef>
                <a:spcPts val="0"/>
              </a:spcBef>
              <a:spcAft>
                <a:spcPts val="500"/>
              </a:spcAft>
              <a:defRPr sz="1800" b="0">
                <a:solidFill>
                  <a:srgbClr val="52645C"/>
                </a:solidFill>
                <a:latin typeface="Consolas"/>
              </a:defRPr>
            </a:pPr>
            <a:r>
              <a:t>minEval = 0</a:t>
            </a:r>
          </a:p>
        </p:txBody>
      </p:sp>
      <p:sp>
        <p:nvSpPr>
          <p:cNvPr id="29" name="TextBox 28"/>
          <p:cNvSpPr txBox="1"/>
          <p:nvPr/>
        </p:nvSpPr>
        <p:spPr>
          <a:xfrm>
            <a:off x="868680" y="5632704"/>
            <a:ext cx="7406640" cy="932688"/>
          </a:xfrm>
          <a:prstGeom prst="rect">
            <a:avLst/>
          </a:prstGeom>
          <a:noFill/>
        </p:spPr>
        <p:txBody>
          <a:bodyPr wrap="square" lIns="0" rIns="0" tIns="0" bIns="0">
            <a:noAutofit/>
          </a:bodyPr>
          <a:lstStyle/>
          <a:p>
            <a:pPr algn="l">
              <a:lnSpc>
                <a:spcPct val="107000"/>
              </a:lnSpc>
              <a:spcBef>
                <a:spcPts val="0"/>
              </a:spcBef>
              <a:spcAft>
                <a:spcPts val="500"/>
              </a:spcAft>
              <a:defRPr sz="2800" b="1">
                <a:solidFill>
                  <a:srgbClr val="17362D"/>
                </a:solidFill>
                <a:latin typeface="Arial"/>
              </a:defRPr>
            </a:pPr>
            <a:r>
              <a:t>The human caller resumes:</a:t>
            </a:r>
          </a:p>
          <a:p>
            <a:pPr algn="l">
              <a:lnSpc>
                <a:spcPct val="107000"/>
              </a:lnSpc>
              <a:spcBef>
                <a:spcPts val="0"/>
              </a:spcBef>
              <a:spcAft>
                <a:spcPts val="500"/>
              </a:spcAft>
              <a:defRPr sz="2800" b="1">
                <a:solidFill>
                  <a:srgbClr val="17362D"/>
                </a:solidFill>
                <a:latin typeface="Arial"/>
              </a:defRPr>
            </a:pPr>
            <a:r>
              <a:t>minEval = MIN(0, 3) = 0</a:t>
            </a:r>
          </a:p>
        </p:txBody>
      </p:sp>
      <p:sp>
        <p:nvSpPr>
          <p:cNvPr id="30" name="Rounded Rectangle 29"/>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break skips one loop’s remaining replies. The other waiting calls continue.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B returns 0, so the BOT chooses B</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14</a:t>
            </a:r>
          </a:p>
        </p:txBody>
      </p:sp>
      <p:sp>
        <p:nvSpPr>
          <p:cNvPr id="9" name="Rounded Rectangle 8"/>
          <p:cNvSpPr/>
          <p:nvPr/>
        </p:nvSpPr>
        <p:spPr>
          <a:xfrm>
            <a:off x="640080" y="1965960"/>
            <a:ext cx="4663440" cy="352044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67512" y="2103120"/>
            <a:ext cx="41148" cy="3246120"/>
          </a:xfrm>
          <a:prstGeom prst="rect">
            <a:avLst/>
          </a:prstGeom>
          <a:solidFill>
            <a:srgbClr val="B956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41247" y="2167128"/>
            <a:ext cx="4261103"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B95646"/>
                </a:solidFill>
                <a:latin typeface="Arial"/>
              </a:defRPr>
            </a:pPr>
            <a:r>
              <a:t>Human MIN inside B</a:t>
            </a:r>
          </a:p>
        </p:txBody>
      </p:sp>
      <p:sp>
        <p:nvSpPr>
          <p:cNvPr id="12" name="TextBox 11"/>
          <p:cNvSpPr txBox="1"/>
          <p:nvPr/>
        </p:nvSpPr>
        <p:spPr>
          <a:xfrm>
            <a:off x="841247" y="2825496"/>
            <a:ext cx="4261103" cy="2569464"/>
          </a:xfrm>
          <a:prstGeom prst="rect">
            <a:avLst/>
          </a:prstGeom>
          <a:noFill/>
        </p:spPr>
        <p:txBody>
          <a:bodyPr wrap="square" lIns="0" rIns="0" tIns="0" bIns="0">
            <a:noAutofit/>
          </a:bodyPr>
          <a:lstStyle/>
          <a:p>
            <a:pPr algn="l">
              <a:lnSpc>
                <a:spcPct val="107000"/>
              </a:lnSpc>
              <a:spcBef>
                <a:spcPts val="0"/>
              </a:spcBef>
              <a:spcAft>
                <a:spcPts val="500"/>
              </a:spcAft>
              <a:defRPr sz="2500" b="0">
                <a:solidFill>
                  <a:srgbClr val="17362D"/>
                </a:solidFill>
                <a:latin typeface="Arial"/>
              </a:defRPr>
            </a:pPr>
            <a:r>
              <a:t>H1 → 0</a:t>
            </a:r>
          </a:p>
          <a:p>
            <a:pPr algn="l">
              <a:lnSpc>
                <a:spcPct val="107000"/>
              </a:lnSpc>
              <a:spcBef>
                <a:spcPts val="0"/>
              </a:spcBef>
              <a:spcAft>
                <a:spcPts val="500"/>
              </a:spcAft>
              <a:defRPr sz="2500" b="0">
                <a:solidFill>
                  <a:srgbClr val="17362D"/>
                </a:solidFill>
                <a:latin typeface="Arial"/>
              </a:defRPr>
            </a:pPr>
            <a:r>
              <a:t>H2 → at least 0</a:t>
            </a:r>
          </a:p>
          <a:p>
            <a:pPr algn="l">
              <a:lnSpc>
                <a:spcPct val="107000"/>
              </a:lnSpc>
              <a:spcBef>
                <a:spcPts val="0"/>
              </a:spcBef>
              <a:spcAft>
                <a:spcPts val="500"/>
              </a:spcAft>
              <a:defRPr sz="2500" b="0">
                <a:solidFill>
                  <a:srgbClr val="17362D"/>
                </a:solidFill>
                <a:latin typeface="Arial"/>
              </a:defRPr>
            </a:pPr>
            <a:r>
              <a:t>H3 → at least 3</a:t>
            </a:r>
          </a:p>
          <a:p>
            <a:pPr algn="l">
              <a:lnSpc>
                <a:spcPct val="107000"/>
              </a:lnSpc>
              <a:spcBef>
                <a:spcPts val="0"/>
              </a:spcBef>
              <a:spcAft>
                <a:spcPts val="500"/>
              </a:spcAft>
              <a:defRPr sz="2500" b="0">
                <a:solidFill>
                  <a:srgbClr val="17362D"/>
                </a:solidFill>
                <a:latin typeface="Arial"/>
              </a:defRPr>
            </a:pPr>
          </a:p>
          <a:p>
            <a:pPr algn="l">
              <a:lnSpc>
                <a:spcPct val="107000"/>
              </a:lnSpc>
              <a:spcBef>
                <a:spcPts val="0"/>
              </a:spcBef>
              <a:spcAft>
                <a:spcPts val="500"/>
              </a:spcAft>
              <a:defRPr sz="2500" b="0">
                <a:solidFill>
                  <a:srgbClr val="17362D"/>
                </a:solidFill>
                <a:latin typeface="Arial"/>
              </a:defRPr>
            </a:pPr>
            <a:r>
              <a:t>B’s score = 0</a:t>
            </a:r>
          </a:p>
        </p:txBody>
      </p:sp>
      <p:sp>
        <p:nvSpPr>
          <p:cNvPr id="13" name="Rounded Rectangle 12"/>
          <p:cNvSpPr/>
          <p:nvPr/>
        </p:nvSpPr>
        <p:spPr>
          <a:xfrm>
            <a:off x="5623560" y="1965960"/>
            <a:ext cx="3657600" cy="352044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650992" y="2103120"/>
            <a:ext cx="41148" cy="324612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824728" y="2167128"/>
            <a:ext cx="3255264" cy="457200"/>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267A77"/>
                </a:solidFill>
                <a:latin typeface="Arial"/>
              </a:defRPr>
            </a:pPr>
            <a:r>
              <a:t>findBestMove()</a:t>
            </a:r>
          </a:p>
        </p:txBody>
      </p:sp>
      <p:sp>
        <p:nvSpPr>
          <p:cNvPr id="16" name="TextBox 15"/>
          <p:cNvSpPr txBox="1"/>
          <p:nvPr/>
        </p:nvSpPr>
        <p:spPr>
          <a:xfrm>
            <a:off x="5824728" y="2825496"/>
            <a:ext cx="3255264" cy="2569464"/>
          </a:xfrm>
          <a:prstGeom prst="rect">
            <a:avLst/>
          </a:prstGeom>
          <a:noFill/>
        </p:spPr>
        <p:txBody>
          <a:bodyPr wrap="square" lIns="0" rIns="0" tIns="0" bIns="0">
            <a:noAutofit/>
          </a:bodyPr>
          <a:lstStyle/>
          <a:p>
            <a:pPr algn="l">
              <a:lnSpc>
                <a:spcPct val="107000"/>
              </a:lnSpc>
              <a:spcBef>
                <a:spcPts val="0"/>
              </a:spcBef>
              <a:spcAft>
                <a:spcPts val="500"/>
              </a:spcAft>
              <a:defRPr sz="2500" b="0">
                <a:solidFill>
                  <a:srgbClr val="17362D"/>
                </a:solidFill>
                <a:latin typeface="Arial"/>
              </a:defRPr>
            </a:pPr>
            <a:r>
              <a:t>A returned −3</a:t>
            </a:r>
          </a:p>
          <a:p>
            <a:pPr algn="l">
              <a:lnSpc>
                <a:spcPct val="107000"/>
              </a:lnSpc>
              <a:spcBef>
                <a:spcPts val="0"/>
              </a:spcBef>
              <a:spcAft>
                <a:spcPts val="500"/>
              </a:spcAft>
              <a:defRPr sz="2500" b="0">
                <a:solidFill>
                  <a:srgbClr val="17362D"/>
                </a:solidFill>
                <a:latin typeface="Arial"/>
              </a:defRPr>
            </a:pPr>
            <a:r>
              <a:t>B returned 0</a:t>
            </a:r>
          </a:p>
          <a:p>
            <a:pPr algn="l">
              <a:lnSpc>
                <a:spcPct val="107000"/>
              </a:lnSpc>
              <a:spcBef>
                <a:spcPts val="0"/>
              </a:spcBef>
              <a:spcAft>
                <a:spcPts val="500"/>
              </a:spcAft>
              <a:defRPr sz="2500" b="0">
                <a:solidFill>
                  <a:srgbClr val="17362D"/>
                </a:solidFill>
                <a:latin typeface="Arial"/>
              </a:defRPr>
            </a:pPr>
          </a:p>
          <a:p>
            <a:pPr algn="l">
              <a:lnSpc>
                <a:spcPct val="107000"/>
              </a:lnSpc>
              <a:spcBef>
                <a:spcPts val="0"/>
              </a:spcBef>
              <a:spcAft>
                <a:spcPts val="500"/>
              </a:spcAft>
              <a:defRPr sz="2500" b="0">
                <a:solidFill>
                  <a:srgbClr val="17362D"/>
                </a:solidFill>
                <a:latin typeface="Arial"/>
              </a:defRPr>
            </a:pPr>
            <a:r>
              <a:t>0 &gt; −3</a:t>
            </a:r>
          </a:p>
          <a:p>
            <a:pPr algn="l">
              <a:lnSpc>
                <a:spcPct val="107000"/>
              </a:lnSpc>
              <a:spcBef>
                <a:spcPts val="0"/>
              </a:spcBef>
              <a:spcAft>
                <a:spcPts val="500"/>
              </a:spcAft>
              <a:defRPr sz="2500" b="0">
                <a:solidFill>
                  <a:srgbClr val="17362D"/>
                </a:solidFill>
                <a:latin typeface="Arial"/>
              </a:defRPr>
            </a:pPr>
            <a:r>
              <a:t>bestMove = B</a:t>
            </a:r>
          </a:p>
        </p:txBody>
      </p:sp>
      <p:sp>
        <p:nvSpPr>
          <p:cNvPr id="17" name="TextBox 16"/>
          <p:cNvSpPr txBox="1"/>
          <p:nvPr/>
        </p:nvSpPr>
        <p:spPr>
          <a:xfrm>
            <a:off x="10104120" y="1828800"/>
            <a:ext cx="3383280" cy="292608"/>
          </a:xfrm>
          <a:prstGeom prst="rect">
            <a:avLst/>
          </a:prstGeom>
          <a:noFill/>
        </p:spPr>
        <p:txBody>
          <a:bodyPr wrap="square" lIns="0" rIns="0" tIns="0" bIns="0">
            <a:noAutofit/>
          </a:bodyPr>
          <a:lstStyle/>
          <a:p>
            <a:pPr algn="l">
              <a:lnSpc>
                <a:spcPct val="107000"/>
              </a:lnSpc>
              <a:spcBef>
                <a:spcPts val="0"/>
              </a:spcBef>
              <a:spcAft>
                <a:spcPts val="500"/>
              </a:spcAft>
              <a:defRPr sz="1800" b="1">
                <a:solidFill>
                  <a:srgbClr val="17362D"/>
                </a:solidFill>
                <a:latin typeface="Arial"/>
              </a:defRPr>
            </a:pPr>
            <a:r>
              <a:t>Chosen move applied afterward</a:t>
            </a:r>
          </a:p>
        </p:txBody>
      </p:sp>
      <p:sp>
        <p:nvSpPr>
          <p:cNvPr id="18" name="Rectangle 17"/>
          <p:cNvSpPr/>
          <p:nvPr/>
        </p:nvSpPr>
        <p:spPr>
          <a:xfrm>
            <a:off x="10058400" y="2423160"/>
            <a:ext cx="3474720" cy="3474720"/>
          </a:xfrm>
          <a:prstGeom prst="rect">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793224" y="260421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20" name="TextBox 19"/>
          <p:cNvSpPr txBox="1"/>
          <p:nvPr/>
        </p:nvSpPr>
        <p:spPr>
          <a:xfrm>
            <a:off x="1010412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0</a:t>
            </a:r>
          </a:p>
        </p:txBody>
      </p:sp>
      <p:sp>
        <p:nvSpPr>
          <p:cNvPr id="21" name="Rectangle 20"/>
          <p:cNvSpPr/>
          <p:nvPr/>
        </p:nvSpPr>
        <p:spPr>
          <a:xfrm>
            <a:off x="10104120" y="246888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10527030" y="246888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10949940" y="246888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11372850" y="246888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1795760" y="246888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12218670" y="246888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12641580" y="246888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13064490" y="246888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793224" y="302712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30" name="TextBox 29"/>
          <p:cNvSpPr txBox="1"/>
          <p:nvPr/>
        </p:nvSpPr>
        <p:spPr>
          <a:xfrm>
            <a:off x="1052703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1</a:t>
            </a:r>
          </a:p>
        </p:txBody>
      </p:sp>
      <p:sp>
        <p:nvSpPr>
          <p:cNvPr id="31" name="Rectangle 30"/>
          <p:cNvSpPr/>
          <p:nvPr/>
        </p:nvSpPr>
        <p:spPr>
          <a:xfrm>
            <a:off x="10104120" y="289179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10527030" y="289179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10949940" y="289179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val 33"/>
          <p:cNvSpPr/>
          <p:nvPr/>
        </p:nvSpPr>
        <p:spPr>
          <a:xfrm>
            <a:off x="11013376" y="2955226"/>
            <a:ext cx="296037" cy="29603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1013376" y="300597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o</a:t>
            </a:r>
          </a:p>
        </p:txBody>
      </p:sp>
      <p:sp>
        <p:nvSpPr>
          <p:cNvPr id="36" name="Rectangle 35"/>
          <p:cNvSpPr/>
          <p:nvPr/>
        </p:nvSpPr>
        <p:spPr>
          <a:xfrm>
            <a:off x="11372850" y="289179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1795760" y="289179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12218670" y="289179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12641580" y="289179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13064490" y="289179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793224" y="345003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42" name="TextBox 41"/>
          <p:cNvSpPr txBox="1"/>
          <p:nvPr/>
        </p:nvSpPr>
        <p:spPr>
          <a:xfrm>
            <a:off x="1094994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2</a:t>
            </a:r>
          </a:p>
        </p:txBody>
      </p:sp>
      <p:sp>
        <p:nvSpPr>
          <p:cNvPr id="43" name="Rectangle 42"/>
          <p:cNvSpPr/>
          <p:nvPr/>
        </p:nvSpPr>
        <p:spPr>
          <a:xfrm>
            <a:off x="10104120" y="331470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10527030" y="331470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10949940" y="331470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1372850" y="331470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11795760" y="331470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12218670" y="331470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12641580" y="331470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13064490" y="331470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793224" y="387294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52" name="TextBox 51"/>
          <p:cNvSpPr txBox="1"/>
          <p:nvPr/>
        </p:nvSpPr>
        <p:spPr>
          <a:xfrm>
            <a:off x="1137285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3</a:t>
            </a:r>
          </a:p>
        </p:txBody>
      </p:sp>
      <p:sp>
        <p:nvSpPr>
          <p:cNvPr id="53" name="Rectangle 52"/>
          <p:cNvSpPr/>
          <p:nvPr/>
        </p:nvSpPr>
        <p:spPr>
          <a:xfrm>
            <a:off x="10104120" y="373761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10167556" y="3801046"/>
            <a:ext cx="296037" cy="29603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10167556" y="385179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o</a:t>
            </a:r>
          </a:p>
        </p:txBody>
      </p:sp>
      <p:sp>
        <p:nvSpPr>
          <p:cNvPr id="56" name="Rectangle 55"/>
          <p:cNvSpPr/>
          <p:nvPr/>
        </p:nvSpPr>
        <p:spPr>
          <a:xfrm>
            <a:off x="10527030" y="373761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10949940" y="373761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11013376" y="3801046"/>
            <a:ext cx="296037" cy="29603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1013376" y="385179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x</a:t>
            </a:r>
          </a:p>
        </p:txBody>
      </p:sp>
      <p:sp>
        <p:nvSpPr>
          <p:cNvPr id="60" name="Rectangle 59"/>
          <p:cNvSpPr/>
          <p:nvPr/>
        </p:nvSpPr>
        <p:spPr>
          <a:xfrm>
            <a:off x="11372850" y="373761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angle 60"/>
          <p:cNvSpPr/>
          <p:nvPr/>
        </p:nvSpPr>
        <p:spPr>
          <a:xfrm>
            <a:off x="11795760" y="373761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11859196" y="3801046"/>
            <a:ext cx="296037" cy="296037"/>
          </a:xfrm>
          <a:prstGeom prst="ellipse">
            <a:avLst/>
          </a:prstGeom>
          <a:solidFill>
            <a:srgbClr val="267A77"/>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1859196" y="385179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o</a:t>
            </a:r>
          </a:p>
        </p:txBody>
      </p:sp>
      <p:sp>
        <p:nvSpPr>
          <p:cNvPr id="64" name="Rectangle 63"/>
          <p:cNvSpPr/>
          <p:nvPr/>
        </p:nvSpPr>
        <p:spPr>
          <a:xfrm>
            <a:off x="12218670" y="373761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Rectangle 64"/>
          <p:cNvSpPr/>
          <p:nvPr/>
        </p:nvSpPr>
        <p:spPr>
          <a:xfrm>
            <a:off x="12641580" y="373761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13064490" y="373761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9793224" y="429585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8" name="TextBox 67"/>
          <p:cNvSpPr txBox="1"/>
          <p:nvPr/>
        </p:nvSpPr>
        <p:spPr>
          <a:xfrm>
            <a:off x="1179576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4</a:t>
            </a:r>
          </a:p>
        </p:txBody>
      </p:sp>
      <p:sp>
        <p:nvSpPr>
          <p:cNvPr id="69" name="Rectangle 68"/>
          <p:cNvSpPr/>
          <p:nvPr/>
        </p:nvSpPr>
        <p:spPr>
          <a:xfrm>
            <a:off x="10104120" y="416052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10527030" y="416052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10590466" y="4223956"/>
            <a:ext cx="296037" cy="29603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10590466" y="427470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x</a:t>
            </a:r>
          </a:p>
        </p:txBody>
      </p:sp>
      <p:sp>
        <p:nvSpPr>
          <p:cNvPr id="73" name="Rectangle 72"/>
          <p:cNvSpPr/>
          <p:nvPr/>
        </p:nvSpPr>
        <p:spPr>
          <a:xfrm>
            <a:off x="10949940" y="416052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11372850" y="416052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11795760" y="416052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ectangle 75"/>
          <p:cNvSpPr/>
          <p:nvPr/>
        </p:nvSpPr>
        <p:spPr>
          <a:xfrm>
            <a:off x="12218670" y="416052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12641580" y="416052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13064490" y="416052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9793224" y="471876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80" name="TextBox 79"/>
          <p:cNvSpPr txBox="1"/>
          <p:nvPr/>
        </p:nvSpPr>
        <p:spPr>
          <a:xfrm>
            <a:off x="1221867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5</a:t>
            </a:r>
          </a:p>
        </p:txBody>
      </p:sp>
      <p:sp>
        <p:nvSpPr>
          <p:cNvPr id="81" name="Rectangle 80"/>
          <p:cNvSpPr/>
          <p:nvPr/>
        </p:nvSpPr>
        <p:spPr>
          <a:xfrm>
            <a:off x="10104120" y="458343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10527030" y="458343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ectangle 82"/>
          <p:cNvSpPr/>
          <p:nvPr/>
        </p:nvSpPr>
        <p:spPr>
          <a:xfrm>
            <a:off x="10949940" y="458343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11013376" y="4646866"/>
            <a:ext cx="296037" cy="296037"/>
          </a:xfrm>
          <a:prstGeom prst="ellipse">
            <a:avLst/>
          </a:prstGeom>
          <a:solidFill>
            <a:srgbClr val="B95646"/>
          </a:solidFill>
          <a:ln w="1524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11013376" y="4697615"/>
            <a:ext cx="296037" cy="190309"/>
          </a:xfrm>
          <a:prstGeom prst="rect">
            <a:avLst/>
          </a:prstGeom>
          <a:noFill/>
        </p:spPr>
        <p:txBody>
          <a:bodyPr wrap="square" lIns="0" rIns="0" tIns="0" bIns="0">
            <a:noAutofit/>
          </a:bodyPr>
          <a:lstStyle/>
          <a:p>
            <a:pPr algn="ctr">
              <a:lnSpc>
                <a:spcPct val="107000"/>
              </a:lnSpc>
              <a:spcBef>
                <a:spcPts val="0"/>
              </a:spcBef>
              <a:spcAft>
                <a:spcPts val="500"/>
              </a:spcAft>
              <a:defRPr sz="1400" b="1">
                <a:solidFill>
                  <a:srgbClr val="FFFFFF"/>
                </a:solidFill>
                <a:latin typeface="Arial"/>
              </a:defRPr>
            </a:pPr>
            <a:r>
              <a:t>x</a:t>
            </a:r>
          </a:p>
        </p:txBody>
      </p:sp>
      <p:sp>
        <p:nvSpPr>
          <p:cNvPr id="86" name="Rectangle 85"/>
          <p:cNvSpPr/>
          <p:nvPr/>
        </p:nvSpPr>
        <p:spPr>
          <a:xfrm>
            <a:off x="11372850" y="458343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1795760" y="458343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12218670" y="458343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12641580" y="458343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13064490" y="458343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9793224" y="514167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92" name="TextBox 91"/>
          <p:cNvSpPr txBox="1"/>
          <p:nvPr/>
        </p:nvSpPr>
        <p:spPr>
          <a:xfrm>
            <a:off x="1264158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6</a:t>
            </a:r>
          </a:p>
        </p:txBody>
      </p:sp>
      <p:sp>
        <p:nvSpPr>
          <p:cNvPr id="93" name="Rectangle 92"/>
          <p:cNvSpPr/>
          <p:nvPr/>
        </p:nvSpPr>
        <p:spPr>
          <a:xfrm>
            <a:off x="10104120" y="500634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angle 93"/>
          <p:cNvSpPr/>
          <p:nvPr/>
        </p:nvSpPr>
        <p:spPr>
          <a:xfrm>
            <a:off x="10527030" y="500634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ectangle 94"/>
          <p:cNvSpPr/>
          <p:nvPr/>
        </p:nvSpPr>
        <p:spPr>
          <a:xfrm>
            <a:off x="10949940" y="500634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11372850" y="500634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11795760" y="500634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12218670" y="500634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12641580" y="500634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13064490" y="500634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9793224" y="5564581"/>
            <a:ext cx="228600" cy="256032"/>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102" name="TextBox 101"/>
          <p:cNvSpPr txBox="1"/>
          <p:nvPr/>
        </p:nvSpPr>
        <p:spPr>
          <a:xfrm>
            <a:off x="13064490" y="2167128"/>
            <a:ext cx="422910" cy="228600"/>
          </a:xfrm>
          <a:prstGeom prst="rect">
            <a:avLst/>
          </a:prstGeom>
          <a:noFill/>
        </p:spPr>
        <p:txBody>
          <a:bodyPr wrap="square" lIns="0" rIns="0" tIns="0" bIns="0">
            <a:noAutofit/>
          </a:bodyPr>
          <a:lstStyle/>
          <a:p>
            <a:pPr algn="ctr">
              <a:lnSpc>
                <a:spcPct val="107000"/>
              </a:lnSpc>
              <a:spcBef>
                <a:spcPts val="0"/>
              </a:spcBef>
              <a:spcAft>
                <a:spcPts val="500"/>
              </a:spcAft>
              <a:defRPr sz="1200" b="0">
                <a:solidFill>
                  <a:srgbClr val="52645C"/>
                </a:solidFill>
                <a:latin typeface="Arial"/>
              </a:defRPr>
            </a:pPr>
            <a:r>
              <a:t>7</a:t>
            </a:r>
          </a:p>
        </p:txBody>
      </p:sp>
      <p:sp>
        <p:nvSpPr>
          <p:cNvPr id="103" name="Rectangle 102"/>
          <p:cNvSpPr/>
          <p:nvPr/>
        </p:nvSpPr>
        <p:spPr>
          <a:xfrm>
            <a:off x="10104120" y="542925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10527030" y="542925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Rectangle 104"/>
          <p:cNvSpPr/>
          <p:nvPr/>
        </p:nvSpPr>
        <p:spPr>
          <a:xfrm>
            <a:off x="10949940" y="542925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Rectangle 105"/>
          <p:cNvSpPr/>
          <p:nvPr/>
        </p:nvSpPr>
        <p:spPr>
          <a:xfrm>
            <a:off x="11372850" y="542925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11795760" y="542925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angle 107"/>
          <p:cNvSpPr/>
          <p:nvPr/>
        </p:nvSpPr>
        <p:spPr>
          <a:xfrm>
            <a:off x="12218670" y="542925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angle 108"/>
          <p:cNvSpPr/>
          <p:nvPr/>
        </p:nvSpPr>
        <p:spPr>
          <a:xfrm>
            <a:off x="12641580" y="5429250"/>
            <a:ext cx="422910" cy="422910"/>
          </a:xfrm>
          <a:prstGeom prst="rect">
            <a:avLst/>
          </a:prstGeom>
          <a:solidFill>
            <a:srgbClr val="4965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Rectangle 109"/>
          <p:cNvSpPr/>
          <p:nvPr/>
        </p:nvSpPr>
        <p:spPr>
          <a:xfrm>
            <a:off x="13064490" y="5429250"/>
            <a:ext cx="422910" cy="422910"/>
          </a:xfrm>
          <a:prstGeom prst="rect">
            <a:avLst/>
          </a:prstGeom>
          <a:solidFill>
            <a:srgbClr val="EAEA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angle 110"/>
          <p:cNvSpPr/>
          <p:nvPr/>
        </p:nvSpPr>
        <p:spPr>
          <a:xfrm>
            <a:off x="11400282" y="3342132"/>
            <a:ext cx="368046" cy="368046"/>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angle 111"/>
          <p:cNvSpPr/>
          <p:nvPr/>
        </p:nvSpPr>
        <p:spPr>
          <a:xfrm>
            <a:off x="11823192" y="3765042"/>
            <a:ext cx="368046" cy="368046"/>
          </a:xfrm>
          <a:prstGeom prst="rect">
            <a:avLst/>
          </a:prstGeom>
          <a:noFill/>
          <a:ln w="38100">
            <a:solidFill>
              <a:srgbClr val="F7CF6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11584305" y="3526155"/>
            <a:ext cx="422910" cy="422910"/>
          </a:xfrm>
          <a:prstGeom prst="line">
            <a:avLst/>
          </a:prstGeom>
          <a:ln w="38100">
            <a:solidFill>
              <a:srgbClr val="F9D778"/>
            </a:solidFill>
            <a:tailEnd type="triangle"/>
          </a:ln>
          <a:effectLst/>
        </p:spPr>
        <p:style>
          <a:lnRef idx="2">
            <a:schemeClr val="accent1"/>
          </a:lnRef>
          <a:fillRef idx="0">
            <a:schemeClr val="accent1"/>
          </a:fillRef>
          <a:effectRef idx="0">
            <a:schemeClr val="accent1"/>
          </a:effectRef>
          <a:fontRef idx="minor">
            <a:schemeClr val="tx1"/>
          </a:fontRef>
        </p:style>
      </p:cxnSp>
      <p:sp>
        <p:nvSpPr>
          <p:cNvPr id="114" name="TextBox 113"/>
          <p:cNvSpPr txBox="1"/>
          <p:nvPr/>
        </p:nvSpPr>
        <p:spPr>
          <a:xfrm>
            <a:off x="9784080" y="6153912"/>
            <a:ext cx="4023360" cy="457200"/>
          </a:xfrm>
          <a:prstGeom prst="rect">
            <a:avLst/>
          </a:prstGeom>
          <a:noFill/>
        </p:spPr>
        <p:txBody>
          <a:bodyPr wrap="square" lIns="0" rIns="0" tIns="0" bIns="0">
            <a:noAutofit/>
          </a:bodyPr>
          <a:lstStyle/>
          <a:p>
            <a:pPr algn="ctr">
              <a:lnSpc>
                <a:spcPct val="107000"/>
              </a:lnSpc>
              <a:spcBef>
                <a:spcPts val="0"/>
              </a:spcBef>
              <a:spcAft>
                <a:spcPts val="500"/>
              </a:spcAft>
              <a:defRPr sz="2400" b="1">
                <a:solidFill>
                  <a:srgbClr val="27604A"/>
                </a:solidFill>
                <a:latin typeface="Arial"/>
              </a:defRPr>
            </a:pPr>
            <a:r>
              <a:t>O (2,3) → (3,4)</a:t>
            </a:r>
          </a:p>
        </p:txBody>
      </p:sp>
      <p:sp>
        <p:nvSpPr>
          <p:cNvPr id="115" name="Rounded Rectangle 114"/>
          <p:cNvSpPr/>
          <p:nvPr/>
        </p:nvSpPr>
        <p:spPr>
          <a:xfrm>
            <a:off x="777240" y="5989320"/>
            <a:ext cx="8138160" cy="594360"/>
          </a:xfrm>
          <a:prstGeom prst="roundRect">
            <a:avLst>
              <a:gd name="adj" fmla="val 11000"/>
            </a:avLst>
          </a:prstGeom>
          <a:solidFill>
            <a:srgbClr val="EFF3EE"/>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extBox 115"/>
          <p:cNvSpPr txBox="1"/>
          <p:nvPr/>
        </p:nvSpPr>
        <p:spPr>
          <a:xfrm>
            <a:off x="960120" y="6117336"/>
            <a:ext cx="7772400" cy="320040"/>
          </a:xfrm>
          <a:prstGeom prst="rect">
            <a:avLst/>
          </a:prstGeom>
          <a:noFill/>
        </p:spPr>
        <p:txBody>
          <a:bodyPr wrap="square" lIns="0" rIns="0" tIns="0" bIns="0">
            <a:noAutofit/>
          </a:bodyPr>
          <a:lstStyle/>
          <a:p>
            <a:pPr algn="l">
              <a:lnSpc>
                <a:spcPct val="107000"/>
              </a:lnSpc>
              <a:spcBef>
                <a:spcPts val="0"/>
              </a:spcBef>
              <a:spcAft>
                <a:spcPts val="500"/>
              </a:spcAft>
              <a:defRPr sz="2300" b="0">
                <a:solidFill>
                  <a:srgbClr val="17362D"/>
                </a:solidFill>
                <a:latin typeface="Consolas"/>
              </a:defRPr>
            </a:pPr>
            <a:r>
              <a:t>return bestMove;  // B</a:t>
            </a:r>
          </a:p>
        </p:txBody>
      </p:sp>
      <p:sp>
        <p:nvSpPr>
          <p:cNvPr id="117" name="Rounded Rectangle 116"/>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extBox 117"/>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The search returns a move. DamkaFX then calls applyLocalMove() to play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REAL BOARD · DEPTH 3</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The complete tree — and the work actually saved</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15</a:t>
            </a:r>
          </a:p>
        </p:txBody>
      </p:sp>
      <p:cxnSp>
        <p:nvCxnSpPr>
          <p:cNvPr id="9" name="Connector 8"/>
          <p:cNvCxnSpPr/>
          <p:nvPr/>
        </p:nvCxnSpPr>
        <p:spPr>
          <a:xfrm flipH="1">
            <a:off x="2743200" y="2441448"/>
            <a:ext cx="4389120" cy="4846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7132320" y="2441448"/>
            <a:ext cx="2286000" cy="4846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H="1">
            <a:off x="1508760" y="3538728"/>
            <a:ext cx="1234440" cy="57607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2743200" y="3538728"/>
            <a:ext cx="1234439" cy="57607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H="1">
            <a:off x="6766560" y="3538728"/>
            <a:ext cx="2651760" cy="57607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9418320" y="3538728"/>
            <a:ext cx="228600" cy="57607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9418320" y="3538728"/>
            <a:ext cx="3063240" cy="57607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822960" y="4727448"/>
            <a:ext cx="68580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1508760" y="4727448"/>
            <a:ext cx="64008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3977639" y="4727448"/>
            <a:ext cx="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H="1">
            <a:off x="5806440" y="4727448"/>
            <a:ext cx="96012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6766560" y="4727448"/>
            <a:ext cx="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6766560" y="4727448"/>
            <a:ext cx="960119"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8686800" y="4727448"/>
            <a:ext cx="96012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9646920" y="4727448"/>
            <a:ext cx="0" cy="713232"/>
          </a:xfrm>
          <a:prstGeom prst="line">
            <a:avLst/>
          </a:prstGeom>
          <a:ln w="16510">
            <a:solidFill>
              <a:srgbClr val="D3DED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9646920" y="4727448"/>
            <a:ext cx="960120" cy="713232"/>
          </a:xfrm>
          <a:prstGeom prst="line">
            <a:avLst/>
          </a:prstGeom>
          <a:ln w="16510">
            <a:solidFill>
              <a:srgbClr val="D3DED6"/>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H="1">
            <a:off x="11887200" y="4727448"/>
            <a:ext cx="594360" cy="713232"/>
          </a:xfrm>
          <a:prstGeom prst="line">
            <a:avLst/>
          </a:prstGeom>
          <a:ln w="25400">
            <a:solidFill>
              <a:srgbClr val="27604A"/>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12481560" y="4727448"/>
            <a:ext cx="640080" cy="713232"/>
          </a:xfrm>
          <a:prstGeom prst="line">
            <a:avLst/>
          </a:prstGeom>
          <a:ln w="1651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5532120" y="1828800"/>
            <a:ext cx="3200400" cy="594360"/>
          </a:xfrm>
          <a:prstGeom prst="roundRect">
            <a:avLst>
              <a:gd name="adj" fmla="val 11000"/>
            </a:avLst>
          </a:prstGeom>
          <a:solidFill>
            <a:srgbClr val="E7F0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568696" y="1938528"/>
            <a:ext cx="3127248" cy="457200"/>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27604A"/>
                </a:solidFill>
                <a:latin typeface="Arial"/>
              </a:defRPr>
            </a:pPr>
            <a:r>
              <a:t>findBestMove · depth 3</a:t>
            </a:r>
          </a:p>
        </p:txBody>
      </p:sp>
      <p:sp>
        <p:nvSpPr>
          <p:cNvPr id="29" name="Rounded Rectangle 28"/>
          <p:cNvSpPr/>
          <p:nvPr/>
        </p:nvSpPr>
        <p:spPr>
          <a:xfrm>
            <a:off x="1463040" y="2926080"/>
            <a:ext cx="2560320" cy="594360"/>
          </a:xfrm>
          <a:prstGeom prst="roundRect">
            <a:avLst>
              <a:gd name="adj" fmla="val 11000"/>
            </a:avLst>
          </a:prstGeom>
          <a:solidFill>
            <a:srgbClr val="E7F0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499616" y="3035808"/>
            <a:ext cx="248716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B95646"/>
                </a:solidFill>
                <a:latin typeface="Arial"/>
              </a:defRPr>
            </a:pPr>
            <a:r>
              <a:t>A · MIN → -3</a:t>
            </a:r>
          </a:p>
        </p:txBody>
      </p:sp>
      <p:sp>
        <p:nvSpPr>
          <p:cNvPr id="31" name="Rounded Rectangle 30"/>
          <p:cNvSpPr/>
          <p:nvPr/>
        </p:nvSpPr>
        <p:spPr>
          <a:xfrm>
            <a:off x="8138160" y="2926080"/>
            <a:ext cx="2560320" cy="594360"/>
          </a:xfrm>
          <a:prstGeom prst="roundRect">
            <a:avLst>
              <a:gd name="adj" fmla="val 11000"/>
            </a:avLst>
          </a:prstGeom>
          <a:solidFill>
            <a:srgbClr val="E7F0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174736" y="3035808"/>
            <a:ext cx="248716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B95646"/>
                </a:solidFill>
                <a:latin typeface="Arial"/>
              </a:defRPr>
            </a:pPr>
            <a:r>
              <a:t>B · MIN → 0</a:t>
            </a:r>
          </a:p>
        </p:txBody>
      </p:sp>
      <p:sp>
        <p:nvSpPr>
          <p:cNvPr id="33" name="Rounded Rectangle 32"/>
          <p:cNvSpPr/>
          <p:nvPr/>
        </p:nvSpPr>
        <p:spPr>
          <a:xfrm>
            <a:off x="411479" y="4114800"/>
            <a:ext cx="2194560" cy="594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8055" y="4224528"/>
            <a:ext cx="212140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67A77"/>
                </a:solidFill>
                <a:latin typeface="Arial"/>
              </a:defRPr>
            </a:pPr>
            <a:r>
              <a:t>A1 · MAX → -3</a:t>
            </a:r>
          </a:p>
        </p:txBody>
      </p:sp>
      <p:sp>
        <p:nvSpPr>
          <p:cNvPr id="35" name="Rounded Rectangle 34"/>
          <p:cNvSpPr/>
          <p:nvPr/>
        </p:nvSpPr>
        <p:spPr>
          <a:xfrm>
            <a:off x="2880359" y="4114800"/>
            <a:ext cx="2194560" cy="594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2916935" y="4224528"/>
            <a:ext cx="212140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67A77"/>
                </a:solidFill>
                <a:latin typeface="Arial"/>
              </a:defRPr>
            </a:pPr>
            <a:r>
              <a:t>A2 · MAX → -3</a:t>
            </a:r>
          </a:p>
        </p:txBody>
      </p:sp>
      <p:sp>
        <p:nvSpPr>
          <p:cNvPr id="37" name="Rounded Rectangle 36"/>
          <p:cNvSpPr/>
          <p:nvPr/>
        </p:nvSpPr>
        <p:spPr>
          <a:xfrm>
            <a:off x="5669280" y="4114800"/>
            <a:ext cx="2194560" cy="594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705856" y="4224528"/>
            <a:ext cx="212140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67A77"/>
                </a:solidFill>
                <a:latin typeface="Arial"/>
              </a:defRPr>
            </a:pPr>
            <a:r>
              <a:t>B1 · MAX → 0</a:t>
            </a:r>
          </a:p>
        </p:txBody>
      </p:sp>
      <p:sp>
        <p:nvSpPr>
          <p:cNvPr id="39" name="Rounded Rectangle 38"/>
          <p:cNvSpPr/>
          <p:nvPr/>
        </p:nvSpPr>
        <p:spPr>
          <a:xfrm>
            <a:off x="8549640" y="4114800"/>
            <a:ext cx="2194560" cy="594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586216" y="4224528"/>
            <a:ext cx="212140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67A77"/>
                </a:solidFill>
                <a:latin typeface="Arial"/>
              </a:defRPr>
            </a:pPr>
            <a:r>
              <a:t>B2 · MAX → ≥ 0</a:t>
            </a:r>
          </a:p>
        </p:txBody>
      </p:sp>
      <p:sp>
        <p:nvSpPr>
          <p:cNvPr id="41" name="Rounded Rectangle 40"/>
          <p:cNvSpPr/>
          <p:nvPr/>
        </p:nvSpPr>
        <p:spPr>
          <a:xfrm>
            <a:off x="11384280" y="4114800"/>
            <a:ext cx="2194560" cy="59436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1420856" y="4224528"/>
            <a:ext cx="2121408" cy="457200"/>
          </a:xfrm>
          <a:prstGeom prst="rect">
            <a:avLst/>
          </a:prstGeom>
          <a:noFill/>
        </p:spPr>
        <p:txBody>
          <a:bodyPr wrap="square" lIns="0" rIns="0" tIns="0" bIns="0">
            <a:noAutofit/>
          </a:bodyPr>
          <a:lstStyle/>
          <a:p>
            <a:pPr algn="ctr">
              <a:lnSpc>
                <a:spcPct val="107000"/>
              </a:lnSpc>
              <a:spcBef>
                <a:spcPts val="0"/>
              </a:spcBef>
              <a:spcAft>
                <a:spcPts val="500"/>
              </a:spcAft>
              <a:defRPr sz="1900" b="1">
                <a:solidFill>
                  <a:srgbClr val="267A77"/>
                </a:solidFill>
                <a:latin typeface="Arial"/>
              </a:defRPr>
            </a:pPr>
            <a:r>
              <a:t>B3 · MAX → ≥ 3</a:t>
            </a:r>
          </a:p>
        </p:txBody>
      </p:sp>
      <p:sp>
        <p:nvSpPr>
          <p:cNvPr id="43" name="Rounded Rectangle 42"/>
          <p:cNvSpPr/>
          <p:nvPr/>
        </p:nvSpPr>
        <p:spPr>
          <a:xfrm>
            <a:off x="38862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2519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A1a</a:t>
            </a:r>
          </a:p>
          <a:p>
            <a:pPr algn="ctr">
              <a:lnSpc>
                <a:spcPct val="107000"/>
              </a:lnSpc>
              <a:spcBef>
                <a:spcPts val="0"/>
              </a:spcBef>
              <a:spcAft>
                <a:spcPts val="500"/>
              </a:spcAft>
              <a:defRPr sz="1600" b="1">
                <a:solidFill>
                  <a:srgbClr val="17362D"/>
                </a:solidFill>
                <a:latin typeface="Arial"/>
              </a:defRPr>
            </a:pPr>
            <a:r>
              <a:t>-3</a:t>
            </a:r>
          </a:p>
        </p:txBody>
      </p:sp>
      <p:sp>
        <p:nvSpPr>
          <p:cNvPr id="45" name="Rounded Rectangle 44"/>
          <p:cNvSpPr/>
          <p:nvPr/>
        </p:nvSpPr>
        <p:spPr>
          <a:xfrm>
            <a:off x="171450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175107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A1b</a:t>
            </a:r>
          </a:p>
          <a:p>
            <a:pPr algn="ctr">
              <a:lnSpc>
                <a:spcPct val="107000"/>
              </a:lnSpc>
              <a:spcBef>
                <a:spcPts val="0"/>
              </a:spcBef>
              <a:spcAft>
                <a:spcPts val="500"/>
              </a:spcAft>
              <a:defRPr sz="1600" b="1">
                <a:solidFill>
                  <a:srgbClr val="17362D"/>
                </a:solidFill>
                <a:latin typeface="Arial"/>
              </a:defRPr>
            </a:pPr>
            <a:r>
              <a:t>-3</a:t>
            </a:r>
          </a:p>
        </p:txBody>
      </p:sp>
      <p:sp>
        <p:nvSpPr>
          <p:cNvPr id="47" name="Rounded Rectangle 46"/>
          <p:cNvSpPr/>
          <p:nvPr/>
        </p:nvSpPr>
        <p:spPr>
          <a:xfrm>
            <a:off x="3543299"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3579875"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A2a</a:t>
            </a:r>
          </a:p>
          <a:p>
            <a:pPr algn="ctr">
              <a:lnSpc>
                <a:spcPct val="107000"/>
              </a:lnSpc>
              <a:spcBef>
                <a:spcPts val="0"/>
              </a:spcBef>
              <a:spcAft>
                <a:spcPts val="500"/>
              </a:spcAft>
              <a:defRPr sz="1600" b="1">
                <a:solidFill>
                  <a:srgbClr val="17362D"/>
                </a:solidFill>
                <a:latin typeface="Arial"/>
              </a:defRPr>
            </a:pPr>
            <a:r>
              <a:t>-3</a:t>
            </a:r>
          </a:p>
        </p:txBody>
      </p:sp>
      <p:sp>
        <p:nvSpPr>
          <p:cNvPr id="49" name="Rounded Rectangle 48"/>
          <p:cNvSpPr/>
          <p:nvPr/>
        </p:nvSpPr>
        <p:spPr>
          <a:xfrm>
            <a:off x="537210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40867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B1a</a:t>
            </a:r>
          </a:p>
          <a:p>
            <a:pPr algn="ctr">
              <a:lnSpc>
                <a:spcPct val="107000"/>
              </a:lnSpc>
              <a:spcBef>
                <a:spcPts val="0"/>
              </a:spcBef>
              <a:spcAft>
                <a:spcPts val="500"/>
              </a:spcAft>
              <a:defRPr sz="1600" b="1">
                <a:solidFill>
                  <a:srgbClr val="17362D"/>
                </a:solidFill>
                <a:latin typeface="Arial"/>
              </a:defRPr>
            </a:pPr>
            <a:r>
              <a:t>0</a:t>
            </a:r>
          </a:p>
        </p:txBody>
      </p:sp>
      <p:sp>
        <p:nvSpPr>
          <p:cNvPr id="51" name="Rounded Rectangle 50"/>
          <p:cNvSpPr/>
          <p:nvPr/>
        </p:nvSpPr>
        <p:spPr>
          <a:xfrm>
            <a:off x="633222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36879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B1b</a:t>
            </a:r>
          </a:p>
          <a:p>
            <a:pPr algn="ctr">
              <a:lnSpc>
                <a:spcPct val="107000"/>
              </a:lnSpc>
              <a:spcBef>
                <a:spcPts val="0"/>
              </a:spcBef>
              <a:spcAft>
                <a:spcPts val="500"/>
              </a:spcAft>
              <a:defRPr sz="1600" b="1">
                <a:solidFill>
                  <a:srgbClr val="17362D"/>
                </a:solidFill>
                <a:latin typeface="Arial"/>
              </a:defRPr>
            </a:pPr>
            <a:r>
              <a:t>0</a:t>
            </a:r>
          </a:p>
        </p:txBody>
      </p:sp>
      <p:sp>
        <p:nvSpPr>
          <p:cNvPr id="53" name="Rounded Rectangle 52"/>
          <p:cNvSpPr/>
          <p:nvPr/>
        </p:nvSpPr>
        <p:spPr>
          <a:xfrm>
            <a:off x="729234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328915"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B1c</a:t>
            </a:r>
          </a:p>
          <a:p>
            <a:pPr algn="ctr">
              <a:lnSpc>
                <a:spcPct val="107000"/>
              </a:lnSpc>
              <a:spcBef>
                <a:spcPts val="0"/>
              </a:spcBef>
              <a:spcAft>
                <a:spcPts val="500"/>
              </a:spcAft>
              <a:defRPr sz="1600" b="1">
                <a:solidFill>
                  <a:srgbClr val="17362D"/>
                </a:solidFill>
                <a:latin typeface="Arial"/>
              </a:defRPr>
            </a:pPr>
            <a:r>
              <a:t>0</a:t>
            </a:r>
          </a:p>
        </p:txBody>
      </p:sp>
      <p:sp>
        <p:nvSpPr>
          <p:cNvPr id="55" name="Rounded Rectangle 54"/>
          <p:cNvSpPr/>
          <p:nvPr/>
        </p:nvSpPr>
        <p:spPr>
          <a:xfrm>
            <a:off x="825246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828903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B2a</a:t>
            </a:r>
          </a:p>
          <a:p>
            <a:pPr algn="ctr">
              <a:lnSpc>
                <a:spcPct val="107000"/>
              </a:lnSpc>
              <a:spcBef>
                <a:spcPts val="0"/>
              </a:spcBef>
              <a:spcAft>
                <a:spcPts val="500"/>
              </a:spcAft>
              <a:defRPr sz="1600" b="1">
                <a:solidFill>
                  <a:srgbClr val="17362D"/>
                </a:solidFill>
                <a:latin typeface="Arial"/>
              </a:defRPr>
            </a:pPr>
            <a:r>
              <a:t>0</a:t>
            </a:r>
          </a:p>
        </p:txBody>
      </p:sp>
      <p:sp>
        <p:nvSpPr>
          <p:cNvPr id="57" name="Rounded Rectangle 56"/>
          <p:cNvSpPr/>
          <p:nvPr/>
        </p:nvSpPr>
        <p:spPr>
          <a:xfrm>
            <a:off x="9212580" y="5440680"/>
            <a:ext cx="868680" cy="704088"/>
          </a:xfrm>
          <a:prstGeom prst="roundRect">
            <a:avLst>
              <a:gd name="adj" fmla="val 11000"/>
            </a:avLst>
          </a:prstGeom>
          <a:solidFill>
            <a:srgbClr val="E9ED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924915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809087"/>
                </a:solidFill>
                <a:latin typeface="Arial"/>
              </a:defRPr>
            </a:pPr>
            <a:r>
              <a:t>B2b</a:t>
            </a:r>
          </a:p>
          <a:p>
            <a:pPr algn="ctr">
              <a:lnSpc>
                <a:spcPct val="107000"/>
              </a:lnSpc>
              <a:spcBef>
                <a:spcPts val="0"/>
              </a:spcBef>
              <a:spcAft>
                <a:spcPts val="500"/>
              </a:spcAft>
              <a:defRPr sz="1600" b="1">
                <a:solidFill>
                  <a:srgbClr val="809087"/>
                </a:solidFill>
                <a:latin typeface="Arial"/>
              </a:defRPr>
            </a:pPr>
            <a:r>
              <a:t>SKIP</a:t>
            </a:r>
          </a:p>
        </p:txBody>
      </p:sp>
      <p:sp>
        <p:nvSpPr>
          <p:cNvPr id="59" name="Rounded Rectangle 58"/>
          <p:cNvSpPr/>
          <p:nvPr/>
        </p:nvSpPr>
        <p:spPr>
          <a:xfrm>
            <a:off x="10172700" y="5440680"/>
            <a:ext cx="868680" cy="704088"/>
          </a:xfrm>
          <a:prstGeom prst="roundRect">
            <a:avLst>
              <a:gd name="adj" fmla="val 11000"/>
            </a:avLst>
          </a:prstGeom>
          <a:solidFill>
            <a:srgbClr val="E9ED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1020927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809087"/>
                </a:solidFill>
                <a:latin typeface="Arial"/>
              </a:defRPr>
            </a:pPr>
            <a:r>
              <a:t>B2c</a:t>
            </a:r>
          </a:p>
          <a:p>
            <a:pPr algn="ctr">
              <a:lnSpc>
                <a:spcPct val="107000"/>
              </a:lnSpc>
              <a:spcBef>
                <a:spcPts val="0"/>
              </a:spcBef>
              <a:spcAft>
                <a:spcPts val="500"/>
              </a:spcAft>
              <a:defRPr sz="1600" b="1">
                <a:solidFill>
                  <a:srgbClr val="809087"/>
                </a:solidFill>
                <a:latin typeface="Arial"/>
              </a:defRPr>
            </a:pPr>
            <a:r>
              <a:t>SKIP</a:t>
            </a:r>
          </a:p>
        </p:txBody>
      </p:sp>
      <p:sp>
        <p:nvSpPr>
          <p:cNvPr id="61" name="Rounded Rectangle 60"/>
          <p:cNvSpPr/>
          <p:nvPr/>
        </p:nvSpPr>
        <p:spPr>
          <a:xfrm>
            <a:off x="11452860" y="5440680"/>
            <a:ext cx="868680" cy="704088"/>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1148943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17362D"/>
                </a:solidFill>
                <a:latin typeface="Arial"/>
              </a:defRPr>
            </a:pPr>
            <a:r>
              <a:t>B3a</a:t>
            </a:r>
          </a:p>
          <a:p>
            <a:pPr algn="ctr">
              <a:lnSpc>
                <a:spcPct val="107000"/>
              </a:lnSpc>
              <a:spcBef>
                <a:spcPts val="0"/>
              </a:spcBef>
              <a:spcAft>
                <a:spcPts val="500"/>
              </a:spcAft>
              <a:defRPr sz="1600" b="1">
                <a:solidFill>
                  <a:srgbClr val="17362D"/>
                </a:solidFill>
                <a:latin typeface="Arial"/>
              </a:defRPr>
            </a:pPr>
            <a:r>
              <a:t>3</a:t>
            </a:r>
          </a:p>
        </p:txBody>
      </p:sp>
      <p:sp>
        <p:nvSpPr>
          <p:cNvPr id="63" name="Rounded Rectangle 62"/>
          <p:cNvSpPr/>
          <p:nvPr/>
        </p:nvSpPr>
        <p:spPr>
          <a:xfrm>
            <a:off x="12687300" y="5440680"/>
            <a:ext cx="868680" cy="704088"/>
          </a:xfrm>
          <a:prstGeom prst="roundRect">
            <a:avLst>
              <a:gd name="adj" fmla="val 11000"/>
            </a:avLst>
          </a:prstGeom>
          <a:solidFill>
            <a:srgbClr val="E9EDE9"/>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2723876" y="5550408"/>
            <a:ext cx="795528" cy="566928"/>
          </a:xfrm>
          <a:prstGeom prst="rect">
            <a:avLst/>
          </a:prstGeom>
          <a:noFill/>
        </p:spPr>
        <p:txBody>
          <a:bodyPr wrap="square" lIns="0" rIns="0" tIns="0" bIns="0">
            <a:noAutofit/>
          </a:bodyPr>
          <a:lstStyle/>
          <a:p>
            <a:pPr algn="ctr">
              <a:lnSpc>
                <a:spcPct val="107000"/>
              </a:lnSpc>
              <a:spcBef>
                <a:spcPts val="0"/>
              </a:spcBef>
              <a:spcAft>
                <a:spcPts val="500"/>
              </a:spcAft>
              <a:defRPr sz="1600" b="1">
                <a:solidFill>
                  <a:srgbClr val="809087"/>
                </a:solidFill>
                <a:latin typeface="Arial"/>
              </a:defRPr>
            </a:pPr>
            <a:r>
              <a:t>B3b</a:t>
            </a:r>
          </a:p>
          <a:p>
            <a:pPr algn="ctr">
              <a:lnSpc>
                <a:spcPct val="107000"/>
              </a:lnSpc>
              <a:spcBef>
                <a:spcPts val="0"/>
              </a:spcBef>
              <a:spcAft>
                <a:spcPts val="500"/>
              </a:spcAft>
              <a:defRPr sz="1600" b="1">
                <a:solidFill>
                  <a:srgbClr val="809087"/>
                </a:solidFill>
                <a:latin typeface="Arial"/>
              </a:defRPr>
            </a:pPr>
            <a:r>
              <a:t>SKIP</a:t>
            </a:r>
          </a:p>
        </p:txBody>
      </p:sp>
      <p:sp>
        <p:nvSpPr>
          <p:cNvPr id="65" name="TextBox 64"/>
          <p:cNvSpPr txBox="1"/>
          <p:nvPr/>
        </p:nvSpPr>
        <p:spPr>
          <a:xfrm>
            <a:off x="731520" y="6437376"/>
            <a:ext cx="13167360" cy="438912"/>
          </a:xfrm>
          <a:prstGeom prst="rect">
            <a:avLst/>
          </a:prstGeom>
          <a:noFill/>
        </p:spPr>
        <p:txBody>
          <a:bodyPr wrap="square" lIns="0" rIns="0" tIns="0" bIns="0">
            <a:noAutofit/>
          </a:bodyPr>
          <a:lstStyle/>
          <a:p>
            <a:pPr algn="l">
              <a:lnSpc>
                <a:spcPct val="107000"/>
              </a:lnSpc>
              <a:spcBef>
                <a:spcPts val="0"/>
              </a:spcBef>
              <a:spcAft>
                <a:spcPts val="500"/>
              </a:spcAft>
              <a:defRPr sz="2400" b="1">
                <a:solidFill>
                  <a:srgbClr val="17362D"/>
                </a:solidFill>
                <a:latin typeface="Arial"/>
              </a:defRPr>
            </a:pPr>
            <a:r>
              <a:t>Without pruning: 18 minimax calls · 11 leaf evaluations</a:t>
            </a:r>
          </a:p>
        </p:txBody>
      </p:sp>
      <p:sp>
        <p:nvSpPr>
          <p:cNvPr id="66" name="Rounded Rectangle 65"/>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300" b="1">
                <a:solidFill>
                  <a:srgbClr val="27604A"/>
                </a:solidFill>
                <a:latin typeface="Arial"/>
              </a:defRPr>
            </a:pPr>
            <a:r>
              <a:t>With alpha–beta: 15 calls · 8 leaf evaluations · the same chosen move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5"/>
        </a:solidFill>
        <a:effectLst/>
      </p:bgPr>
    </p:bg>
    <p:spTree>
      <p:nvGrpSpPr>
        <p:cNvPr id="1" name=""/>
        <p:cNvGrpSpPr/>
        <p:nvPr/>
      </p:nvGrpSpPr>
      <p:grpSpPr/>
      <p:sp>
        <p:nvSpPr>
          <p:cNvPr id="2" name="TextBox 1"/>
          <p:cNvSpPr txBox="1"/>
          <p:nvPr/>
        </p:nvSpPr>
        <p:spPr>
          <a:xfrm>
            <a:off x="457200" y="210312"/>
            <a:ext cx="7315200" cy="274320"/>
          </a:xfrm>
          <a:prstGeom prst="rect">
            <a:avLst/>
          </a:prstGeom>
          <a:noFill/>
        </p:spPr>
        <p:txBody>
          <a:bodyPr wrap="square" lIns="0" rIns="0" tIns="0" bIns="0">
            <a:noAutofit/>
          </a:bodyPr>
          <a:lstStyle/>
          <a:p>
            <a:pPr algn="l">
              <a:lnSpc>
                <a:spcPct val="107000"/>
              </a:lnSpc>
              <a:spcBef>
                <a:spcPts val="0"/>
              </a:spcBef>
              <a:spcAft>
                <a:spcPts val="500"/>
              </a:spcAft>
              <a:defRPr sz="1400" b="1">
                <a:solidFill>
                  <a:srgbClr val="27604A"/>
                </a:solidFill>
                <a:latin typeface="Arial"/>
              </a:defRPr>
            </a:pPr>
            <a:r>
              <a:t>DAMKA / LEARN THE BOT</a:t>
            </a:r>
          </a:p>
        </p:txBody>
      </p:sp>
      <p:sp>
        <p:nvSpPr>
          <p:cNvPr id="3" name="TextBox 2"/>
          <p:cNvSpPr txBox="1"/>
          <p:nvPr/>
        </p:nvSpPr>
        <p:spPr>
          <a:xfrm>
            <a:off x="8229600" y="210312"/>
            <a:ext cx="5943600" cy="274320"/>
          </a:xfrm>
          <a:prstGeom prst="rect">
            <a:avLst/>
          </a:prstGeom>
          <a:noFill/>
        </p:spPr>
        <p:txBody>
          <a:bodyPr wrap="square" lIns="0" rIns="0" tIns="0" bIns="0">
            <a:noAutofit/>
          </a:bodyPr>
          <a:lstStyle/>
          <a:p>
            <a:pPr algn="r">
              <a:lnSpc>
                <a:spcPct val="107000"/>
              </a:lnSpc>
              <a:spcBef>
                <a:spcPts val="0"/>
              </a:spcBef>
              <a:spcAft>
                <a:spcPts val="500"/>
              </a:spcAft>
              <a:defRPr sz="1300" b="0">
                <a:solidFill>
                  <a:srgbClr val="52645C"/>
                </a:solidFill>
                <a:latin typeface="Arial"/>
              </a:defRPr>
            </a:pPr>
            <a:r>
              <a:t>USE THE INTERACTIVE WALKTHROUGH</a:t>
            </a:r>
          </a:p>
        </p:txBody>
      </p:sp>
      <p:cxnSp>
        <p:nvCxnSpPr>
          <p:cNvPr id="4" name="Connector 3"/>
          <p:cNvCxnSpPr/>
          <p:nvPr/>
        </p:nvCxnSpPr>
        <p:spPr>
          <a:xfrm>
            <a:off x="457200" y="685800"/>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457200" y="932688"/>
            <a:ext cx="13716000" cy="694944"/>
          </a:xfrm>
          <a:prstGeom prst="rect">
            <a:avLst/>
          </a:prstGeom>
          <a:noFill/>
        </p:spPr>
        <p:txBody>
          <a:bodyPr wrap="square" lIns="0" rIns="0" tIns="0" bIns="0">
            <a:noAutofit/>
          </a:bodyPr>
          <a:lstStyle/>
          <a:p>
            <a:pPr algn="l">
              <a:lnSpc>
                <a:spcPct val="107000"/>
              </a:lnSpc>
              <a:spcBef>
                <a:spcPts val="0"/>
              </a:spcBef>
              <a:spcAft>
                <a:spcPts val="500"/>
              </a:spcAft>
              <a:defRPr sz="3500" b="1">
                <a:solidFill>
                  <a:srgbClr val="17362D"/>
                </a:solidFill>
                <a:latin typeface="Arial"/>
              </a:defRPr>
            </a:pPr>
            <a:r>
              <a:t>Now take control of the calls yourself</a:t>
            </a:r>
          </a:p>
        </p:txBody>
      </p:sp>
      <p:cxnSp>
        <p:nvCxnSpPr>
          <p:cNvPr id="6" name="Connector 5"/>
          <p:cNvCxnSpPr/>
          <p:nvPr/>
        </p:nvCxnSpPr>
        <p:spPr>
          <a:xfrm>
            <a:off x="457200" y="7754112"/>
            <a:ext cx="13716000" cy="0"/>
          </a:xfrm>
          <a:prstGeom prst="line">
            <a:avLst/>
          </a:prstGeom>
          <a:ln w="12700">
            <a:solidFill>
              <a:srgbClr val="D3DED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457200" y="7909560"/>
            <a:ext cx="12618720" cy="219456"/>
          </a:xfrm>
          <a:prstGeom prst="rect">
            <a:avLst/>
          </a:prstGeom>
          <a:noFill/>
        </p:spPr>
        <p:txBody>
          <a:bodyPr wrap="square" lIns="0" rIns="0" tIns="0" bIns="0">
            <a:noAutofit/>
          </a:bodyPr>
          <a:lstStyle/>
          <a:p>
            <a:pPr algn="l">
              <a:lnSpc>
                <a:spcPct val="107000"/>
              </a:lnSpc>
              <a:spcBef>
                <a:spcPts val="0"/>
              </a:spcBef>
              <a:spcAft>
                <a:spcPts val="500"/>
              </a:spcAft>
              <a:defRPr sz="1300" b="0">
                <a:solidFill>
                  <a:srgbClr val="52645C"/>
                </a:solidFill>
                <a:latin typeface="Arial"/>
              </a:defRPr>
            </a:pPr>
            <a:r>
              <a:t>All search moves are simulated. Every score is from the BOT’s perspective.</a:t>
            </a:r>
          </a:p>
        </p:txBody>
      </p:sp>
      <p:sp>
        <p:nvSpPr>
          <p:cNvPr id="8" name="TextBox 7"/>
          <p:cNvSpPr txBox="1"/>
          <p:nvPr/>
        </p:nvSpPr>
        <p:spPr>
          <a:xfrm>
            <a:off x="13441680" y="7882127"/>
            <a:ext cx="731520" cy="274320"/>
          </a:xfrm>
          <a:prstGeom prst="rect">
            <a:avLst/>
          </a:prstGeom>
          <a:noFill/>
        </p:spPr>
        <p:txBody>
          <a:bodyPr wrap="square" lIns="0" rIns="0" tIns="0" bIns="0">
            <a:noAutofit/>
          </a:bodyPr>
          <a:lstStyle/>
          <a:p>
            <a:pPr algn="r">
              <a:lnSpc>
                <a:spcPct val="107000"/>
              </a:lnSpc>
              <a:spcBef>
                <a:spcPts val="0"/>
              </a:spcBef>
              <a:spcAft>
                <a:spcPts val="500"/>
              </a:spcAft>
              <a:defRPr sz="1500" b="1">
                <a:solidFill>
                  <a:srgbClr val="52645C"/>
                </a:solidFill>
                <a:latin typeface="Arial"/>
              </a:defRPr>
            </a:pPr>
            <a:r>
              <a:t>16</a:t>
            </a:r>
          </a:p>
        </p:txBody>
      </p:sp>
      <p:sp>
        <p:nvSpPr>
          <p:cNvPr id="9" name="Rounded Rectangle 8"/>
          <p:cNvSpPr/>
          <p:nvPr/>
        </p:nvSpPr>
        <p:spPr>
          <a:xfrm>
            <a:off x="640080" y="1965960"/>
            <a:ext cx="6492240" cy="164592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67512" y="2103120"/>
            <a:ext cx="41148" cy="1371600"/>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41247" y="2112264"/>
            <a:ext cx="6089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1 · Open the HTML file</a:t>
            </a:r>
          </a:p>
        </p:txBody>
      </p:sp>
      <p:sp>
        <p:nvSpPr>
          <p:cNvPr id="12" name="TextBox 11"/>
          <p:cNvSpPr txBox="1"/>
          <p:nvPr/>
        </p:nvSpPr>
        <p:spPr>
          <a:xfrm>
            <a:off x="841247" y="2624328"/>
            <a:ext cx="6089903" cy="896112"/>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Arial"/>
              </a:defRPr>
            </a:pPr>
            <a:r>
              <a:t>Use Next / Previous, or the arrow keys.</a:t>
            </a:r>
          </a:p>
          <a:p>
            <a:pPr algn="l">
              <a:lnSpc>
                <a:spcPct val="107000"/>
              </a:lnSpc>
              <a:spcBef>
                <a:spcPts val="0"/>
              </a:spcBef>
              <a:spcAft>
                <a:spcPts val="500"/>
              </a:spcAft>
              <a:defRPr sz="2200" b="0">
                <a:solidFill>
                  <a:srgbClr val="17362D"/>
                </a:solidFill>
                <a:latin typeface="Arial"/>
              </a:defRPr>
            </a:pPr>
            <a:r>
              <a:t>“Jump to strict cutoff” replays H3.</a:t>
            </a:r>
          </a:p>
        </p:txBody>
      </p:sp>
      <p:sp>
        <p:nvSpPr>
          <p:cNvPr id="13" name="Rounded Rectangle 12"/>
          <p:cNvSpPr/>
          <p:nvPr/>
        </p:nvSpPr>
        <p:spPr>
          <a:xfrm>
            <a:off x="7452360" y="1965960"/>
            <a:ext cx="6492240" cy="164592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479792" y="2103120"/>
            <a:ext cx="41148" cy="137160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653528" y="2112264"/>
            <a:ext cx="6089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67A77"/>
                </a:solidFill>
                <a:latin typeface="Arial"/>
              </a:defRPr>
            </a:pPr>
            <a:r>
              <a:t>2 · Before every Next</a:t>
            </a:r>
          </a:p>
        </p:txBody>
      </p:sp>
      <p:sp>
        <p:nvSpPr>
          <p:cNvPr id="16" name="TextBox 15"/>
          <p:cNvSpPr txBox="1"/>
          <p:nvPr/>
        </p:nvSpPr>
        <p:spPr>
          <a:xfrm>
            <a:off x="7653528" y="2624328"/>
            <a:ext cx="6089903" cy="896112"/>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Arial"/>
              </a:defRPr>
            </a:pPr>
            <a:r>
              <a:t>Predict: which call is active?</a:t>
            </a:r>
          </a:p>
          <a:p>
            <a:pPr algn="l">
              <a:lnSpc>
                <a:spcPct val="107000"/>
              </a:lnSpc>
              <a:spcBef>
                <a:spcPts val="0"/>
              </a:spcBef>
              <a:spcAft>
                <a:spcPts val="500"/>
              </a:spcAft>
              <a:defRPr sz="2200" b="0">
                <a:solidFill>
                  <a:srgbClr val="17362D"/>
                </a:solidFill>
                <a:latin typeface="Arial"/>
              </a:defRPr>
            </a:pPr>
            <a:r>
              <a:t>What returns? Which variable changes?</a:t>
            </a:r>
          </a:p>
        </p:txBody>
      </p:sp>
      <p:sp>
        <p:nvSpPr>
          <p:cNvPr id="17" name="Rounded Rectangle 16"/>
          <p:cNvSpPr/>
          <p:nvPr/>
        </p:nvSpPr>
        <p:spPr>
          <a:xfrm>
            <a:off x="640080" y="3977639"/>
            <a:ext cx="6492240" cy="164592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67512" y="4114800"/>
            <a:ext cx="41148" cy="1371600"/>
          </a:xfrm>
          <a:prstGeom prst="rect">
            <a:avLst/>
          </a:prstGeom>
          <a:solidFill>
            <a:srgbClr val="2760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1247" y="4123944"/>
            <a:ext cx="6089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7604A"/>
                </a:solidFill>
                <a:latin typeface="Arial"/>
              </a:defRPr>
            </a:pPr>
            <a:r>
              <a:t>3 · Watch the call stack</a:t>
            </a:r>
          </a:p>
        </p:txBody>
      </p:sp>
      <p:sp>
        <p:nvSpPr>
          <p:cNvPr id="20" name="TextBox 19"/>
          <p:cNvSpPr txBox="1"/>
          <p:nvPr/>
        </p:nvSpPr>
        <p:spPr>
          <a:xfrm>
            <a:off x="841247" y="4636007"/>
            <a:ext cx="6089903" cy="896112"/>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Arial"/>
              </a:defRPr>
            </a:pPr>
            <a:r>
              <a:t>A parent waits while its child runs.</a:t>
            </a:r>
          </a:p>
          <a:p>
            <a:pPr algn="l">
              <a:lnSpc>
                <a:spcPct val="107000"/>
              </a:lnSpc>
              <a:spcBef>
                <a:spcPts val="0"/>
              </a:spcBef>
              <a:spcAft>
                <a:spcPts val="500"/>
              </a:spcAft>
              <a:defRPr sz="2200" b="0">
                <a:solidFill>
                  <a:srgbClr val="17362D"/>
                </a:solidFill>
                <a:latin typeface="Arial"/>
              </a:defRPr>
            </a:pPr>
            <a:r>
              <a:t>Each box owns its depth, alpha and beta.</a:t>
            </a:r>
          </a:p>
        </p:txBody>
      </p:sp>
      <p:sp>
        <p:nvSpPr>
          <p:cNvPr id="21" name="Rounded Rectangle 20"/>
          <p:cNvSpPr/>
          <p:nvPr/>
        </p:nvSpPr>
        <p:spPr>
          <a:xfrm>
            <a:off x="7452360" y="3977639"/>
            <a:ext cx="6492240" cy="1645920"/>
          </a:xfrm>
          <a:prstGeom prst="roundRect">
            <a:avLst>
              <a:gd name="adj" fmla="val 11000"/>
            </a:avLst>
          </a:prstGeom>
          <a:solidFill>
            <a:srgbClr val="FFFFFF"/>
          </a:solidFill>
          <a:ln w="15240">
            <a:solidFill>
              <a:srgbClr val="D3DE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479792" y="4114800"/>
            <a:ext cx="41148" cy="1371600"/>
          </a:xfrm>
          <a:prstGeom prst="rect">
            <a:avLst/>
          </a:prstGeom>
          <a:solidFill>
            <a:srgbClr val="267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653528" y="4123944"/>
            <a:ext cx="6089903" cy="384048"/>
          </a:xfrm>
          <a:prstGeom prst="rect">
            <a:avLst/>
          </a:prstGeom>
          <a:noFill/>
        </p:spPr>
        <p:txBody>
          <a:bodyPr wrap="square" lIns="0" rIns="0" tIns="0" bIns="0">
            <a:noAutofit/>
          </a:bodyPr>
          <a:lstStyle/>
          <a:p>
            <a:pPr algn="l">
              <a:lnSpc>
                <a:spcPct val="107000"/>
              </a:lnSpc>
              <a:spcBef>
                <a:spcPts val="0"/>
              </a:spcBef>
              <a:spcAft>
                <a:spcPts val="500"/>
              </a:spcAft>
              <a:defRPr sz="2200" b="1">
                <a:solidFill>
                  <a:srgbClr val="267A77"/>
                </a:solidFill>
                <a:latin typeface="Arial"/>
              </a:defRPr>
            </a:pPr>
            <a:r>
              <a:t>4 · Read your Java code</a:t>
            </a:r>
          </a:p>
        </p:txBody>
      </p:sp>
      <p:sp>
        <p:nvSpPr>
          <p:cNvPr id="24" name="TextBox 23"/>
          <p:cNvSpPr txBox="1"/>
          <p:nvPr/>
        </p:nvSpPr>
        <p:spPr>
          <a:xfrm>
            <a:off x="7653528" y="4636007"/>
            <a:ext cx="6089903" cy="896112"/>
          </a:xfrm>
          <a:prstGeom prst="rect">
            <a:avLst/>
          </a:prstGeom>
          <a:noFill/>
        </p:spPr>
        <p:txBody>
          <a:bodyPr wrap="square" lIns="0" rIns="0" tIns="0" bIns="0">
            <a:noAutofit/>
          </a:bodyPr>
          <a:lstStyle/>
          <a:p>
            <a:pPr algn="l">
              <a:lnSpc>
                <a:spcPct val="107000"/>
              </a:lnSpc>
              <a:spcBef>
                <a:spcPts val="0"/>
              </a:spcBef>
              <a:spcAft>
                <a:spcPts val="500"/>
              </a:spcAft>
              <a:defRPr sz="2200" b="0">
                <a:solidFill>
                  <a:srgbClr val="17362D"/>
                </a:solidFill>
                <a:latin typeface="Arial"/>
              </a:defRPr>
            </a:pPr>
            <a:r>
              <a:t>BotPlayer.findBestMove() → minimax()</a:t>
            </a:r>
          </a:p>
          <a:p>
            <a:pPr algn="l">
              <a:lnSpc>
                <a:spcPct val="107000"/>
              </a:lnSpc>
              <a:spcBef>
                <a:spcPts val="0"/>
              </a:spcBef>
              <a:spcAft>
                <a:spcPts val="500"/>
              </a:spcAft>
              <a:defRPr sz="2200" b="0">
                <a:solidFill>
                  <a:srgbClr val="17362D"/>
                </a:solidFill>
                <a:latin typeface="Arial"/>
              </a:defRPr>
            </a:pPr>
            <a:r>
              <a:t>Game.move() → currentPlayer</a:t>
            </a:r>
          </a:p>
        </p:txBody>
      </p:sp>
      <p:sp>
        <p:nvSpPr>
          <p:cNvPr id="25" name="TextBox 24"/>
          <p:cNvSpPr txBox="1"/>
          <p:nvPr/>
        </p:nvSpPr>
        <p:spPr>
          <a:xfrm>
            <a:off x="777240" y="6144768"/>
            <a:ext cx="13075920" cy="548640"/>
          </a:xfrm>
          <a:prstGeom prst="rect">
            <a:avLst/>
          </a:prstGeom>
          <a:noFill/>
        </p:spPr>
        <p:txBody>
          <a:bodyPr wrap="square" lIns="0" rIns="0" tIns="0" bIns="0">
            <a:noAutofit/>
          </a:bodyPr>
          <a:lstStyle/>
          <a:p>
            <a:pPr algn="l">
              <a:lnSpc>
                <a:spcPct val="107000"/>
              </a:lnSpc>
              <a:spcBef>
                <a:spcPts val="0"/>
              </a:spcBef>
              <a:spcAft>
                <a:spcPts val="500"/>
              </a:spcAft>
              <a:defRPr sz="2700" b="1">
                <a:solidFill>
                  <a:srgbClr val="17362D"/>
                </a:solidFill>
                <a:latin typeface="Arial"/>
              </a:defRPr>
            </a:pPr>
            <a:r>
              <a:t>At H3: alpha = ?     beta = ?     why can B3b be skipped?</a:t>
            </a:r>
          </a:p>
        </p:txBody>
      </p:sp>
      <p:sp>
        <p:nvSpPr>
          <p:cNvPr id="26" name="Rounded Rectangle 25"/>
          <p:cNvSpPr/>
          <p:nvPr/>
        </p:nvSpPr>
        <p:spPr>
          <a:xfrm>
            <a:off x="594360" y="6839712"/>
            <a:ext cx="13441680" cy="603504"/>
          </a:xfrm>
          <a:prstGeom prst="roundRect">
            <a:avLst>
              <a:gd name="adj" fmla="val 11000"/>
            </a:avLst>
          </a:prstGeom>
          <a:solidFill>
            <a:srgbClr val="E7F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6967728"/>
            <a:ext cx="13075919" cy="420624"/>
          </a:xfrm>
          <a:prstGeom prst="rect">
            <a:avLst/>
          </a:prstGeom>
          <a:noFill/>
        </p:spPr>
        <p:txBody>
          <a:bodyPr wrap="square" lIns="0" rIns="0" tIns="0" bIns="0">
            <a:noAutofit/>
          </a:bodyPr>
          <a:lstStyle/>
          <a:p>
            <a:pPr algn="l">
              <a:lnSpc>
                <a:spcPct val="107000"/>
              </a:lnSpc>
              <a:spcBef>
                <a:spcPts val="0"/>
              </a:spcBef>
              <a:spcAft>
                <a:spcPts val="500"/>
              </a:spcAft>
              <a:defRPr sz="2000" b="1">
                <a:solidFill>
                  <a:srgbClr val="27604A"/>
                </a:solidFill>
                <a:latin typeface="Arial"/>
              </a:defRPr>
            </a:pPr>
            <a:r>
              <a:t>Answer: alpha 3, beta 0. H3’s MAX cannot fall below 3; H1 already gives the human 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Minimax and Alpha–Beta — A Real Damka Board</dc:title>
  <dc:subject>Self-study walkthrough using the project’s actual Game and BotPlayer</dc:subject>
  <dc:creator>Damka learning presentation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