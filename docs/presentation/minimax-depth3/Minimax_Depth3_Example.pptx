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Lst>
  <p:sldSz cx="14630400" cy="82296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Depth 3 counts the first BOT move simulated in findBestMove, followed by two recursive moves. Every score is from the BOT perspective. Begin with the eight bottom scores. The last BOT calls return MAX values 6, 3, 9, 0. The HUMAN calls return MIN values 3 for A and 0 for B. findBestMove compares those returned values and returns move A. Follow the gold path A/H2/Reply2, but explain that only A is executed now. The other moves are simulated on copied Game objects. Illustrative material scores, not a legal-board trace. Assumes alternating turns and no earlier winner. In actual capture chains the same player may continue; game.getCurrentPlayer() determines MIN/MAX. Alpha-beta causes no cutoffs with these values and this move order.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table to show each complete three-move path separately. Reply 1/Reply 2 name local options within their own branch. Scores are evaluated at depth 0, rather than added along the path. For A: final BOT calls return 6 and 3; HUMAN returns 3. For B: final BOT calls return 9 and 0; HUMAN returns 0. The wrapper findBestMove tracks bestScore and bestMove and returns A because 3 &gt; 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4"/>
        </a:solidFill>
        <a:effectLst/>
      </p:bgPr>
    </p:bg>
    <p:spTree>
      <p:nvGrpSpPr>
        <p:cNvPr id="1" name=""/>
        <p:cNvGrpSpPr/>
        <p:nvPr/>
      </p:nvGrpSpPr>
      <p:grpSpPr/>
      <p:sp>
        <p:nvSpPr>
          <p:cNvPr id="2" name="TextBox 1"/>
          <p:cNvSpPr txBox="1"/>
          <p:nvPr/>
        </p:nvSpPr>
        <p:spPr>
          <a:xfrm>
            <a:off x="548640" y="329184"/>
            <a:ext cx="13533120" cy="585216"/>
          </a:xfrm>
          <a:prstGeom prst="rect">
            <a:avLst/>
          </a:prstGeom>
          <a:noFill/>
        </p:spPr>
        <p:txBody>
          <a:bodyPr wrap="none" lIns="0" rIns="0" tIns="0" bIns="0" anchor="ctr">
            <a:spAutoFit/>
          </a:bodyPr>
          <a:lstStyle/>
          <a:p>
            <a:pPr algn="ctr">
              <a:defRPr sz="3400" b="1">
                <a:solidFill>
                  <a:srgbClr val="17382D"/>
                </a:solidFill>
                <a:latin typeface="Arial"/>
              </a:defRPr>
            </a:pPr>
            <a:r>
              <a:t>Minimax · Depth 3</a:t>
            </a:r>
          </a:p>
        </p:txBody>
      </p:sp>
      <p:cxnSp>
        <p:nvCxnSpPr>
          <p:cNvPr id="3" name="Connector 2"/>
          <p:cNvCxnSpPr/>
          <p:nvPr/>
        </p:nvCxnSpPr>
        <p:spPr>
          <a:xfrm flipV="1">
            <a:off x="3749039" y="2404872"/>
            <a:ext cx="2834641" cy="777240"/>
          </a:xfrm>
          <a:prstGeom prst="line">
            <a:avLst/>
          </a:prstGeom>
          <a:ln w="38100">
            <a:solidFill>
              <a:srgbClr val="936600"/>
            </a:solidFill>
            <a:tailEnd type="triangle"/>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965960" y="4233672"/>
            <a:ext cx="1188719" cy="868680"/>
          </a:xfrm>
          <a:prstGeom prst="line">
            <a:avLst/>
          </a:prstGeom>
          <a:ln w="22860">
            <a:solidFill>
              <a:srgbClr val="C9D4CC"/>
            </a:solidFill>
            <a:tailEnd type="triangle"/>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188719" y="6153912"/>
            <a:ext cx="384049" cy="868680"/>
          </a:xfrm>
          <a:prstGeom prst="line">
            <a:avLst/>
          </a:prstGeom>
          <a:ln w="22860">
            <a:solidFill>
              <a:srgbClr val="C9D4CC"/>
            </a:solidFill>
            <a:tailEnd type="triangle"/>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H="1" flipV="1">
            <a:off x="2359152" y="6153912"/>
            <a:ext cx="384048" cy="868680"/>
          </a:xfrm>
          <a:prstGeom prst="line">
            <a:avLst/>
          </a:prstGeom>
          <a:ln w="22860">
            <a:solidFill>
              <a:srgbClr val="C9D4CC"/>
            </a:solidFill>
            <a:tailEnd type="triangle"/>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flipV="1">
            <a:off x="4343400" y="4233672"/>
            <a:ext cx="1188720" cy="868680"/>
          </a:xfrm>
          <a:prstGeom prst="line">
            <a:avLst/>
          </a:prstGeom>
          <a:ln w="38100">
            <a:solidFill>
              <a:srgbClr val="936600"/>
            </a:solidFill>
            <a:tailEnd type="triangle"/>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754880" y="6153912"/>
            <a:ext cx="384048" cy="868680"/>
          </a:xfrm>
          <a:prstGeom prst="line">
            <a:avLst/>
          </a:prstGeom>
          <a:ln w="22860">
            <a:solidFill>
              <a:srgbClr val="C9D4CC"/>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flipV="1">
            <a:off x="5925312" y="6153912"/>
            <a:ext cx="384047" cy="868680"/>
          </a:xfrm>
          <a:prstGeom prst="line">
            <a:avLst/>
          </a:prstGeom>
          <a:ln w="38100">
            <a:solidFill>
              <a:srgbClr val="936600"/>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flipV="1">
            <a:off x="8046720" y="2404872"/>
            <a:ext cx="2834640" cy="777240"/>
          </a:xfrm>
          <a:prstGeom prst="line">
            <a:avLst/>
          </a:prstGeom>
          <a:ln w="22860">
            <a:solidFill>
              <a:srgbClr val="C9D4CC"/>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9098280" y="4233672"/>
            <a:ext cx="1188720" cy="868680"/>
          </a:xfrm>
          <a:prstGeom prst="line">
            <a:avLst/>
          </a:prstGeom>
          <a:ln w="22860">
            <a:solidFill>
              <a:srgbClr val="C9D4CC"/>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8321040" y="6153912"/>
            <a:ext cx="384048" cy="868680"/>
          </a:xfrm>
          <a:prstGeom prst="line">
            <a:avLst/>
          </a:prstGeom>
          <a:ln w="22860">
            <a:solidFill>
              <a:srgbClr val="C9D4CC"/>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flipV="1">
            <a:off x="9491472" y="6153912"/>
            <a:ext cx="384047" cy="868680"/>
          </a:xfrm>
          <a:prstGeom prst="line">
            <a:avLst/>
          </a:prstGeom>
          <a:ln w="22860">
            <a:solidFill>
              <a:srgbClr val="C9D4CC"/>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flipV="1">
            <a:off x="11475720" y="4233672"/>
            <a:ext cx="1188720" cy="868680"/>
          </a:xfrm>
          <a:prstGeom prst="line">
            <a:avLst/>
          </a:prstGeom>
          <a:ln w="22860">
            <a:solidFill>
              <a:srgbClr val="C9D4CC"/>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11887200" y="6153912"/>
            <a:ext cx="384048" cy="868680"/>
          </a:xfrm>
          <a:prstGeom prst="line">
            <a:avLst/>
          </a:prstGeom>
          <a:ln w="22860">
            <a:solidFill>
              <a:srgbClr val="C9D4CC"/>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flipV="1">
            <a:off x="13057632" y="6153912"/>
            <a:ext cx="384048" cy="868680"/>
          </a:xfrm>
          <a:prstGeom prst="line">
            <a:avLst/>
          </a:prstGeom>
          <a:ln w="22860">
            <a:solidFill>
              <a:srgbClr val="C9D4CC"/>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349240" y="1353312"/>
            <a:ext cx="3931920" cy="1051560"/>
          </a:xfrm>
          <a:prstGeom prst="roundRect">
            <a:avLst>
              <a:gd name="adj" fmla="val 8000"/>
            </a:avLst>
          </a:prstGeom>
          <a:solidFill>
            <a:srgbClr val="FCEEE8"/>
          </a:solidFill>
          <a:ln w="31750">
            <a:solidFill>
              <a:srgbClr val="9366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58968" y="1490472"/>
            <a:ext cx="3712463" cy="310896"/>
          </a:xfrm>
          <a:prstGeom prst="rect">
            <a:avLst/>
          </a:prstGeom>
          <a:noFill/>
        </p:spPr>
        <p:txBody>
          <a:bodyPr wrap="none" lIns="0" rIns="0" tIns="0" bIns="0" anchor="ctr">
            <a:spAutoFit/>
          </a:bodyPr>
          <a:lstStyle/>
          <a:p>
            <a:pPr algn="ctr">
              <a:defRPr sz="2500" b="1">
                <a:solidFill>
                  <a:srgbClr val="9D3E32"/>
                </a:solidFill>
                <a:latin typeface="Arial"/>
              </a:defRPr>
            </a:pPr>
            <a:r>
              <a:t>BOT · choose A</a:t>
            </a:r>
          </a:p>
        </p:txBody>
      </p:sp>
      <p:sp>
        <p:nvSpPr>
          <p:cNvPr id="19" name="TextBox 18"/>
          <p:cNvSpPr txBox="1"/>
          <p:nvPr/>
        </p:nvSpPr>
        <p:spPr>
          <a:xfrm>
            <a:off x="5458968" y="1947672"/>
            <a:ext cx="3712463" cy="301752"/>
          </a:xfrm>
          <a:prstGeom prst="rect">
            <a:avLst/>
          </a:prstGeom>
          <a:noFill/>
        </p:spPr>
        <p:txBody>
          <a:bodyPr wrap="none" lIns="0" rIns="0" tIns="0" bIns="0" anchor="ctr">
            <a:spAutoFit/>
          </a:bodyPr>
          <a:lstStyle/>
          <a:p>
            <a:pPr algn="ctr">
              <a:defRPr sz="2700" b="1">
                <a:solidFill>
                  <a:srgbClr val="17382D"/>
                </a:solidFill>
                <a:latin typeface="Arial"/>
              </a:defRPr>
            </a:pPr>
            <a:r>
              <a:t>MAX(3, 0) = 3</a:t>
            </a:r>
          </a:p>
        </p:txBody>
      </p:sp>
      <p:sp>
        <p:nvSpPr>
          <p:cNvPr id="20" name="Rounded Rectangle 19"/>
          <p:cNvSpPr/>
          <p:nvPr/>
        </p:nvSpPr>
        <p:spPr>
          <a:xfrm>
            <a:off x="1783079" y="3182112"/>
            <a:ext cx="3931920" cy="1051560"/>
          </a:xfrm>
          <a:prstGeom prst="roundRect">
            <a:avLst>
              <a:gd name="adj" fmla="val 8000"/>
            </a:avLst>
          </a:prstGeom>
          <a:solidFill>
            <a:srgbClr val="E8F1E8"/>
          </a:solidFill>
          <a:ln w="29209">
            <a:solidFill>
              <a:srgbClr val="9366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892807" y="3319272"/>
            <a:ext cx="3712463" cy="292608"/>
          </a:xfrm>
          <a:prstGeom prst="rect">
            <a:avLst/>
          </a:prstGeom>
          <a:noFill/>
        </p:spPr>
        <p:txBody>
          <a:bodyPr wrap="none" lIns="0" rIns="0" tIns="0" bIns="0" anchor="ctr">
            <a:spAutoFit/>
          </a:bodyPr>
          <a:lstStyle/>
          <a:p>
            <a:pPr algn="ctr">
              <a:defRPr sz="2400" b="1">
                <a:solidFill>
                  <a:srgbClr val="245B43"/>
                </a:solidFill>
                <a:latin typeface="Arial"/>
              </a:defRPr>
            </a:pPr>
            <a:r>
              <a:t>HUMAN · after A</a:t>
            </a:r>
          </a:p>
        </p:txBody>
      </p:sp>
      <p:sp>
        <p:nvSpPr>
          <p:cNvPr id="22" name="TextBox 21"/>
          <p:cNvSpPr txBox="1"/>
          <p:nvPr/>
        </p:nvSpPr>
        <p:spPr>
          <a:xfrm>
            <a:off x="1892807" y="3776472"/>
            <a:ext cx="3712463" cy="301752"/>
          </a:xfrm>
          <a:prstGeom prst="rect">
            <a:avLst/>
          </a:prstGeom>
          <a:noFill/>
        </p:spPr>
        <p:txBody>
          <a:bodyPr wrap="none" lIns="0" rIns="0" tIns="0" bIns="0" anchor="ctr">
            <a:spAutoFit/>
          </a:bodyPr>
          <a:lstStyle/>
          <a:p>
            <a:pPr algn="ctr">
              <a:defRPr sz="2700" b="1">
                <a:solidFill>
                  <a:srgbClr val="245B43"/>
                </a:solidFill>
                <a:latin typeface="Arial"/>
              </a:defRPr>
            </a:pPr>
            <a:r>
              <a:t>MIN(6, 3) = 3</a:t>
            </a:r>
          </a:p>
        </p:txBody>
      </p:sp>
      <p:sp>
        <p:nvSpPr>
          <p:cNvPr id="23" name="Rounded Rectangle 22"/>
          <p:cNvSpPr/>
          <p:nvPr/>
        </p:nvSpPr>
        <p:spPr>
          <a:xfrm>
            <a:off x="457200" y="5102352"/>
            <a:ext cx="3017520" cy="1051560"/>
          </a:xfrm>
          <a:prstGeom prst="roundRect">
            <a:avLst>
              <a:gd name="adj" fmla="val 8000"/>
            </a:avLst>
          </a:prstGeom>
          <a:solidFill>
            <a:srgbClr val="FCEEE8"/>
          </a:solidFill>
          <a:ln w="12700">
            <a:solidFill>
              <a:srgbClr val="C9D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5239512"/>
            <a:ext cx="2834640" cy="292608"/>
          </a:xfrm>
          <a:prstGeom prst="rect">
            <a:avLst/>
          </a:prstGeom>
          <a:noFill/>
        </p:spPr>
        <p:txBody>
          <a:bodyPr wrap="none" lIns="0" rIns="0" tIns="0" bIns="0" anchor="ctr">
            <a:spAutoFit/>
          </a:bodyPr>
          <a:lstStyle/>
          <a:p>
            <a:pPr algn="ctr">
              <a:defRPr sz="2100" b="1">
                <a:solidFill>
                  <a:srgbClr val="9D3E32"/>
                </a:solidFill>
                <a:latin typeface="Arial"/>
              </a:defRPr>
            </a:pPr>
            <a:r>
              <a:t>BOT · after H1</a:t>
            </a:r>
          </a:p>
        </p:txBody>
      </p:sp>
      <p:sp>
        <p:nvSpPr>
          <p:cNvPr id="25" name="TextBox 24"/>
          <p:cNvSpPr txBox="1"/>
          <p:nvPr/>
        </p:nvSpPr>
        <p:spPr>
          <a:xfrm>
            <a:off x="548640" y="5696712"/>
            <a:ext cx="2834640" cy="292608"/>
          </a:xfrm>
          <a:prstGeom prst="rect">
            <a:avLst/>
          </a:prstGeom>
          <a:noFill/>
        </p:spPr>
        <p:txBody>
          <a:bodyPr wrap="none" lIns="0" rIns="0" tIns="0" bIns="0" anchor="ctr">
            <a:spAutoFit/>
          </a:bodyPr>
          <a:lstStyle/>
          <a:p>
            <a:pPr algn="ctr">
              <a:defRPr sz="2400" b="1">
                <a:solidFill>
                  <a:srgbClr val="9D3E32"/>
                </a:solidFill>
                <a:latin typeface="Arial"/>
              </a:defRPr>
            </a:pPr>
            <a:r>
              <a:t>MAX(3, 6) = 6</a:t>
            </a:r>
          </a:p>
        </p:txBody>
      </p:sp>
      <p:sp>
        <p:nvSpPr>
          <p:cNvPr id="26" name="Rounded Rectangle 25"/>
          <p:cNvSpPr/>
          <p:nvPr/>
        </p:nvSpPr>
        <p:spPr>
          <a:xfrm>
            <a:off x="594359" y="7022592"/>
            <a:ext cx="1188720" cy="822960"/>
          </a:xfrm>
          <a:prstGeom prst="roundRect">
            <a:avLst>
              <a:gd name="adj" fmla="val 8000"/>
            </a:avLst>
          </a:prstGeom>
          <a:solidFill>
            <a:srgbClr val="FFFFFF"/>
          </a:solidFill>
          <a:ln w="12700">
            <a:solidFill>
              <a:srgbClr val="C9D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79" y="7095744"/>
            <a:ext cx="1097280" cy="201168"/>
          </a:xfrm>
          <a:prstGeom prst="rect">
            <a:avLst/>
          </a:prstGeom>
          <a:noFill/>
        </p:spPr>
        <p:txBody>
          <a:bodyPr wrap="none" lIns="0" rIns="0" tIns="0" bIns="0" anchor="ctr">
            <a:spAutoFit/>
          </a:bodyPr>
          <a:lstStyle/>
          <a:p>
            <a:pPr algn="ctr">
              <a:defRPr sz="1500" b="0">
                <a:solidFill>
                  <a:srgbClr val="53665D"/>
                </a:solidFill>
                <a:latin typeface="Arial"/>
              </a:defRPr>
            </a:pPr>
            <a:r>
              <a:t>Reply 1</a:t>
            </a:r>
          </a:p>
        </p:txBody>
      </p:sp>
      <p:sp>
        <p:nvSpPr>
          <p:cNvPr id="28" name="TextBox 27"/>
          <p:cNvSpPr txBox="1"/>
          <p:nvPr/>
        </p:nvSpPr>
        <p:spPr>
          <a:xfrm>
            <a:off x="640079" y="7379208"/>
            <a:ext cx="1097280" cy="365760"/>
          </a:xfrm>
          <a:prstGeom prst="rect">
            <a:avLst/>
          </a:prstGeom>
          <a:noFill/>
        </p:spPr>
        <p:txBody>
          <a:bodyPr wrap="none" lIns="0" rIns="0" tIns="0" bIns="0" anchor="ctr">
            <a:spAutoFit/>
          </a:bodyPr>
          <a:lstStyle/>
          <a:p>
            <a:pPr algn="ctr">
              <a:defRPr sz="3200" b="1">
                <a:solidFill>
                  <a:srgbClr val="17382D"/>
                </a:solidFill>
                <a:latin typeface="Arial"/>
              </a:defRPr>
            </a:pPr>
            <a:r>
              <a:t>3</a:t>
            </a:r>
          </a:p>
        </p:txBody>
      </p:sp>
      <p:sp>
        <p:nvSpPr>
          <p:cNvPr id="29" name="Rounded Rectangle 28"/>
          <p:cNvSpPr/>
          <p:nvPr/>
        </p:nvSpPr>
        <p:spPr>
          <a:xfrm>
            <a:off x="2148840" y="7022592"/>
            <a:ext cx="1188720" cy="822960"/>
          </a:xfrm>
          <a:prstGeom prst="roundRect">
            <a:avLst>
              <a:gd name="adj" fmla="val 8000"/>
            </a:avLst>
          </a:prstGeom>
          <a:solidFill>
            <a:srgbClr val="FFFFFF"/>
          </a:solidFill>
          <a:ln w="12700">
            <a:solidFill>
              <a:srgbClr val="C9D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194560" y="7095744"/>
            <a:ext cx="1097280" cy="201168"/>
          </a:xfrm>
          <a:prstGeom prst="rect">
            <a:avLst/>
          </a:prstGeom>
          <a:noFill/>
        </p:spPr>
        <p:txBody>
          <a:bodyPr wrap="none" lIns="0" rIns="0" tIns="0" bIns="0" anchor="ctr">
            <a:spAutoFit/>
          </a:bodyPr>
          <a:lstStyle/>
          <a:p>
            <a:pPr algn="ctr">
              <a:defRPr sz="1500" b="0">
                <a:solidFill>
                  <a:srgbClr val="53665D"/>
                </a:solidFill>
                <a:latin typeface="Arial"/>
              </a:defRPr>
            </a:pPr>
            <a:r>
              <a:t>Reply 2</a:t>
            </a:r>
          </a:p>
        </p:txBody>
      </p:sp>
      <p:sp>
        <p:nvSpPr>
          <p:cNvPr id="31" name="TextBox 30"/>
          <p:cNvSpPr txBox="1"/>
          <p:nvPr/>
        </p:nvSpPr>
        <p:spPr>
          <a:xfrm>
            <a:off x="2194560" y="7379208"/>
            <a:ext cx="1097280" cy="365760"/>
          </a:xfrm>
          <a:prstGeom prst="rect">
            <a:avLst/>
          </a:prstGeom>
          <a:noFill/>
        </p:spPr>
        <p:txBody>
          <a:bodyPr wrap="none" lIns="0" rIns="0" tIns="0" bIns="0" anchor="ctr">
            <a:spAutoFit/>
          </a:bodyPr>
          <a:lstStyle/>
          <a:p>
            <a:pPr algn="ctr">
              <a:defRPr sz="3200" b="1">
                <a:solidFill>
                  <a:srgbClr val="17382D"/>
                </a:solidFill>
                <a:latin typeface="Arial"/>
              </a:defRPr>
            </a:pPr>
            <a:r>
              <a:t>6</a:t>
            </a:r>
          </a:p>
        </p:txBody>
      </p:sp>
      <p:sp>
        <p:nvSpPr>
          <p:cNvPr id="32" name="Rounded Rectangle 31"/>
          <p:cNvSpPr/>
          <p:nvPr/>
        </p:nvSpPr>
        <p:spPr>
          <a:xfrm>
            <a:off x="4023360" y="5102352"/>
            <a:ext cx="3017520" cy="1051560"/>
          </a:xfrm>
          <a:prstGeom prst="roundRect">
            <a:avLst>
              <a:gd name="adj" fmla="val 8000"/>
            </a:avLst>
          </a:prstGeom>
          <a:solidFill>
            <a:srgbClr val="FCEEE8"/>
          </a:solidFill>
          <a:ln w="29209">
            <a:solidFill>
              <a:srgbClr val="9366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14800" y="5239512"/>
            <a:ext cx="2834640" cy="292608"/>
          </a:xfrm>
          <a:prstGeom prst="rect">
            <a:avLst/>
          </a:prstGeom>
          <a:noFill/>
        </p:spPr>
        <p:txBody>
          <a:bodyPr wrap="none" lIns="0" rIns="0" tIns="0" bIns="0" anchor="ctr">
            <a:spAutoFit/>
          </a:bodyPr>
          <a:lstStyle/>
          <a:p>
            <a:pPr algn="ctr">
              <a:defRPr sz="2100" b="1">
                <a:solidFill>
                  <a:srgbClr val="9D3E32"/>
                </a:solidFill>
                <a:latin typeface="Arial"/>
              </a:defRPr>
            </a:pPr>
            <a:r>
              <a:t>BOT · after H2</a:t>
            </a:r>
          </a:p>
        </p:txBody>
      </p:sp>
      <p:sp>
        <p:nvSpPr>
          <p:cNvPr id="34" name="TextBox 33"/>
          <p:cNvSpPr txBox="1"/>
          <p:nvPr/>
        </p:nvSpPr>
        <p:spPr>
          <a:xfrm>
            <a:off x="4114800" y="5696712"/>
            <a:ext cx="2834640" cy="292608"/>
          </a:xfrm>
          <a:prstGeom prst="rect">
            <a:avLst/>
          </a:prstGeom>
          <a:noFill/>
        </p:spPr>
        <p:txBody>
          <a:bodyPr wrap="none" lIns="0" rIns="0" tIns="0" bIns="0" anchor="ctr">
            <a:spAutoFit/>
          </a:bodyPr>
          <a:lstStyle/>
          <a:p>
            <a:pPr algn="ctr">
              <a:defRPr sz="2400" b="1">
                <a:solidFill>
                  <a:srgbClr val="9D3E32"/>
                </a:solidFill>
                <a:latin typeface="Arial"/>
              </a:defRPr>
            </a:pPr>
            <a:r>
              <a:t>MAX(0, 3) = 3</a:t>
            </a:r>
          </a:p>
        </p:txBody>
      </p:sp>
      <p:sp>
        <p:nvSpPr>
          <p:cNvPr id="35" name="Rounded Rectangle 34"/>
          <p:cNvSpPr/>
          <p:nvPr/>
        </p:nvSpPr>
        <p:spPr>
          <a:xfrm>
            <a:off x="4160520" y="7022592"/>
            <a:ext cx="1188720" cy="822960"/>
          </a:xfrm>
          <a:prstGeom prst="roundRect">
            <a:avLst>
              <a:gd name="adj" fmla="val 8000"/>
            </a:avLst>
          </a:prstGeom>
          <a:solidFill>
            <a:srgbClr val="FFFFFF"/>
          </a:solidFill>
          <a:ln w="12700">
            <a:solidFill>
              <a:srgbClr val="C9D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206240" y="7095744"/>
            <a:ext cx="1097280" cy="201168"/>
          </a:xfrm>
          <a:prstGeom prst="rect">
            <a:avLst/>
          </a:prstGeom>
          <a:noFill/>
        </p:spPr>
        <p:txBody>
          <a:bodyPr wrap="none" lIns="0" rIns="0" tIns="0" bIns="0" anchor="ctr">
            <a:spAutoFit/>
          </a:bodyPr>
          <a:lstStyle/>
          <a:p>
            <a:pPr algn="ctr">
              <a:defRPr sz="1500" b="0">
                <a:solidFill>
                  <a:srgbClr val="53665D"/>
                </a:solidFill>
                <a:latin typeface="Arial"/>
              </a:defRPr>
            </a:pPr>
            <a:r>
              <a:t>Reply 1</a:t>
            </a:r>
          </a:p>
        </p:txBody>
      </p:sp>
      <p:sp>
        <p:nvSpPr>
          <p:cNvPr id="37" name="TextBox 36"/>
          <p:cNvSpPr txBox="1"/>
          <p:nvPr/>
        </p:nvSpPr>
        <p:spPr>
          <a:xfrm>
            <a:off x="4206240" y="7379208"/>
            <a:ext cx="1097280" cy="365760"/>
          </a:xfrm>
          <a:prstGeom prst="rect">
            <a:avLst/>
          </a:prstGeom>
          <a:noFill/>
        </p:spPr>
        <p:txBody>
          <a:bodyPr wrap="none" lIns="0" rIns="0" tIns="0" bIns="0" anchor="ctr">
            <a:spAutoFit/>
          </a:bodyPr>
          <a:lstStyle/>
          <a:p>
            <a:pPr algn="ctr">
              <a:defRPr sz="3200" b="1">
                <a:solidFill>
                  <a:srgbClr val="17382D"/>
                </a:solidFill>
                <a:latin typeface="Arial"/>
              </a:defRPr>
            </a:pPr>
            <a:r>
              <a:t>0</a:t>
            </a:r>
          </a:p>
        </p:txBody>
      </p:sp>
      <p:sp>
        <p:nvSpPr>
          <p:cNvPr id="38" name="Rounded Rectangle 37"/>
          <p:cNvSpPr/>
          <p:nvPr/>
        </p:nvSpPr>
        <p:spPr>
          <a:xfrm>
            <a:off x="5714999" y="7022592"/>
            <a:ext cx="1188720" cy="822960"/>
          </a:xfrm>
          <a:prstGeom prst="roundRect">
            <a:avLst>
              <a:gd name="adj" fmla="val 8000"/>
            </a:avLst>
          </a:prstGeom>
          <a:solidFill>
            <a:srgbClr val="FFF1BA"/>
          </a:solidFill>
          <a:ln w="29209">
            <a:solidFill>
              <a:srgbClr val="9366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760719" y="7095744"/>
            <a:ext cx="1097280" cy="201168"/>
          </a:xfrm>
          <a:prstGeom prst="rect">
            <a:avLst/>
          </a:prstGeom>
          <a:noFill/>
        </p:spPr>
        <p:txBody>
          <a:bodyPr wrap="none" lIns="0" rIns="0" tIns="0" bIns="0" anchor="ctr">
            <a:spAutoFit/>
          </a:bodyPr>
          <a:lstStyle/>
          <a:p>
            <a:pPr algn="ctr">
              <a:defRPr sz="1500" b="0">
                <a:solidFill>
                  <a:srgbClr val="53665D"/>
                </a:solidFill>
                <a:latin typeface="Arial"/>
              </a:defRPr>
            </a:pPr>
            <a:r>
              <a:t>Reply 2</a:t>
            </a:r>
          </a:p>
        </p:txBody>
      </p:sp>
      <p:sp>
        <p:nvSpPr>
          <p:cNvPr id="40" name="TextBox 39"/>
          <p:cNvSpPr txBox="1"/>
          <p:nvPr/>
        </p:nvSpPr>
        <p:spPr>
          <a:xfrm>
            <a:off x="5760719" y="7379208"/>
            <a:ext cx="1097280" cy="365760"/>
          </a:xfrm>
          <a:prstGeom prst="rect">
            <a:avLst/>
          </a:prstGeom>
          <a:noFill/>
        </p:spPr>
        <p:txBody>
          <a:bodyPr wrap="none" lIns="0" rIns="0" tIns="0" bIns="0" anchor="ctr">
            <a:spAutoFit/>
          </a:bodyPr>
          <a:lstStyle/>
          <a:p>
            <a:pPr algn="ctr">
              <a:defRPr sz="3200" b="1">
                <a:solidFill>
                  <a:srgbClr val="936600"/>
                </a:solidFill>
                <a:latin typeface="Arial"/>
              </a:defRPr>
            </a:pPr>
            <a:r>
              <a:t>3</a:t>
            </a:r>
          </a:p>
        </p:txBody>
      </p:sp>
      <p:sp>
        <p:nvSpPr>
          <p:cNvPr id="41" name="Rounded Rectangle 40"/>
          <p:cNvSpPr/>
          <p:nvPr/>
        </p:nvSpPr>
        <p:spPr>
          <a:xfrm>
            <a:off x="8915400" y="3182112"/>
            <a:ext cx="3931920" cy="1051560"/>
          </a:xfrm>
          <a:prstGeom prst="roundRect">
            <a:avLst>
              <a:gd name="adj" fmla="val 8000"/>
            </a:avLst>
          </a:prstGeom>
          <a:solidFill>
            <a:srgbClr val="E8F1E8"/>
          </a:solidFill>
          <a:ln w="12700">
            <a:solidFill>
              <a:srgbClr val="C9D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025128" y="3319272"/>
            <a:ext cx="3712463" cy="292608"/>
          </a:xfrm>
          <a:prstGeom prst="rect">
            <a:avLst/>
          </a:prstGeom>
          <a:noFill/>
        </p:spPr>
        <p:txBody>
          <a:bodyPr wrap="none" lIns="0" rIns="0" tIns="0" bIns="0" anchor="ctr">
            <a:spAutoFit/>
          </a:bodyPr>
          <a:lstStyle/>
          <a:p>
            <a:pPr algn="ctr">
              <a:defRPr sz="2400" b="1">
                <a:solidFill>
                  <a:srgbClr val="245B43"/>
                </a:solidFill>
                <a:latin typeface="Arial"/>
              </a:defRPr>
            </a:pPr>
            <a:r>
              <a:t>HUMAN · after B</a:t>
            </a:r>
          </a:p>
        </p:txBody>
      </p:sp>
      <p:sp>
        <p:nvSpPr>
          <p:cNvPr id="43" name="TextBox 42"/>
          <p:cNvSpPr txBox="1"/>
          <p:nvPr/>
        </p:nvSpPr>
        <p:spPr>
          <a:xfrm>
            <a:off x="9025128" y="3776472"/>
            <a:ext cx="3712463" cy="301752"/>
          </a:xfrm>
          <a:prstGeom prst="rect">
            <a:avLst/>
          </a:prstGeom>
          <a:noFill/>
        </p:spPr>
        <p:txBody>
          <a:bodyPr wrap="none" lIns="0" rIns="0" tIns="0" bIns="0" anchor="ctr">
            <a:spAutoFit/>
          </a:bodyPr>
          <a:lstStyle/>
          <a:p>
            <a:pPr algn="ctr">
              <a:defRPr sz="2700" b="1">
                <a:solidFill>
                  <a:srgbClr val="245B43"/>
                </a:solidFill>
                <a:latin typeface="Arial"/>
              </a:defRPr>
            </a:pPr>
            <a:r>
              <a:t>MIN(9, 0) = 0</a:t>
            </a:r>
          </a:p>
        </p:txBody>
      </p:sp>
      <p:sp>
        <p:nvSpPr>
          <p:cNvPr id="44" name="Rounded Rectangle 43"/>
          <p:cNvSpPr/>
          <p:nvPr/>
        </p:nvSpPr>
        <p:spPr>
          <a:xfrm>
            <a:off x="7589519" y="5102352"/>
            <a:ext cx="3017520" cy="1051560"/>
          </a:xfrm>
          <a:prstGeom prst="roundRect">
            <a:avLst>
              <a:gd name="adj" fmla="val 8000"/>
            </a:avLst>
          </a:prstGeom>
          <a:solidFill>
            <a:srgbClr val="FCEEE8"/>
          </a:solidFill>
          <a:ln w="12700">
            <a:solidFill>
              <a:srgbClr val="C9D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680959" y="5239512"/>
            <a:ext cx="2834640" cy="292608"/>
          </a:xfrm>
          <a:prstGeom prst="rect">
            <a:avLst/>
          </a:prstGeom>
          <a:noFill/>
        </p:spPr>
        <p:txBody>
          <a:bodyPr wrap="none" lIns="0" rIns="0" tIns="0" bIns="0" anchor="ctr">
            <a:spAutoFit/>
          </a:bodyPr>
          <a:lstStyle/>
          <a:p>
            <a:pPr algn="ctr">
              <a:defRPr sz="2100" b="1">
                <a:solidFill>
                  <a:srgbClr val="9D3E32"/>
                </a:solidFill>
                <a:latin typeface="Arial"/>
              </a:defRPr>
            </a:pPr>
            <a:r>
              <a:t>BOT · after H1</a:t>
            </a:r>
          </a:p>
        </p:txBody>
      </p:sp>
      <p:sp>
        <p:nvSpPr>
          <p:cNvPr id="46" name="TextBox 45"/>
          <p:cNvSpPr txBox="1"/>
          <p:nvPr/>
        </p:nvSpPr>
        <p:spPr>
          <a:xfrm>
            <a:off x="7680959" y="5696712"/>
            <a:ext cx="2834640" cy="292608"/>
          </a:xfrm>
          <a:prstGeom prst="rect">
            <a:avLst/>
          </a:prstGeom>
          <a:noFill/>
        </p:spPr>
        <p:txBody>
          <a:bodyPr wrap="none" lIns="0" rIns="0" tIns="0" bIns="0" anchor="ctr">
            <a:spAutoFit/>
          </a:bodyPr>
          <a:lstStyle/>
          <a:p>
            <a:pPr algn="ctr">
              <a:defRPr sz="2400" b="1">
                <a:solidFill>
                  <a:srgbClr val="9D3E32"/>
                </a:solidFill>
                <a:latin typeface="Arial"/>
              </a:defRPr>
            </a:pPr>
            <a:r>
              <a:t>MAX(6, 9) = 9</a:t>
            </a:r>
          </a:p>
        </p:txBody>
      </p:sp>
      <p:sp>
        <p:nvSpPr>
          <p:cNvPr id="47" name="Rounded Rectangle 46"/>
          <p:cNvSpPr/>
          <p:nvPr/>
        </p:nvSpPr>
        <p:spPr>
          <a:xfrm>
            <a:off x="7726679" y="7022592"/>
            <a:ext cx="1188720" cy="822960"/>
          </a:xfrm>
          <a:prstGeom prst="roundRect">
            <a:avLst>
              <a:gd name="adj" fmla="val 8000"/>
            </a:avLst>
          </a:prstGeom>
          <a:solidFill>
            <a:srgbClr val="FFFFFF"/>
          </a:solidFill>
          <a:ln w="12700">
            <a:solidFill>
              <a:srgbClr val="C9D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772400" y="7095744"/>
            <a:ext cx="1097280" cy="201168"/>
          </a:xfrm>
          <a:prstGeom prst="rect">
            <a:avLst/>
          </a:prstGeom>
          <a:noFill/>
        </p:spPr>
        <p:txBody>
          <a:bodyPr wrap="none" lIns="0" rIns="0" tIns="0" bIns="0" anchor="ctr">
            <a:spAutoFit/>
          </a:bodyPr>
          <a:lstStyle/>
          <a:p>
            <a:pPr algn="ctr">
              <a:defRPr sz="1500" b="0">
                <a:solidFill>
                  <a:srgbClr val="53665D"/>
                </a:solidFill>
                <a:latin typeface="Arial"/>
              </a:defRPr>
            </a:pPr>
            <a:r>
              <a:t>Reply 1</a:t>
            </a:r>
          </a:p>
        </p:txBody>
      </p:sp>
      <p:sp>
        <p:nvSpPr>
          <p:cNvPr id="49" name="TextBox 48"/>
          <p:cNvSpPr txBox="1"/>
          <p:nvPr/>
        </p:nvSpPr>
        <p:spPr>
          <a:xfrm>
            <a:off x="7772400" y="7379208"/>
            <a:ext cx="1097280" cy="365760"/>
          </a:xfrm>
          <a:prstGeom prst="rect">
            <a:avLst/>
          </a:prstGeom>
          <a:noFill/>
        </p:spPr>
        <p:txBody>
          <a:bodyPr wrap="none" lIns="0" rIns="0" tIns="0" bIns="0" anchor="ctr">
            <a:spAutoFit/>
          </a:bodyPr>
          <a:lstStyle/>
          <a:p>
            <a:pPr algn="ctr">
              <a:defRPr sz="3200" b="1">
                <a:solidFill>
                  <a:srgbClr val="17382D"/>
                </a:solidFill>
                <a:latin typeface="Arial"/>
              </a:defRPr>
            </a:pPr>
            <a:r>
              <a:t>6</a:t>
            </a:r>
          </a:p>
        </p:txBody>
      </p:sp>
      <p:sp>
        <p:nvSpPr>
          <p:cNvPr id="50" name="Rounded Rectangle 49"/>
          <p:cNvSpPr/>
          <p:nvPr/>
        </p:nvSpPr>
        <p:spPr>
          <a:xfrm>
            <a:off x="9281159" y="7022592"/>
            <a:ext cx="1188720" cy="822960"/>
          </a:xfrm>
          <a:prstGeom prst="roundRect">
            <a:avLst>
              <a:gd name="adj" fmla="val 8000"/>
            </a:avLst>
          </a:prstGeom>
          <a:solidFill>
            <a:srgbClr val="FFFFFF"/>
          </a:solidFill>
          <a:ln w="12700">
            <a:solidFill>
              <a:srgbClr val="C9D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326880" y="7095744"/>
            <a:ext cx="1097280" cy="201168"/>
          </a:xfrm>
          <a:prstGeom prst="rect">
            <a:avLst/>
          </a:prstGeom>
          <a:noFill/>
        </p:spPr>
        <p:txBody>
          <a:bodyPr wrap="none" lIns="0" rIns="0" tIns="0" bIns="0" anchor="ctr">
            <a:spAutoFit/>
          </a:bodyPr>
          <a:lstStyle/>
          <a:p>
            <a:pPr algn="ctr">
              <a:defRPr sz="1500" b="0">
                <a:solidFill>
                  <a:srgbClr val="53665D"/>
                </a:solidFill>
                <a:latin typeface="Arial"/>
              </a:defRPr>
            </a:pPr>
            <a:r>
              <a:t>Reply 2</a:t>
            </a:r>
          </a:p>
        </p:txBody>
      </p:sp>
      <p:sp>
        <p:nvSpPr>
          <p:cNvPr id="52" name="TextBox 51"/>
          <p:cNvSpPr txBox="1"/>
          <p:nvPr/>
        </p:nvSpPr>
        <p:spPr>
          <a:xfrm>
            <a:off x="9326880" y="7379208"/>
            <a:ext cx="1097280" cy="365760"/>
          </a:xfrm>
          <a:prstGeom prst="rect">
            <a:avLst/>
          </a:prstGeom>
          <a:noFill/>
        </p:spPr>
        <p:txBody>
          <a:bodyPr wrap="none" lIns="0" rIns="0" tIns="0" bIns="0" anchor="ctr">
            <a:spAutoFit/>
          </a:bodyPr>
          <a:lstStyle/>
          <a:p>
            <a:pPr algn="ctr">
              <a:defRPr sz="3200" b="1">
                <a:solidFill>
                  <a:srgbClr val="17382D"/>
                </a:solidFill>
                <a:latin typeface="Arial"/>
              </a:defRPr>
            </a:pPr>
            <a:r>
              <a:t>9</a:t>
            </a:r>
          </a:p>
        </p:txBody>
      </p:sp>
      <p:sp>
        <p:nvSpPr>
          <p:cNvPr id="53" name="Rounded Rectangle 52"/>
          <p:cNvSpPr/>
          <p:nvPr/>
        </p:nvSpPr>
        <p:spPr>
          <a:xfrm>
            <a:off x="11155680" y="5102352"/>
            <a:ext cx="3017520" cy="1051560"/>
          </a:xfrm>
          <a:prstGeom prst="roundRect">
            <a:avLst>
              <a:gd name="adj" fmla="val 8000"/>
            </a:avLst>
          </a:prstGeom>
          <a:solidFill>
            <a:srgbClr val="FCEEE8"/>
          </a:solidFill>
          <a:ln w="12700">
            <a:solidFill>
              <a:srgbClr val="C9D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1247119" y="5239512"/>
            <a:ext cx="2834640" cy="292608"/>
          </a:xfrm>
          <a:prstGeom prst="rect">
            <a:avLst/>
          </a:prstGeom>
          <a:noFill/>
        </p:spPr>
        <p:txBody>
          <a:bodyPr wrap="none" lIns="0" rIns="0" tIns="0" bIns="0" anchor="ctr">
            <a:spAutoFit/>
          </a:bodyPr>
          <a:lstStyle/>
          <a:p>
            <a:pPr algn="ctr">
              <a:defRPr sz="2100" b="1">
                <a:solidFill>
                  <a:srgbClr val="9D3E32"/>
                </a:solidFill>
                <a:latin typeface="Arial"/>
              </a:defRPr>
            </a:pPr>
            <a:r>
              <a:t>BOT · after H2</a:t>
            </a:r>
          </a:p>
        </p:txBody>
      </p:sp>
      <p:sp>
        <p:nvSpPr>
          <p:cNvPr id="55" name="TextBox 54"/>
          <p:cNvSpPr txBox="1"/>
          <p:nvPr/>
        </p:nvSpPr>
        <p:spPr>
          <a:xfrm>
            <a:off x="11247119" y="5696712"/>
            <a:ext cx="2834640" cy="292608"/>
          </a:xfrm>
          <a:prstGeom prst="rect">
            <a:avLst/>
          </a:prstGeom>
          <a:noFill/>
        </p:spPr>
        <p:txBody>
          <a:bodyPr wrap="none" lIns="0" rIns="0" tIns="0" bIns="0" anchor="ctr">
            <a:spAutoFit/>
          </a:bodyPr>
          <a:lstStyle/>
          <a:p>
            <a:pPr algn="ctr">
              <a:defRPr sz="2400" b="1">
                <a:solidFill>
                  <a:srgbClr val="9D3E32"/>
                </a:solidFill>
                <a:latin typeface="Arial"/>
              </a:defRPr>
            </a:pPr>
            <a:r>
              <a:t>MAX(-3, 0) = 0</a:t>
            </a:r>
          </a:p>
        </p:txBody>
      </p:sp>
      <p:sp>
        <p:nvSpPr>
          <p:cNvPr id="56" name="Rounded Rectangle 55"/>
          <p:cNvSpPr/>
          <p:nvPr/>
        </p:nvSpPr>
        <p:spPr>
          <a:xfrm>
            <a:off x="11292840" y="7022592"/>
            <a:ext cx="1188720" cy="822960"/>
          </a:xfrm>
          <a:prstGeom prst="roundRect">
            <a:avLst>
              <a:gd name="adj" fmla="val 8000"/>
            </a:avLst>
          </a:prstGeom>
          <a:solidFill>
            <a:srgbClr val="FFFFFF"/>
          </a:solidFill>
          <a:ln w="12700">
            <a:solidFill>
              <a:srgbClr val="C9D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1338560" y="7095744"/>
            <a:ext cx="1097280" cy="201168"/>
          </a:xfrm>
          <a:prstGeom prst="rect">
            <a:avLst/>
          </a:prstGeom>
          <a:noFill/>
        </p:spPr>
        <p:txBody>
          <a:bodyPr wrap="none" lIns="0" rIns="0" tIns="0" bIns="0" anchor="ctr">
            <a:spAutoFit/>
          </a:bodyPr>
          <a:lstStyle/>
          <a:p>
            <a:pPr algn="ctr">
              <a:defRPr sz="1500" b="0">
                <a:solidFill>
                  <a:srgbClr val="53665D"/>
                </a:solidFill>
                <a:latin typeface="Arial"/>
              </a:defRPr>
            </a:pPr>
            <a:r>
              <a:t>Reply 1</a:t>
            </a:r>
          </a:p>
        </p:txBody>
      </p:sp>
      <p:sp>
        <p:nvSpPr>
          <p:cNvPr id="58" name="TextBox 57"/>
          <p:cNvSpPr txBox="1"/>
          <p:nvPr/>
        </p:nvSpPr>
        <p:spPr>
          <a:xfrm>
            <a:off x="11338560" y="7379208"/>
            <a:ext cx="1097280" cy="365760"/>
          </a:xfrm>
          <a:prstGeom prst="rect">
            <a:avLst/>
          </a:prstGeom>
          <a:noFill/>
        </p:spPr>
        <p:txBody>
          <a:bodyPr wrap="none" lIns="0" rIns="0" tIns="0" bIns="0" anchor="ctr">
            <a:spAutoFit/>
          </a:bodyPr>
          <a:lstStyle/>
          <a:p>
            <a:pPr algn="ctr">
              <a:defRPr sz="3200" b="1">
                <a:solidFill>
                  <a:srgbClr val="17382D"/>
                </a:solidFill>
                <a:latin typeface="Arial"/>
              </a:defRPr>
            </a:pPr>
            <a:r>
              <a:t>-3</a:t>
            </a:r>
          </a:p>
        </p:txBody>
      </p:sp>
      <p:sp>
        <p:nvSpPr>
          <p:cNvPr id="59" name="Rounded Rectangle 58"/>
          <p:cNvSpPr/>
          <p:nvPr/>
        </p:nvSpPr>
        <p:spPr>
          <a:xfrm>
            <a:off x="12847319" y="7022592"/>
            <a:ext cx="1188720" cy="822960"/>
          </a:xfrm>
          <a:prstGeom prst="roundRect">
            <a:avLst>
              <a:gd name="adj" fmla="val 8000"/>
            </a:avLst>
          </a:prstGeom>
          <a:solidFill>
            <a:srgbClr val="FFFFFF"/>
          </a:solidFill>
          <a:ln w="12700">
            <a:solidFill>
              <a:srgbClr val="C9D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2893040" y="7095744"/>
            <a:ext cx="1097280" cy="201168"/>
          </a:xfrm>
          <a:prstGeom prst="rect">
            <a:avLst/>
          </a:prstGeom>
          <a:noFill/>
        </p:spPr>
        <p:txBody>
          <a:bodyPr wrap="none" lIns="0" rIns="0" tIns="0" bIns="0" anchor="ctr">
            <a:spAutoFit/>
          </a:bodyPr>
          <a:lstStyle/>
          <a:p>
            <a:pPr algn="ctr">
              <a:defRPr sz="1500" b="0">
                <a:solidFill>
                  <a:srgbClr val="53665D"/>
                </a:solidFill>
                <a:latin typeface="Arial"/>
              </a:defRPr>
            </a:pPr>
            <a:r>
              <a:t>Reply 2</a:t>
            </a:r>
          </a:p>
        </p:txBody>
      </p:sp>
      <p:sp>
        <p:nvSpPr>
          <p:cNvPr id="61" name="TextBox 60"/>
          <p:cNvSpPr txBox="1"/>
          <p:nvPr/>
        </p:nvSpPr>
        <p:spPr>
          <a:xfrm>
            <a:off x="12893040" y="7379208"/>
            <a:ext cx="1097280" cy="365760"/>
          </a:xfrm>
          <a:prstGeom prst="rect">
            <a:avLst/>
          </a:prstGeom>
          <a:noFill/>
        </p:spPr>
        <p:txBody>
          <a:bodyPr wrap="none" lIns="0" rIns="0" tIns="0" bIns="0" anchor="ctr">
            <a:spAutoFit/>
          </a:bodyPr>
          <a:lstStyle/>
          <a:p>
            <a:pPr algn="ctr">
              <a:defRPr sz="3200" b="1">
                <a:solidFill>
                  <a:srgbClr val="17382D"/>
                </a:solidFill>
                <a:latin typeface="Arial"/>
              </a:defRPr>
            </a:pPr>
            <a:r>
              <a:t>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4"/>
        </a:solidFill>
        <a:effectLst/>
      </p:bgPr>
    </p:bg>
    <p:spTree>
      <p:nvGrpSpPr>
        <p:cNvPr id="1" name=""/>
        <p:cNvGrpSpPr/>
        <p:nvPr/>
      </p:nvGrpSpPr>
      <p:grpSpPr/>
      <p:sp>
        <p:nvSpPr>
          <p:cNvPr id="2" name="TextBox 1"/>
          <p:cNvSpPr txBox="1"/>
          <p:nvPr/>
        </p:nvSpPr>
        <p:spPr>
          <a:xfrm>
            <a:off x="548640" y="329184"/>
            <a:ext cx="13533120" cy="585216"/>
          </a:xfrm>
          <a:prstGeom prst="rect">
            <a:avLst/>
          </a:prstGeom>
          <a:noFill/>
        </p:spPr>
        <p:txBody>
          <a:bodyPr wrap="none" lIns="0" rIns="0" tIns="0" bIns="0" anchor="ctr">
            <a:spAutoFit/>
          </a:bodyPr>
          <a:lstStyle/>
          <a:p>
            <a:pPr algn="ctr">
              <a:defRPr sz="3400" b="1">
                <a:solidFill>
                  <a:srgbClr val="17382D"/>
                </a:solidFill>
                <a:latin typeface="Arial"/>
              </a:defRPr>
            </a:pPr>
            <a:r>
              <a:t>Minimax · Depth 3</a:t>
            </a:r>
          </a:p>
        </p:txBody>
      </p:sp>
      <p:sp>
        <p:nvSpPr>
          <p:cNvPr id="3" name="Rounded Rectangle 2"/>
          <p:cNvSpPr/>
          <p:nvPr/>
        </p:nvSpPr>
        <p:spPr>
          <a:xfrm>
            <a:off x="594360" y="1389888"/>
            <a:ext cx="13441680" cy="731520"/>
          </a:xfrm>
          <a:prstGeom prst="roundRect">
            <a:avLst>
              <a:gd name="adj" fmla="val 8000"/>
            </a:avLst>
          </a:prstGeom>
          <a:solidFill>
            <a:srgbClr val="17382D"/>
          </a:solidFill>
          <a:ln w="12700">
            <a:solidFill>
              <a:srgbClr val="1738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91056"/>
            <a:ext cx="2606040" cy="320040"/>
          </a:xfrm>
          <a:prstGeom prst="rect">
            <a:avLst/>
          </a:prstGeom>
          <a:noFill/>
        </p:spPr>
        <p:txBody>
          <a:bodyPr wrap="none" lIns="0" rIns="0" tIns="0" bIns="0" anchor="ctr">
            <a:spAutoFit/>
          </a:bodyPr>
          <a:lstStyle/>
          <a:p>
            <a:pPr algn="ctr">
              <a:defRPr sz="1900" b="1">
                <a:solidFill>
                  <a:srgbClr val="FFFFFF"/>
                </a:solidFill>
                <a:latin typeface="Arial"/>
              </a:defRPr>
            </a:pPr>
            <a:r>
              <a:t>1  BOT first move</a:t>
            </a:r>
          </a:p>
        </p:txBody>
      </p:sp>
      <p:sp>
        <p:nvSpPr>
          <p:cNvPr id="5" name="TextBox 4"/>
          <p:cNvSpPr txBox="1"/>
          <p:nvPr/>
        </p:nvSpPr>
        <p:spPr>
          <a:xfrm>
            <a:off x="3611879" y="1591056"/>
            <a:ext cx="3063240" cy="320040"/>
          </a:xfrm>
          <a:prstGeom prst="rect">
            <a:avLst/>
          </a:prstGeom>
          <a:noFill/>
        </p:spPr>
        <p:txBody>
          <a:bodyPr wrap="none" lIns="0" rIns="0" tIns="0" bIns="0" anchor="ctr">
            <a:spAutoFit/>
          </a:bodyPr>
          <a:lstStyle/>
          <a:p>
            <a:pPr algn="ctr">
              <a:defRPr sz="1900" b="1">
                <a:solidFill>
                  <a:srgbClr val="FFFFFF"/>
                </a:solidFill>
                <a:latin typeface="Arial"/>
              </a:defRPr>
            </a:pPr>
            <a:r>
              <a:t>2  HUMAN response</a:t>
            </a:r>
          </a:p>
        </p:txBody>
      </p:sp>
      <p:sp>
        <p:nvSpPr>
          <p:cNvPr id="6" name="TextBox 5"/>
          <p:cNvSpPr txBox="1"/>
          <p:nvPr/>
        </p:nvSpPr>
        <p:spPr>
          <a:xfrm>
            <a:off x="6949440" y="1591056"/>
            <a:ext cx="3474720" cy="320040"/>
          </a:xfrm>
          <a:prstGeom prst="rect">
            <a:avLst/>
          </a:prstGeom>
          <a:noFill/>
        </p:spPr>
        <p:txBody>
          <a:bodyPr wrap="none" lIns="0" rIns="0" tIns="0" bIns="0" anchor="ctr">
            <a:spAutoFit/>
          </a:bodyPr>
          <a:lstStyle/>
          <a:p>
            <a:pPr algn="ctr">
              <a:defRPr sz="1900" b="1">
                <a:solidFill>
                  <a:srgbClr val="FFFFFF"/>
                </a:solidFill>
                <a:latin typeface="Arial"/>
              </a:defRPr>
            </a:pPr>
            <a:r>
              <a:t>3  BOT final response</a:t>
            </a:r>
          </a:p>
        </p:txBody>
      </p:sp>
      <p:sp>
        <p:nvSpPr>
          <p:cNvPr id="7" name="TextBox 6"/>
          <p:cNvSpPr txBox="1"/>
          <p:nvPr/>
        </p:nvSpPr>
        <p:spPr>
          <a:xfrm>
            <a:off x="10698480" y="1591056"/>
            <a:ext cx="3200399" cy="320040"/>
          </a:xfrm>
          <a:prstGeom prst="rect">
            <a:avLst/>
          </a:prstGeom>
          <a:noFill/>
        </p:spPr>
        <p:txBody>
          <a:bodyPr wrap="none" lIns="0" rIns="0" tIns="0" bIns="0" anchor="ctr">
            <a:spAutoFit/>
          </a:bodyPr>
          <a:lstStyle/>
          <a:p>
            <a:pPr algn="ctr">
              <a:defRPr sz="1900" b="1">
                <a:solidFill>
                  <a:srgbClr val="FFFFFF"/>
                </a:solidFill>
                <a:latin typeface="Arial"/>
              </a:defRPr>
            </a:pPr>
            <a:r>
              <a:t>Board score · depth 0</a:t>
            </a:r>
          </a:p>
        </p:txBody>
      </p:sp>
      <p:sp>
        <p:nvSpPr>
          <p:cNvPr id="8" name="Rectangle 7"/>
          <p:cNvSpPr/>
          <p:nvPr/>
        </p:nvSpPr>
        <p:spPr>
          <a:xfrm>
            <a:off x="594360" y="2121408"/>
            <a:ext cx="13441680" cy="457200"/>
          </a:xfrm>
          <a:prstGeom prst="rect">
            <a:avLst/>
          </a:prstGeom>
          <a:solidFill>
            <a:srgbClr val="FFFFFF"/>
          </a:solidFill>
          <a:ln w="7620">
            <a:solidFill>
              <a:srgbClr val="DFE5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185416"/>
            <a:ext cx="2606040" cy="329184"/>
          </a:xfrm>
          <a:prstGeom prst="rect">
            <a:avLst/>
          </a:prstGeom>
          <a:noFill/>
        </p:spPr>
        <p:txBody>
          <a:bodyPr wrap="none" lIns="0" rIns="0" tIns="0" bIns="0" anchor="ctr">
            <a:spAutoFit/>
          </a:bodyPr>
          <a:lstStyle/>
          <a:p>
            <a:pPr algn="ctr">
              <a:defRPr sz="1900" b="1">
                <a:solidFill>
                  <a:srgbClr val="17382D"/>
                </a:solidFill>
                <a:latin typeface="Arial"/>
              </a:defRPr>
            </a:pPr>
            <a:r>
              <a:t>A</a:t>
            </a:r>
          </a:p>
        </p:txBody>
      </p:sp>
      <p:sp>
        <p:nvSpPr>
          <p:cNvPr id="10" name="TextBox 9"/>
          <p:cNvSpPr txBox="1"/>
          <p:nvPr/>
        </p:nvSpPr>
        <p:spPr>
          <a:xfrm>
            <a:off x="3611879" y="2185416"/>
            <a:ext cx="3063240" cy="329184"/>
          </a:xfrm>
          <a:prstGeom prst="rect">
            <a:avLst/>
          </a:prstGeom>
          <a:noFill/>
        </p:spPr>
        <p:txBody>
          <a:bodyPr wrap="none" lIns="0" rIns="0" tIns="0" bIns="0" anchor="ctr">
            <a:spAutoFit/>
          </a:bodyPr>
          <a:lstStyle/>
          <a:p>
            <a:pPr algn="ctr">
              <a:defRPr sz="1900" b="0">
                <a:solidFill>
                  <a:srgbClr val="17382D"/>
                </a:solidFill>
                <a:latin typeface="Arial"/>
              </a:defRPr>
            </a:pPr>
            <a:r>
              <a:t>H1</a:t>
            </a:r>
          </a:p>
        </p:txBody>
      </p:sp>
      <p:sp>
        <p:nvSpPr>
          <p:cNvPr id="11" name="TextBox 10"/>
          <p:cNvSpPr txBox="1"/>
          <p:nvPr/>
        </p:nvSpPr>
        <p:spPr>
          <a:xfrm>
            <a:off x="6949440" y="2185416"/>
            <a:ext cx="3474720" cy="329184"/>
          </a:xfrm>
          <a:prstGeom prst="rect">
            <a:avLst/>
          </a:prstGeom>
          <a:noFill/>
        </p:spPr>
        <p:txBody>
          <a:bodyPr wrap="none" lIns="0" rIns="0" tIns="0" bIns="0" anchor="ctr">
            <a:spAutoFit/>
          </a:bodyPr>
          <a:lstStyle/>
          <a:p>
            <a:pPr algn="ctr">
              <a:defRPr sz="1900" b="0">
                <a:solidFill>
                  <a:srgbClr val="17382D"/>
                </a:solidFill>
                <a:latin typeface="Arial"/>
              </a:defRPr>
            </a:pPr>
            <a:r>
              <a:t>Reply 1</a:t>
            </a:r>
          </a:p>
        </p:txBody>
      </p:sp>
      <p:sp>
        <p:nvSpPr>
          <p:cNvPr id="12" name="TextBox 11"/>
          <p:cNvSpPr txBox="1"/>
          <p:nvPr/>
        </p:nvSpPr>
        <p:spPr>
          <a:xfrm>
            <a:off x="10698480" y="2185416"/>
            <a:ext cx="3200399" cy="329184"/>
          </a:xfrm>
          <a:prstGeom prst="rect">
            <a:avLst/>
          </a:prstGeom>
          <a:noFill/>
        </p:spPr>
        <p:txBody>
          <a:bodyPr wrap="none" lIns="0" rIns="0" tIns="0" bIns="0" anchor="ctr">
            <a:spAutoFit/>
          </a:bodyPr>
          <a:lstStyle/>
          <a:p>
            <a:pPr algn="ctr">
              <a:defRPr sz="2100" b="1">
                <a:solidFill>
                  <a:srgbClr val="17382D"/>
                </a:solidFill>
                <a:latin typeface="Arial"/>
              </a:defRPr>
            </a:pPr>
            <a:r>
              <a:t>3</a:t>
            </a:r>
          </a:p>
        </p:txBody>
      </p:sp>
      <p:sp>
        <p:nvSpPr>
          <p:cNvPr id="13" name="Rectangle 12"/>
          <p:cNvSpPr/>
          <p:nvPr/>
        </p:nvSpPr>
        <p:spPr>
          <a:xfrm>
            <a:off x="594360" y="2578608"/>
            <a:ext cx="13441680" cy="457200"/>
          </a:xfrm>
          <a:prstGeom prst="rect">
            <a:avLst/>
          </a:prstGeom>
          <a:solidFill>
            <a:srgbClr val="FFFFFF"/>
          </a:solidFill>
          <a:ln w="7620">
            <a:solidFill>
              <a:srgbClr val="DFE5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642616"/>
            <a:ext cx="2606040" cy="329184"/>
          </a:xfrm>
          <a:prstGeom prst="rect">
            <a:avLst/>
          </a:prstGeom>
          <a:noFill/>
        </p:spPr>
        <p:txBody>
          <a:bodyPr wrap="none" lIns="0" rIns="0" tIns="0" bIns="0" anchor="ctr">
            <a:spAutoFit/>
          </a:bodyPr>
          <a:lstStyle/>
          <a:p>
            <a:pPr algn="ctr">
              <a:defRPr sz="1900" b="1">
                <a:solidFill>
                  <a:srgbClr val="17382D"/>
                </a:solidFill>
                <a:latin typeface="Arial"/>
              </a:defRPr>
            </a:pPr>
            <a:r>
              <a:t>A</a:t>
            </a:r>
          </a:p>
        </p:txBody>
      </p:sp>
      <p:sp>
        <p:nvSpPr>
          <p:cNvPr id="15" name="TextBox 14"/>
          <p:cNvSpPr txBox="1"/>
          <p:nvPr/>
        </p:nvSpPr>
        <p:spPr>
          <a:xfrm>
            <a:off x="3611879" y="2642616"/>
            <a:ext cx="3063240" cy="329184"/>
          </a:xfrm>
          <a:prstGeom prst="rect">
            <a:avLst/>
          </a:prstGeom>
          <a:noFill/>
        </p:spPr>
        <p:txBody>
          <a:bodyPr wrap="none" lIns="0" rIns="0" tIns="0" bIns="0" anchor="ctr">
            <a:spAutoFit/>
          </a:bodyPr>
          <a:lstStyle/>
          <a:p>
            <a:pPr algn="ctr">
              <a:defRPr sz="1900" b="0">
                <a:solidFill>
                  <a:srgbClr val="17382D"/>
                </a:solidFill>
                <a:latin typeface="Arial"/>
              </a:defRPr>
            </a:pPr>
            <a:r>
              <a:t>H1</a:t>
            </a:r>
          </a:p>
        </p:txBody>
      </p:sp>
      <p:sp>
        <p:nvSpPr>
          <p:cNvPr id="16" name="TextBox 15"/>
          <p:cNvSpPr txBox="1"/>
          <p:nvPr/>
        </p:nvSpPr>
        <p:spPr>
          <a:xfrm>
            <a:off x="6949440" y="2642616"/>
            <a:ext cx="3474720" cy="329184"/>
          </a:xfrm>
          <a:prstGeom prst="rect">
            <a:avLst/>
          </a:prstGeom>
          <a:noFill/>
        </p:spPr>
        <p:txBody>
          <a:bodyPr wrap="none" lIns="0" rIns="0" tIns="0" bIns="0" anchor="ctr">
            <a:spAutoFit/>
          </a:bodyPr>
          <a:lstStyle/>
          <a:p>
            <a:pPr algn="ctr">
              <a:defRPr sz="1900" b="0">
                <a:solidFill>
                  <a:srgbClr val="17382D"/>
                </a:solidFill>
                <a:latin typeface="Arial"/>
              </a:defRPr>
            </a:pPr>
            <a:r>
              <a:t>Reply 2</a:t>
            </a:r>
          </a:p>
        </p:txBody>
      </p:sp>
      <p:sp>
        <p:nvSpPr>
          <p:cNvPr id="17" name="TextBox 16"/>
          <p:cNvSpPr txBox="1"/>
          <p:nvPr/>
        </p:nvSpPr>
        <p:spPr>
          <a:xfrm>
            <a:off x="10698480" y="2642616"/>
            <a:ext cx="3200399" cy="329184"/>
          </a:xfrm>
          <a:prstGeom prst="rect">
            <a:avLst/>
          </a:prstGeom>
          <a:noFill/>
        </p:spPr>
        <p:txBody>
          <a:bodyPr wrap="none" lIns="0" rIns="0" tIns="0" bIns="0" anchor="ctr">
            <a:spAutoFit/>
          </a:bodyPr>
          <a:lstStyle/>
          <a:p>
            <a:pPr algn="ctr">
              <a:defRPr sz="2100" b="1">
                <a:solidFill>
                  <a:srgbClr val="17382D"/>
                </a:solidFill>
                <a:latin typeface="Arial"/>
              </a:defRPr>
            </a:pPr>
            <a:r>
              <a:t>6</a:t>
            </a:r>
          </a:p>
        </p:txBody>
      </p:sp>
      <p:sp>
        <p:nvSpPr>
          <p:cNvPr id="18" name="Rectangle 17"/>
          <p:cNvSpPr/>
          <p:nvPr/>
        </p:nvSpPr>
        <p:spPr>
          <a:xfrm>
            <a:off x="594360" y="3035808"/>
            <a:ext cx="13441680" cy="457200"/>
          </a:xfrm>
          <a:prstGeom prst="rect">
            <a:avLst/>
          </a:prstGeom>
          <a:solidFill>
            <a:srgbClr val="FFFFFF"/>
          </a:solidFill>
          <a:ln w="7620">
            <a:solidFill>
              <a:srgbClr val="DFE5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3099816"/>
            <a:ext cx="2606040" cy="329184"/>
          </a:xfrm>
          <a:prstGeom prst="rect">
            <a:avLst/>
          </a:prstGeom>
          <a:noFill/>
        </p:spPr>
        <p:txBody>
          <a:bodyPr wrap="none" lIns="0" rIns="0" tIns="0" bIns="0" anchor="ctr">
            <a:spAutoFit/>
          </a:bodyPr>
          <a:lstStyle/>
          <a:p>
            <a:pPr algn="ctr">
              <a:defRPr sz="1900" b="1">
                <a:solidFill>
                  <a:srgbClr val="17382D"/>
                </a:solidFill>
                <a:latin typeface="Arial"/>
              </a:defRPr>
            </a:pPr>
            <a:r>
              <a:t>A</a:t>
            </a:r>
          </a:p>
        </p:txBody>
      </p:sp>
      <p:sp>
        <p:nvSpPr>
          <p:cNvPr id="20" name="TextBox 19"/>
          <p:cNvSpPr txBox="1"/>
          <p:nvPr/>
        </p:nvSpPr>
        <p:spPr>
          <a:xfrm>
            <a:off x="3611879" y="3099816"/>
            <a:ext cx="3063240" cy="329184"/>
          </a:xfrm>
          <a:prstGeom prst="rect">
            <a:avLst/>
          </a:prstGeom>
          <a:noFill/>
        </p:spPr>
        <p:txBody>
          <a:bodyPr wrap="none" lIns="0" rIns="0" tIns="0" bIns="0" anchor="ctr">
            <a:spAutoFit/>
          </a:bodyPr>
          <a:lstStyle/>
          <a:p>
            <a:pPr algn="ctr">
              <a:defRPr sz="1900" b="0">
                <a:solidFill>
                  <a:srgbClr val="17382D"/>
                </a:solidFill>
                <a:latin typeface="Arial"/>
              </a:defRPr>
            </a:pPr>
            <a:r>
              <a:t>H2</a:t>
            </a:r>
          </a:p>
        </p:txBody>
      </p:sp>
      <p:sp>
        <p:nvSpPr>
          <p:cNvPr id="21" name="TextBox 20"/>
          <p:cNvSpPr txBox="1"/>
          <p:nvPr/>
        </p:nvSpPr>
        <p:spPr>
          <a:xfrm>
            <a:off x="6949440" y="3099816"/>
            <a:ext cx="3474720" cy="329184"/>
          </a:xfrm>
          <a:prstGeom prst="rect">
            <a:avLst/>
          </a:prstGeom>
          <a:noFill/>
        </p:spPr>
        <p:txBody>
          <a:bodyPr wrap="none" lIns="0" rIns="0" tIns="0" bIns="0" anchor="ctr">
            <a:spAutoFit/>
          </a:bodyPr>
          <a:lstStyle/>
          <a:p>
            <a:pPr algn="ctr">
              <a:defRPr sz="1900" b="0">
                <a:solidFill>
                  <a:srgbClr val="17382D"/>
                </a:solidFill>
                <a:latin typeface="Arial"/>
              </a:defRPr>
            </a:pPr>
            <a:r>
              <a:t>Reply 1</a:t>
            </a:r>
          </a:p>
        </p:txBody>
      </p:sp>
      <p:sp>
        <p:nvSpPr>
          <p:cNvPr id="22" name="TextBox 21"/>
          <p:cNvSpPr txBox="1"/>
          <p:nvPr/>
        </p:nvSpPr>
        <p:spPr>
          <a:xfrm>
            <a:off x="10698480" y="3099816"/>
            <a:ext cx="3200399" cy="329184"/>
          </a:xfrm>
          <a:prstGeom prst="rect">
            <a:avLst/>
          </a:prstGeom>
          <a:noFill/>
        </p:spPr>
        <p:txBody>
          <a:bodyPr wrap="none" lIns="0" rIns="0" tIns="0" bIns="0" anchor="ctr">
            <a:spAutoFit/>
          </a:bodyPr>
          <a:lstStyle/>
          <a:p>
            <a:pPr algn="ctr">
              <a:defRPr sz="2100" b="1">
                <a:solidFill>
                  <a:srgbClr val="17382D"/>
                </a:solidFill>
                <a:latin typeface="Arial"/>
              </a:defRPr>
            </a:pPr>
            <a:r>
              <a:t>0</a:t>
            </a:r>
          </a:p>
        </p:txBody>
      </p:sp>
      <p:sp>
        <p:nvSpPr>
          <p:cNvPr id="23" name="Rectangle 22"/>
          <p:cNvSpPr/>
          <p:nvPr/>
        </p:nvSpPr>
        <p:spPr>
          <a:xfrm>
            <a:off x="594360" y="3493008"/>
            <a:ext cx="13441680" cy="457200"/>
          </a:xfrm>
          <a:prstGeom prst="rect">
            <a:avLst/>
          </a:prstGeom>
          <a:solidFill>
            <a:srgbClr val="FFF1BA"/>
          </a:solidFill>
          <a:ln w="7620">
            <a:solidFill>
              <a:srgbClr val="DFE5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3557016"/>
            <a:ext cx="2606040" cy="329184"/>
          </a:xfrm>
          <a:prstGeom prst="rect">
            <a:avLst/>
          </a:prstGeom>
          <a:noFill/>
        </p:spPr>
        <p:txBody>
          <a:bodyPr wrap="none" lIns="0" rIns="0" tIns="0" bIns="0" anchor="ctr">
            <a:spAutoFit/>
          </a:bodyPr>
          <a:lstStyle/>
          <a:p>
            <a:pPr algn="ctr">
              <a:defRPr sz="1900" b="1">
                <a:solidFill>
                  <a:srgbClr val="936600"/>
                </a:solidFill>
                <a:latin typeface="Arial"/>
              </a:defRPr>
            </a:pPr>
            <a:r>
              <a:t>A</a:t>
            </a:r>
          </a:p>
        </p:txBody>
      </p:sp>
      <p:sp>
        <p:nvSpPr>
          <p:cNvPr id="25" name="TextBox 24"/>
          <p:cNvSpPr txBox="1"/>
          <p:nvPr/>
        </p:nvSpPr>
        <p:spPr>
          <a:xfrm>
            <a:off x="3611879" y="3557016"/>
            <a:ext cx="3063240" cy="329184"/>
          </a:xfrm>
          <a:prstGeom prst="rect">
            <a:avLst/>
          </a:prstGeom>
          <a:noFill/>
        </p:spPr>
        <p:txBody>
          <a:bodyPr wrap="none" lIns="0" rIns="0" tIns="0" bIns="0" anchor="ctr">
            <a:spAutoFit/>
          </a:bodyPr>
          <a:lstStyle/>
          <a:p>
            <a:pPr algn="ctr">
              <a:defRPr sz="1900" b="1">
                <a:solidFill>
                  <a:srgbClr val="936600"/>
                </a:solidFill>
                <a:latin typeface="Arial"/>
              </a:defRPr>
            </a:pPr>
            <a:r>
              <a:t>H2</a:t>
            </a:r>
          </a:p>
        </p:txBody>
      </p:sp>
      <p:sp>
        <p:nvSpPr>
          <p:cNvPr id="26" name="TextBox 25"/>
          <p:cNvSpPr txBox="1"/>
          <p:nvPr/>
        </p:nvSpPr>
        <p:spPr>
          <a:xfrm>
            <a:off x="6949440" y="3557016"/>
            <a:ext cx="3474720" cy="329184"/>
          </a:xfrm>
          <a:prstGeom prst="rect">
            <a:avLst/>
          </a:prstGeom>
          <a:noFill/>
        </p:spPr>
        <p:txBody>
          <a:bodyPr wrap="none" lIns="0" rIns="0" tIns="0" bIns="0" anchor="ctr">
            <a:spAutoFit/>
          </a:bodyPr>
          <a:lstStyle/>
          <a:p>
            <a:pPr algn="ctr">
              <a:defRPr sz="1900" b="1">
                <a:solidFill>
                  <a:srgbClr val="936600"/>
                </a:solidFill>
                <a:latin typeface="Arial"/>
              </a:defRPr>
            </a:pPr>
            <a:r>
              <a:t>Reply 2</a:t>
            </a:r>
          </a:p>
        </p:txBody>
      </p:sp>
      <p:sp>
        <p:nvSpPr>
          <p:cNvPr id="27" name="TextBox 26"/>
          <p:cNvSpPr txBox="1"/>
          <p:nvPr/>
        </p:nvSpPr>
        <p:spPr>
          <a:xfrm>
            <a:off x="10698480" y="3557016"/>
            <a:ext cx="3200399" cy="329184"/>
          </a:xfrm>
          <a:prstGeom prst="rect">
            <a:avLst/>
          </a:prstGeom>
          <a:noFill/>
        </p:spPr>
        <p:txBody>
          <a:bodyPr wrap="none" lIns="0" rIns="0" tIns="0" bIns="0" anchor="ctr">
            <a:spAutoFit/>
          </a:bodyPr>
          <a:lstStyle/>
          <a:p>
            <a:pPr algn="ctr">
              <a:defRPr sz="2100" b="1">
                <a:solidFill>
                  <a:srgbClr val="936600"/>
                </a:solidFill>
                <a:latin typeface="Arial"/>
              </a:defRPr>
            </a:pPr>
            <a:r>
              <a:t>3</a:t>
            </a:r>
          </a:p>
        </p:txBody>
      </p:sp>
      <p:sp>
        <p:nvSpPr>
          <p:cNvPr id="28" name="Rectangle 27"/>
          <p:cNvSpPr/>
          <p:nvPr/>
        </p:nvSpPr>
        <p:spPr>
          <a:xfrm>
            <a:off x="594360" y="3950208"/>
            <a:ext cx="13441680" cy="457200"/>
          </a:xfrm>
          <a:prstGeom prst="rect">
            <a:avLst/>
          </a:prstGeom>
          <a:solidFill>
            <a:srgbClr val="F0F3EF"/>
          </a:solidFill>
          <a:ln w="7620">
            <a:solidFill>
              <a:srgbClr val="DFE5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4014216"/>
            <a:ext cx="2606040" cy="329184"/>
          </a:xfrm>
          <a:prstGeom prst="rect">
            <a:avLst/>
          </a:prstGeom>
          <a:noFill/>
        </p:spPr>
        <p:txBody>
          <a:bodyPr wrap="none" lIns="0" rIns="0" tIns="0" bIns="0" anchor="ctr">
            <a:spAutoFit/>
          </a:bodyPr>
          <a:lstStyle/>
          <a:p>
            <a:pPr algn="ctr">
              <a:defRPr sz="1900" b="1">
                <a:solidFill>
                  <a:srgbClr val="17382D"/>
                </a:solidFill>
                <a:latin typeface="Arial"/>
              </a:defRPr>
            </a:pPr>
            <a:r>
              <a:t>B</a:t>
            </a:r>
          </a:p>
        </p:txBody>
      </p:sp>
      <p:sp>
        <p:nvSpPr>
          <p:cNvPr id="30" name="TextBox 29"/>
          <p:cNvSpPr txBox="1"/>
          <p:nvPr/>
        </p:nvSpPr>
        <p:spPr>
          <a:xfrm>
            <a:off x="3611879" y="4014216"/>
            <a:ext cx="3063240" cy="329184"/>
          </a:xfrm>
          <a:prstGeom prst="rect">
            <a:avLst/>
          </a:prstGeom>
          <a:noFill/>
        </p:spPr>
        <p:txBody>
          <a:bodyPr wrap="none" lIns="0" rIns="0" tIns="0" bIns="0" anchor="ctr">
            <a:spAutoFit/>
          </a:bodyPr>
          <a:lstStyle/>
          <a:p>
            <a:pPr algn="ctr">
              <a:defRPr sz="1900" b="0">
                <a:solidFill>
                  <a:srgbClr val="17382D"/>
                </a:solidFill>
                <a:latin typeface="Arial"/>
              </a:defRPr>
            </a:pPr>
            <a:r>
              <a:t>H1</a:t>
            </a:r>
          </a:p>
        </p:txBody>
      </p:sp>
      <p:sp>
        <p:nvSpPr>
          <p:cNvPr id="31" name="TextBox 30"/>
          <p:cNvSpPr txBox="1"/>
          <p:nvPr/>
        </p:nvSpPr>
        <p:spPr>
          <a:xfrm>
            <a:off x="6949440" y="4014216"/>
            <a:ext cx="3474720" cy="329184"/>
          </a:xfrm>
          <a:prstGeom prst="rect">
            <a:avLst/>
          </a:prstGeom>
          <a:noFill/>
        </p:spPr>
        <p:txBody>
          <a:bodyPr wrap="none" lIns="0" rIns="0" tIns="0" bIns="0" anchor="ctr">
            <a:spAutoFit/>
          </a:bodyPr>
          <a:lstStyle/>
          <a:p>
            <a:pPr algn="ctr">
              <a:defRPr sz="1900" b="0">
                <a:solidFill>
                  <a:srgbClr val="17382D"/>
                </a:solidFill>
                <a:latin typeface="Arial"/>
              </a:defRPr>
            </a:pPr>
            <a:r>
              <a:t>Reply 1</a:t>
            </a:r>
          </a:p>
        </p:txBody>
      </p:sp>
      <p:sp>
        <p:nvSpPr>
          <p:cNvPr id="32" name="TextBox 31"/>
          <p:cNvSpPr txBox="1"/>
          <p:nvPr/>
        </p:nvSpPr>
        <p:spPr>
          <a:xfrm>
            <a:off x="10698480" y="4014216"/>
            <a:ext cx="3200399" cy="329184"/>
          </a:xfrm>
          <a:prstGeom prst="rect">
            <a:avLst/>
          </a:prstGeom>
          <a:noFill/>
        </p:spPr>
        <p:txBody>
          <a:bodyPr wrap="none" lIns="0" rIns="0" tIns="0" bIns="0" anchor="ctr">
            <a:spAutoFit/>
          </a:bodyPr>
          <a:lstStyle/>
          <a:p>
            <a:pPr algn="ctr">
              <a:defRPr sz="2100" b="1">
                <a:solidFill>
                  <a:srgbClr val="17382D"/>
                </a:solidFill>
                <a:latin typeface="Arial"/>
              </a:defRPr>
            </a:pPr>
            <a:r>
              <a:t>6</a:t>
            </a:r>
          </a:p>
        </p:txBody>
      </p:sp>
      <p:sp>
        <p:nvSpPr>
          <p:cNvPr id="33" name="Rectangle 32"/>
          <p:cNvSpPr/>
          <p:nvPr/>
        </p:nvSpPr>
        <p:spPr>
          <a:xfrm>
            <a:off x="594360" y="4407408"/>
            <a:ext cx="13441680" cy="457200"/>
          </a:xfrm>
          <a:prstGeom prst="rect">
            <a:avLst/>
          </a:prstGeom>
          <a:solidFill>
            <a:srgbClr val="F0F3EF"/>
          </a:solidFill>
          <a:ln w="7620">
            <a:solidFill>
              <a:srgbClr val="DFE5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4471416"/>
            <a:ext cx="2606040" cy="329184"/>
          </a:xfrm>
          <a:prstGeom prst="rect">
            <a:avLst/>
          </a:prstGeom>
          <a:noFill/>
        </p:spPr>
        <p:txBody>
          <a:bodyPr wrap="none" lIns="0" rIns="0" tIns="0" bIns="0" anchor="ctr">
            <a:spAutoFit/>
          </a:bodyPr>
          <a:lstStyle/>
          <a:p>
            <a:pPr algn="ctr">
              <a:defRPr sz="1900" b="1">
                <a:solidFill>
                  <a:srgbClr val="17382D"/>
                </a:solidFill>
                <a:latin typeface="Arial"/>
              </a:defRPr>
            </a:pPr>
            <a:r>
              <a:t>B</a:t>
            </a:r>
          </a:p>
        </p:txBody>
      </p:sp>
      <p:sp>
        <p:nvSpPr>
          <p:cNvPr id="35" name="TextBox 34"/>
          <p:cNvSpPr txBox="1"/>
          <p:nvPr/>
        </p:nvSpPr>
        <p:spPr>
          <a:xfrm>
            <a:off x="3611879" y="4471416"/>
            <a:ext cx="3063240" cy="329184"/>
          </a:xfrm>
          <a:prstGeom prst="rect">
            <a:avLst/>
          </a:prstGeom>
          <a:noFill/>
        </p:spPr>
        <p:txBody>
          <a:bodyPr wrap="none" lIns="0" rIns="0" tIns="0" bIns="0" anchor="ctr">
            <a:spAutoFit/>
          </a:bodyPr>
          <a:lstStyle/>
          <a:p>
            <a:pPr algn="ctr">
              <a:defRPr sz="1900" b="0">
                <a:solidFill>
                  <a:srgbClr val="17382D"/>
                </a:solidFill>
                <a:latin typeface="Arial"/>
              </a:defRPr>
            </a:pPr>
            <a:r>
              <a:t>H1</a:t>
            </a:r>
          </a:p>
        </p:txBody>
      </p:sp>
      <p:sp>
        <p:nvSpPr>
          <p:cNvPr id="36" name="TextBox 35"/>
          <p:cNvSpPr txBox="1"/>
          <p:nvPr/>
        </p:nvSpPr>
        <p:spPr>
          <a:xfrm>
            <a:off x="6949440" y="4471416"/>
            <a:ext cx="3474720" cy="329184"/>
          </a:xfrm>
          <a:prstGeom prst="rect">
            <a:avLst/>
          </a:prstGeom>
          <a:noFill/>
        </p:spPr>
        <p:txBody>
          <a:bodyPr wrap="none" lIns="0" rIns="0" tIns="0" bIns="0" anchor="ctr">
            <a:spAutoFit/>
          </a:bodyPr>
          <a:lstStyle/>
          <a:p>
            <a:pPr algn="ctr">
              <a:defRPr sz="1900" b="0">
                <a:solidFill>
                  <a:srgbClr val="17382D"/>
                </a:solidFill>
                <a:latin typeface="Arial"/>
              </a:defRPr>
            </a:pPr>
            <a:r>
              <a:t>Reply 2</a:t>
            </a:r>
          </a:p>
        </p:txBody>
      </p:sp>
      <p:sp>
        <p:nvSpPr>
          <p:cNvPr id="37" name="TextBox 36"/>
          <p:cNvSpPr txBox="1"/>
          <p:nvPr/>
        </p:nvSpPr>
        <p:spPr>
          <a:xfrm>
            <a:off x="10698480" y="4471416"/>
            <a:ext cx="3200399" cy="329184"/>
          </a:xfrm>
          <a:prstGeom prst="rect">
            <a:avLst/>
          </a:prstGeom>
          <a:noFill/>
        </p:spPr>
        <p:txBody>
          <a:bodyPr wrap="none" lIns="0" rIns="0" tIns="0" bIns="0" anchor="ctr">
            <a:spAutoFit/>
          </a:bodyPr>
          <a:lstStyle/>
          <a:p>
            <a:pPr algn="ctr">
              <a:defRPr sz="2100" b="1">
                <a:solidFill>
                  <a:srgbClr val="17382D"/>
                </a:solidFill>
                <a:latin typeface="Arial"/>
              </a:defRPr>
            </a:pPr>
            <a:r>
              <a:t>9</a:t>
            </a:r>
          </a:p>
        </p:txBody>
      </p:sp>
      <p:sp>
        <p:nvSpPr>
          <p:cNvPr id="38" name="Rectangle 37"/>
          <p:cNvSpPr/>
          <p:nvPr/>
        </p:nvSpPr>
        <p:spPr>
          <a:xfrm>
            <a:off x="594360" y="4864608"/>
            <a:ext cx="13441680" cy="457200"/>
          </a:xfrm>
          <a:prstGeom prst="rect">
            <a:avLst/>
          </a:prstGeom>
          <a:solidFill>
            <a:srgbClr val="F0F3EF"/>
          </a:solidFill>
          <a:ln w="7620">
            <a:solidFill>
              <a:srgbClr val="DFE5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1520" y="4928616"/>
            <a:ext cx="2606040" cy="329184"/>
          </a:xfrm>
          <a:prstGeom prst="rect">
            <a:avLst/>
          </a:prstGeom>
          <a:noFill/>
        </p:spPr>
        <p:txBody>
          <a:bodyPr wrap="none" lIns="0" rIns="0" tIns="0" bIns="0" anchor="ctr">
            <a:spAutoFit/>
          </a:bodyPr>
          <a:lstStyle/>
          <a:p>
            <a:pPr algn="ctr">
              <a:defRPr sz="1900" b="1">
                <a:solidFill>
                  <a:srgbClr val="17382D"/>
                </a:solidFill>
                <a:latin typeface="Arial"/>
              </a:defRPr>
            </a:pPr>
            <a:r>
              <a:t>B</a:t>
            </a:r>
          </a:p>
        </p:txBody>
      </p:sp>
      <p:sp>
        <p:nvSpPr>
          <p:cNvPr id="40" name="TextBox 39"/>
          <p:cNvSpPr txBox="1"/>
          <p:nvPr/>
        </p:nvSpPr>
        <p:spPr>
          <a:xfrm>
            <a:off x="3611879" y="4928616"/>
            <a:ext cx="3063240" cy="329184"/>
          </a:xfrm>
          <a:prstGeom prst="rect">
            <a:avLst/>
          </a:prstGeom>
          <a:noFill/>
        </p:spPr>
        <p:txBody>
          <a:bodyPr wrap="none" lIns="0" rIns="0" tIns="0" bIns="0" anchor="ctr">
            <a:spAutoFit/>
          </a:bodyPr>
          <a:lstStyle/>
          <a:p>
            <a:pPr algn="ctr">
              <a:defRPr sz="1900" b="0">
                <a:solidFill>
                  <a:srgbClr val="17382D"/>
                </a:solidFill>
                <a:latin typeface="Arial"/>
              </a:defRPr>
            </a:pPr>
            <a:r>
              <a:t>H2</a:t>
            </a:r>
          </a:p>
        </p:txBody>
      </p:sp>
      <p:sp>
        <p:nvSpPr>
          <p:cNvPr id="41" name="TextBox 40"/>
          <p:cNvSpPr txBox="1"/>
          <p:nvPr/>
        </p:nvSpPr>
        <p:spPr>
          <a:xfrm>
            <a:off x="6949440" y="4928616"/>
            <a:ext cx="3474720" cy="329184"/>
          </a:xfrm>
          <a:prstGeom prst="rect">
            <a:avLst/>
          </a:prstGeom>
          <a:noFill/>
        </p:spPr>
        <p:txBody>
          <a:bodyPr wrap="none" lIns="0" rIns="0" tIns="0" bIns="0" anchor="ctr">
            <a:spAutoFit/>
          </a:bodyPr>
          <a:lstStyle/>
          <a:p>
            <a:pPr algn="ctr">
              <a:defRPr sz="1900" b="0">
                <a:solidFill>
                  <a:srgbClr val="17382D"/>
                </a:solidFill>
                <a:latin typeface="Arial"/>
              </a:defRPr>
            </a:pPr>
            <a:r>
              <a:t>Reply 1</a:t>
            </a:r>
          </a:p>
        </p:txBody>
      </p:sp>
      <p:sp>
        <p:nvSpPr>
          <p:cNvPr id="42" name="TextBox 41"/>
          <p:cNvSpPr txBox="1"/>
          <p:nvPr/>
        </p:nvSpPr>
        <p:spPr>
          <a:xfrm>
            <a:off x="10698480" y="4928616"/>
            <a:ext cx="3200399" cy="329184"/>
          </a:xfrm>
          <a:prstGeom prst="rect">
            <a:avLst/>
          </a:prstGeom>
          <a:noFill/>
        </p:spPr>
        <p:txBody>
          <a:bodyPr wrap="none" lIns="0" rIns="0" tIns="0" bIns="0" anchor="ctr">
            <a:spAutoFit/>
          </a:bodyPr>
          <a:lstStyle/>
          <a:p>
            <a:pPr algn="ctr">
              <a:defRPr sz="2100" b="1">
                <a:solidFill>
                  <a:srgbClr val="17382D"/>
                </a:solidFill>
                <a:latin typeface="Arial"/>
              </a:defRPr>
            </a:pPr>
            <a:r>
              <a:t>-3</a:t>
            </a:r>
          </a:p>
        </p:txBody>
      </p:sp>
      <p:sp>
        <p:nvSpPr>
          <p:cNvPr id="43" name="Rectangle 42"/>
          <p:cNvSpPr/>
          <p:nvPr/>
        </p:nvSpPr>
        <p:spPr>
          <a:xfrm>
            <a:off x="594360" y="5321808"/>
            <a:ext cx="13441680" cy="457200"/>
          </a:xfrm>
          <a:prstGeom prst="rect">
            <a:avLst/>
          </a:prstGeom>
          <a:solidFill>
            <a:srgbClr val="F0F3EF"/>
          </a:solidFill>
          <a:ln w="7620">
            <a:solidFill>
              <a:srgbClr val="DFE5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1520" y="5385816"/>
            <a:ext cx="2606040" cy="329184"/>
          </a:xfrm>
          <a:prstGeom prst="rect">
            <a:avLst/>
          </a:prstGeom>
          <a:noFill/>
        </p:spPr>
        <p:txBody>
          <a:bodyPr wrap="none" lIns="0" rIns="0" tIns="0" bIns="0" anchor="ctr">
            <a:spAutoFit/>
          </a:bodyPr>
          <a:lstStyle/>
          <a:p>
            <a:pPr algn="ctr">
              <a:defRPr sz="1900" b="1">
                <a:solidFill>
                  <a:srgbClr val="17382D"/>
                </a:solidFill>
                <a:latin typeface="Arial"/>
              </a:defRPr>
            </a:pPr>
            <a:r>
              <a:t>B</a:t>
            </a:r>
          </a:p>
        </p:txBody>
      </p:sp>
      <p:sp>
        <p:nvSpPr>
          <p:cNvPr id="45" name="TextBox 44"/>
          <p:cNvSpPr txBox="1"/>
          <p:nvPr/>
        </p:nvSpPr>
        <p:spPr>
          <a:xfrm>
            <a:off x="3611879" y="5385816"/>
            <a:ext cx="3063240" cy="329184"/>
          </a:xfrm>
          <a:prstGeom prst="rect">
            <a:avLst/>
          </a:prstGeom>
          <a:noFill/>
        </p:spPr>
        <p:txBody>
          <a:bodyPr wrap="none" lIns="0" rIns="0" tIns="0" bIns="0" anchor="ctr">
            <a:spAutoFit/>
          </a:bodyPr>
          <a:lstStyle/>
          <a:p>
            <a:pPr algn="ctr">
              <a:defRPr sz="1900" b="0">
                <a:solidFill>
                  <a:srgbClr val="17382D"/>
                </a:solidFill>
                <a:latin typeface="Arial"/>
              </a:defRPr>
            </a:pPr>
            <a:r>
              <a:t>H2</a:t>
            </a:r>
          </a:p>
        </p:txBody>
      </p:sp>
      <p:sp>
        <p:nvSpPr>
          <p:cNvPr id="46" name="TextBox 45"/>
          <p:cNvSpPr txBox="1"/>
          <p:nvPr/>
        </p:nvSpPr>
        <p:spPr>
          <a:xfrm>
            <a:off x="6949440" y="5385816"/>
            <a:ext cx="3474720" cy="329184"/>
          </a:xfrm>
          <a:prstGeom prst="rect">
            <a:avLst/>
          </a:prstGeom>
          <a:noFill/>
        </p:spPr>
        <p:txBody>
          <a:bodyPr wrap="none" lIns="0" rIns="0" tIns="0" bIns="0" anchor="ctr">
            <a:spAutoFit/>
          </a:bodyPr>
          <a:lstStyle/>
          <a:p>
            <a:pPr algn="ctr">
              <a:defRPr sz="1900" b="0">
                <a:solidFill>
                  <a:srgbClr val="17382D"/>
                </a:solidFill>
                <a:latin typeface="Arial"/>
              </a:defRPr>
            </a:pPr>
            <a:r>
              <a:t>Reply 2</a:t>
            </a:r>
          </a:p>
        </p:txBody>
      </p:sp>
      <p:sp>
        <p:nvSpPr>
          <p:cNvPr id="47" name="TextBox 46"/>
          <p:cNvSpPr txBox="1"/>
          <p:nvPr/>
        </p:nvSpPr>
        <p:spPr>
          <a:xfrm>
            <a:off x="10698480" y="5385816"/>
            <a:ext cx="3200399" cy="329184"/>
          </a:xfrm>
          <a:prstGeom prst="rect">
            <a:avLst/>
          </a:prstGeom>
          <a:noFill/>
        </p:spPr>
        <p:txBody>
          <a:bodyPr wrap="none" lIns="0" rIns="0" tIns="0" bIns="0" anchor="ctr">
            <a:spAutoFit/>
          </a:bodyPr>
          <a:lstStyle/>
          <a:p>
            <a:pPr algn="ctr">
              <a:defRPr sz="2100" b="1">
                <a:solidFill>
                  <a:srgbClr val="17382D"/>
                </a:solidFill>
                <a:latin typeface="Arial"/>
              </a:defRPr>
            </a:pPr>
            <a:r>
              <a:t>0</a:t>
            </a:r>
          </a:p>
        </p:txBody>
      </p:sp>
      <p:sp>
        <p:nvSpPr>
          <p:cNvPr id="48" name="Rounded Rectangle 47"/>
          <p:cNvSpPr/>
          <p:nvPr/>
        </p:nvSpPr>
        <p:spPr>
          <a:xfrm>
            <a:off x="594360" y="6172200"/>
            <a:ext cx="6601968" cy="914400"/>
          </a:xfrm>
          <a:prstGeom prst="roundRect">
            <a:avLst>
              <a:gd name="adj" fmla="val 8000"/>
            </a:avLst>
          </a:prstGeom>
          <a:solidFill>
            <a:srgbClr val="E8F1E8"/>
          </a:solidFill>
          <a:ln w="25400">
            <a:solidFill>
              <a:srgbClr val="9366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31520" y="6309360"/>
            <a:ext cx="6327648" cy="274320"/>
          </a:xfrm>
          <a:prstGeom prst="rect">
            <a:avLst/>
          </a:prstGeom>
          <a:noFill/>
        </p:spPr>
        <p:txBody>
          <a:bodyPr wrap="none" lIns="0" rIns="0" tIns="0" bIns="0" anchor="ctr">
            <a:spAutoFit/>
          </a:bodyPr>
          <a:lstStyle/>
          <a:p>
            <a:pPr algn="ctr">
              <a:defRPr sz="2100" b="1">
                <a:solidFill>
                  <a:srgbClr val="245B43"/>
                </a:solidFill>
                <a:latin typeface="Arial"/>
              </a:defRPr>
            </a:pPr>
            <a:r>
              <a:t>A = MIN(MAX(3, 6), MAX(0, 3))</a:t>
            </a:r>
          </a:p>
        </p:txBody>
      </p:sp>
      <p:sp>
        <p:nvSpPr>
          <p:cNvPr id="50" name="TextBox 49"/>
          <p:cNvSpPr txBox="1"/>
          <p:nvPr/>
        </p:nvSpPr>
        <p:spPr>
          <a:xfrm>
            <a:off x="731520" y="6665976"/>
            <a:ext cx="6327648" cy="237744"/>
          </a:xfrm>
          <a:prstGeom prst="rect">
            <a:avLst/>
          </a:prstGeom>
          <a:noFill/>
        </p:spPr>
        <p:txBody>
          <a:bodyPr wrap="none" lIns="0" rIns="0" tIns="0" bIns="0" anchor="ctr">
            <a:spAutoFit/>
          </a:bodyPr>
          <a:lstStyle/>
          <a:p>
            <a:pPr algn="ctr">
              <a:defRPr sz="2100" b="1">
                <a:solidFill>
                  <a:srgbClr val="245B43"/>
                </a:solidFill>
                <a:latin typeface="Arial"/>
              </a:defRPr>
            </a:pPr>
            <a:r>
              <a:t>= MIN(6, 3) = 3</a:t>
            </a:r>
          </a:p>
        </p:txBody>
      </p:sp>
      <p:sp>
        <p:nvSpPr>
          <p:cNvPr id="51" name="Rounded Rectangle 50"/>
          <p:cNvSpPr/>
          <p:nvPr/>
        </p:nvSpPr>
        <p:spPr>
          <a:xfrm>
            <a:off x="7434072" y="6172200"/>
            <a:ext cx="6601968" cy="914400"/>
          </a:xfrm>
          <a:prstGeom prst="roundRect">
            <a:avLst>
              <a:gd name="adj" fmla="val 8000"/>
            </a:avLst>
          </a:prstGeom>
          <a:solidFill>
            <a:srgbClr val="E8F1E8"/>
          </a:solidFill>
          <a:ln w="12700">
            <a:solidFill>
              <a:srgbClr val="C9D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571232" y="6309360"/>
            <a:ext cx="6327648" cy="274320"/>
          </a:xfrm>
          <a:prstGeom prst="rect">
            <a:avLst/>
          </a:prstGeom>
          <a:noFill/>
        </p:spPr>
        <p:txBody>
          <a:bodyPr wrap="none" lIns="0" rIns="0" tIns="0" bIns="0" anchor="ctr">
            <a:spAutoFit/>
          </a:bodyPr>
          <a:lstStyle/>
          <a:p>
            <a:pPr algn="ctr">
              <a:defRPr sz="2100" b="1">
                <a:solidFill>
                  <a:srgbClr val="245B43"/>
                </a:solidFill>
                <a:latin typeface="Arial"/>
              </a:defRPr>
            </a:pPr>
            <a:r>
              <a:t>B = MIN(MAX(6, 9), MAX(-3, 0))</a:t>
            </a:r>
          </a:p>
        </p:txBody>
      </p:sp>
      <p:sp>
        <p:nvSpPr>
          <p:cNvPr id="53" name="TextBox 52"/>
          <p:cNvSpPr txBox="1"/>
          <p:nvPr/>
        </p:nvSpPr>
        <p:spPr>
          <a:xfrm>
            <a:off x="7571232" y="6665976"/>
            <a:ext cx="6327648" cy="237744"/>
          </a:xfrm>
          <a:prstGeom prst="rect">
            <a:avLst/>
          </a:prstGeom>
          <a:noFill/>
        </p:spPr>
        <p:txBody>
          <a:bodyPr wrap="none" lIns="0" rIns="0" tIns="0" bIns="0" anchor="ctr">
            <a:spAutoFit/>
          </a:bodyPr>
          <a:lstStyle/>
          <a:p>
            <a:pPr algn="ctr">
              <a:defRPr sz="2100" b="1">
                <a:solidFill>
                  <a:srgbClr val="245B43"/>
                </a:solidFill>
                <a:latin typeface="Arial"/>
              </a:defRPr>
            </a:pPr>
            <a:r>
              <a:t>= MIN(9, 0) = 0</a:t>
            </a:r>
          </a:p>
        </p:txBody>
      </p:sp>
      <p:sp>
        <p:nvSpPr>
          <p:cNvPr id="54" name="TextBox 53"/>
          <p:cNvSpPr txBox="1"/>
          <p:nvPr/>
        </p:nvSpPr>
        <p:spPr>
          <a:xfrm>
            <a:off x="594360" y="7434072"/>
            <a:ext cx="13441680" cy="393192"/>
          </a:xfrm>
          <a:prstGeom prst="rect">
            <a:avLst/>
          </a:prstGeom>
          <a:noFill/>
        </p:spPr>
        <p:txBody>
          <a:bodyPr wrap="none" lIns="0" rIns="0" tIns="0" bIns="0" anchor="ctr">
            <a:spAutoFit/>
          </a:bodyPr>
          <a:lstStyle/>
          <a:p>
            <a:pPr algn="ctr">
              <a:defRPr sz="2700" b="1">
                <a:solidFill>
                  <a:srgbClr val="17382D"/>
                </a:solidFill>
                <a:latin typeface="Arial"/>
              </a:defRPr>
            </a:pPr>
            <a:r>
              <a:t>MAX(3, 0) = 3  →  choose 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