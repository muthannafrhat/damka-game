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 3 counts the first BOT move simulated in findBestMove, followed by two recursive moves. Every score is from the BOT perspective. Begin with the eight bottom scores. The last BOT calls return MAX values 6,3,9,0. The HUMAN calls return MIN values 3 for A and 0 for B. findBestMove compares those returned values and returns move A. Follow the gold path A/H2/Reply2, but explain that only A is executed now. The other moves are simulated on copied Game objects. Illustrative material scores, not a legal-board trace. Assumes alternating turns and no earlier winner. In actual capture chains the same player may continue; game.getCurrentPlayer() determines MIN/MAX. Alpha-beta causes no cutoffs with these values and this move order.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to show each complete three-move path separately. Reply1/Reply2 name local options within their own branch. Scores are evaluated at depth0, rather than added along the path. For A: final BOT calls return6 and3; HUMAN returns3. For B: final BOT calls return9 and0; HUMAN returns0. The wrapper findBestMove tracks bestScore and bestMove and returns A because3&gt;0.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210312"/>
            <a:ext cx="10972800" cy="201168"/>
          </a:xfrm>
          <a:prstGeom prst="rect">
            <a:avLst/>
          </a:prstGeom>
          <a:noFill/>
        </p:spPr>
        <p:txBody>
          <a:bodyPr wrap="none" lIns="0" rIns="0" tIns="0" bIns="0" anchor="ctr">
            <a:spAutoFit/>
          </a:bodyPr>
          <a:lstStyle/>
          <a:p>
            <a:pPr algn="l">
              <a:defRPr sz="1300" b="1">
                <a:solidFill>
                  <a:srgbClr val="245B43"/>
                </a:solidFill>
                <a:latin typeface="Arial"/>
              </a:defRPr>
            </a:pPr>
            <a:r>
              <a:t>DAMKA  /  HOW THE BOT CHOOSES A MOVE</a:t>
            </a:r>
          </a:p>
        </p:txBody>
      </p:sp>
      <p:sp>
        <p:nvSpPr>
          <p:cNvPr id="3" name="TextBox 2"/>
          <p:cNvSpPr txBox="1"/>
          <p:nvPr/>
        </p:nvSpPr>
        <p:spPr>
          <a:xfrm>
            <a:off x="594360" y="603504"/>
            <a:ext cx="13441680" cy="512064"/>
          </a:xfrm>
          <a:prstGeom prst="rect">
            <a:avLst/>
          </a:prstGeom>
          <a:noFill/>
        </p:spPr>
        <p:txBody>
          <a:bodyPr wrap="none" lIns="0" rIns="0" tIns="0" bIns="0" anchor="ctr">
            <a:spAutoFit/>
          </a:bodyPr>
          <a:lstStyle/>
          <a:p>
            <a:pPr algn="l">
              <a:defRPr sz="3300" b="1">
                <a:solidFill>
                  <a:srgbClr val="17382D"/>
                </a:solidFill>
                <a:latin typeface="Arial"/>
              </a:defRPr>
            </a:pPr>
            <a:r>
              <a:t>Minimax: three moves ahead</a:t>
            </a:r>
          </a:p>
        </p:txBody>
      </p:sp>
      <p:sp>
        <p:nvSpPr>
          <p:cNvPr id="4" name="TextBox 3"/>
          <p:cNvSpPr txBox="1"/>
          <p:nvPr/>
        </p:nvSpPr>
        <p:spPr>
          <a:xfrm>
            <a:off x="594360" y="1197864"/>
            <a:ext cx="13441680" cy="329184"/>
          </a:xfrm>
          <a:prstGeom prst="rect">
            <a:avLst/>
          </a:prstGeom>
          <a:noFill/>
        </p:spPr>
        <p:txBody>
          <a:bodyPr wrap="none" lIns="0" rIns="0" tIns="0" bIns="0" anchor="ctr">
            <a:spAutoFit/>
          </a:bodyPr>
          <a:lstStyle/>
          <a:p>
            <a:pPr algn="l">
              <a:defRPr sz="1900" b="0">
                <a:solidFill>
                  <a:srgbClr val="53665D"/>
                </a:solidFill>
                <a:latin typeface="Arial"/>
              </a:defRPr>
            </a:pPr>
            <a:r>
              <a:t>Explore BOT → HUMAN → BOT. Then return the scores upward to choose the first move.</a:t>
            </a:r>
          </a:p>
        </p:txBody>
      </p:sp>
      <p:cxnSp>
        <p:nvCxnSpPr>
          <p:cNvPr id="5" name="Connector 4"/>
          <p:cNvCxnSpPr/>
          <p:nvPr/>
        </p:nvCxnSpPr>
        <p:spPr>
          <a:xfrm>
            <a:off x="594360" y="1645920"/>
            <a:ext cx="13441680" cy="0"/>
          </a:xfrm>
          <a:prstGeom prst="line">
            <a:avLst/>
          </a:prstGeom>
          <a:ln w="12700">
            <a:solidFill>
              <a:srgbClr val="C9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18120"/>
            <a:ext cx="12527280" cy="201168"/>
          </a:xfrm>
          <a:prstGeom prst="rect">
            <a:avLst/>
          </a:prstGeom>
          <a:noFill/>
        </p:spPr>
        <p:txBody>
          <a:bodyPr wrap="none" lIns="0" rIns="0" tIns="0" bIns="0" anchor="ctr">
            <a:spAutoFit/>
          </a:bodyPr>
          <a:lstStyle/>
          <a:p>
            <a:pPr algn="l">
              <a:defRPr sz="1300" b="0">
                <a:solidFill>
                  <a:srgbClr val="53665D"/>
                </a:solidFill>
                <a:latin typeface="Arial"/>
              </a:defRPr>
            </a:pPr>
            <a:r>
              <a:t>Illustrative scores; alternating turns and no early winner. Every score is from the BOT’s perspective.</a:t>
            </a:r>
          </a:p>
        </p:txBody>
      </p:sp>
      <p:sp>
        <p:nvSpPr>
          <p:cNvPr id="7" name="TextBox 6"/>
          <p:cNvSpPr txBox="1"/>
          <p:nvPr/>
        </p:nvSpPr>
        <p:spPr>
          <a:xfrm>
            <a:off x="13167360" y="7799831"/>
            <a:ext cx="868680" cy="228600"/>
          </a:xfrm>
          <a:prstGeom prst="rect">
            <a:avLst/>
          </a:prstGeom>
          <a:noFill/>
        </p:spPr>
        <p:txBody>
          <a:bodyPr wrap="none" lIns="0" rIns="0" tIns="0" bIns="0" anchor="ctr">
            <a:spAutoFit/>
          </a:bodyPr>
          <a:lstStyle/>
          <a:p>
            <a:pPr algn="r">
              <a:defRPr sz="1300" b="0">
                <a:solidFill>
                  <a:srgbClr val="53665D"/>
                </a:solidFill>
                <a:latin typeface="Arial"/>
              </a:defRPr>
            </a:pPr>
            <a:r>
              <a:t>01 / 02</a:t>
            </a:r>
          </a:p>
        </p:txBody>
      </p:sp>
      <p:cxnSp>
        <p:nvCxnSpPr>
          <p:cNvPr id="8" name="Connector 7"/>
          <p:cNvCxnSpPr/>
          <p:nvPr/>
        </p:nvCxnSpPr>
        <p:spPr>
          <a:xfrm flipV="1">
            <a:off x="4846320" y="2615184"/>
            <a:ext cx="2514600" cy="448056"/>
          </a:xfrm>
          <a:prstGeom prst="line">
            <a:avLst/>
          </a:prstGeom>
          <a:ln w="38100">
            <a:solidFill>
              <a:srgbClr val="936600"/>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3291840" y="3867912"/>
            <a:ext cx="1115568" cy="539496"/>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697480" y="5212080"/>
            <a:ext cx="301752" cy="530352"/>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584448" y="5212080"/>
            <a:ext cx="301752" cy="530352"/>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5285231" y="3867912"/>
            <a:ext cx="1115569" cy="539496"/>
          </a:xfrm>
          <a:prstGeom prst="line">
            <a:avLst/>
          </a:prstGeom>
          <a:ln w="38100">
            <a:solidFill>
              <a:srgbClr val="93660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5806440" y="5212080"/>
            <a:ext cx="301752" cy="530352"/>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6693408" y="5212080"/>
            <a:ext cx="301752" cy="530352"/>
          </a:xfrm>
          <a:prstGeom prst="line">
            <a:avLst/>
          </a:prstGeom>
          <a:ln w="38100">
            <a:solidFill>
              <a:srgbClr val="9366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8549640" y="2615184"/>
            <a:ext cx="2514600" cy="448056"/>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509760" y="3867912"/>
            <a:ext cx="1115568" cy="539496"/>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915400" y="5212080"/>
            <a:ext cx="301752" cy="530352"/>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9802368" y="5212080"/>
            <a:ext cx="301752" cy="530352"/>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11503152" y="3867912"/>
            <a:ext cx="1115568" cy="539496"/>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2024360" y="5212080"/>
            <a:ext cx="301752" cy="530352"/>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2911328" y="5212080"/>
            <a:ext cx="301752" cy="530352"/>
          </a:xfrm>
          <a:prstGeom prst="line">
            <a:avLst/>
          </a:prstGeom>
          <a:ln w="22860">
            <a:solidFill>
              <a:srgbClr val="C9D4CC"/>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1837943"/>
            <a:ext cx="1389888" cy="283464"/>
          </a:xfrm>
          <a:prstGeom prst="rect">
            <a:avLst/>
          </a:prstGeom>
          <a:noFill/>
        </p:spPr>
        <p:txBody>
          <a:bodyPr wrap="none" lIns="0" rIns="0" tIns="0" bIns="0" anchor="ctr">
            <a:spAutoFit/>
          </a:bodyPr>
          <a:lstStyle/>
          <a:p>
            <a:pPr algn="l">
              <a:defRPr sz="2200" b="1">
                <a:solidFill>
                  <a:srgbClr val="9D3E32"/>
                </a:solidFill>
                <a:latin typeface="Arial"/>
              </a:defRPr>
            </a:pPr>
            <a:r>
              <a:t>1  BOT</a:t>
            </a:r>
          </a:p>
        </p:txBody>
      </p:sp>
      <p:sp>
        <p:nvSpPr>
          <p:cNvPr id="23" name="TextBox 22"/>
          <p:cNvSpPr txBox="1"/>
          <p:nvPr/>
        </p:nvSpPr>
        <p:spPr>
          <a:xfrm>
            <a:off x="594360" y="2157984"/>
            <a:ext cx="1389888" cy="228600"/>
          </a:xfrm>
          <a:prstGeom prst="rect">
            <a:avLst/>
          </a:prstGeom>
          <a:noFill/>
        </p:spPr>
        <p:txBody>
          <a:bodyPr wrap="none" lIns="0" rIns="0" tIns="0" bIns="0" anchor="ctr">
            <a:spAutoFit/>
          </a:bodyPr>
          <a:lstStyle/>
          <a:p>
            <a:pPr algn="l">
              <a:defRPr sz="1800" b="1">
                <a:solidFill>
                  <a:srgbClr val="9D3E32"/>
                </a:solidFill>
                <a:latin typeface="Arial"/>
              </a:defRPr>
            </a:pPr>
            <a:r>
              <a:t>MAX</a:t>
            </a:r>
          </a:p>
        </p:txBody>
      </p:sp>
      <p:sp>
        <p:nvSpPr>
          <p:cNvPr id="24" name="TextBox 23"/>
          <p:cNvSpPr txBox="1"/>
          <p:nvPr/>
        </p:nvSpPr>
        <p:spPr>
          <a:xfrm>
            <a:off x="594360" y="2441448"/>
            <a:ext cx="1389888" cy="201168"/>
          </a:xfrm>
          <a:prstGeom prst="rect">
            <a:avLst/>
          </a:prstGeom>
          <a:noFill/>
        </p:spPr>
        <p:txBody>
          <a:bodyPr wrap="none" lIns="0" rIns="0" tIns="0" bIns="0" anchor="ctr">
            <a:spAutoFit/>
          </a:bodyPr>
          <a:lstStyle/>
          <a:p>
            <a:pPr algn="l">
              <a:defRPr sz="1400" b="0">
                <a:solidFill>
                  <a:srgbClr val="53665D"/>
                </a:solidFill>
                <a:latin typeface="Arial"/>
              </a:defRPr>
            </a:pPr>
            <a:r>
              <a:t>findBestMove()</a:t>
            </a:r>
          </a:p>
        </p:txBody>
      </p:sp>
      <p:sp>
        <p:nvSpPr>
          <p:cNvPr id="25" name="TextBox 24"/>
          <p:cNvSpPr txBox="1"/>
          <p:nvPr/>
        </p:nvSpPr>
        <p:spPr>
          <a:xfrm>
            <a:off x="594360" y="2679191"/>
            <a:ext cx="1389888" cy="201168"/>
          </a:xfrm>
          <a:prstGeom prst="rect">
            <a:avLst/>
          </a:prstGeom>
          <a:noFill/>
        </p:spPr>
        <p:txBody>
          <a:bodyPr wrap="none" lIns="0" rIns="0" tIns="0" bIns="0" anchor="ctr">
            <a:spAutoFit/>
          </a:bodyPr>
          <a:lstStyle/>
          <a:p>
            <a:pPr algn="l">
              <a:defRPr sz="1400" b="0">
                <a:solidFill>
                  <a:srgbClr val="53665D"/>
                </a:solidFill>
                <a:latin typeface="Arial"/>
              </a:defRPr>
            </a:pPr>
            <a:r>
              <a:t>depth = 3</a:t>
            </a:r>
          </a:p>
        </p:txBody>
      </p:sp>
      <p:sp>
        <p:nvSpPr>
          <p:cNvPr id="26" name="TextBox 25"/>
          <p:cNvSpPr txBox="1"/>
          <p:nvPr/>
        </p:nvSpPr>
        <p:spPr>
          <a:xfrm>
            <a:off x="594360" y="3099816"/>
            <a:ext cx="1389888" cy="283464"/>
          </a:xfrm>
          <a:prstGeom prst="rect">
            <a:avLst/>
          </a:prstGeom>
          <a:noFill/>
        </p:spPr>
        <p:txBody>
          <a:bodyPr wrap="none" lIns="0" rIns="0" tIns="0" bIns="0" anchor="ctr">
            <a:spAutoFit/>
          </a:bodyPr>
          <a:lstStyle/>
          <a:p>
            <a:pPr algn="l">
              <a:defRPr sz="2200" b="1">
                <a:solidFill>
                  <a:srgbClr val="245B43"/>
                </a:solidFill>
                <a:latin typeface="Arial"/>
              </a:defRPr>
            </a:pPr>
            <a:r>
              <a:t>2  HUMAN</a:t>
            </a:r>
          </a:p>
        </p:txBody>
      </p:sp>
      <p:sp>
        <p:nvSpPr>
          <p:cNvPr id="27" name="TextBox 26"/>
          <p:cNvSpPr txBox="1"/>
          <p:nvPr/>
        </p:nvSpPr>
        <p:spPr>
          <a:xfrm>
            <a:off x="594360" y="3419856"/>
            <a:ext cx="1389888" cy="228600"/>
          </a:xfrm>
          <a:prstGeom prst="rect">
            <a:avLst/>
          </a:prstGeom>
          <a:noFill/>
        </p:spPr>
        <p:txBody>
          <a:bodyPr wrap="none" lIns="0" rIns="0" tIns="0" bIns="0" anchor="ctr">
            <a:spAutoFit/>
          </a:bodyPr>
          <a:lstStyle/>
          <a:p>
            <a:pPr algn="l">
              <a:defRPr sz="1800" b="1">
                <a:solidFill>
                  <a:srgbClr val="245B43"/>
                </a:solidFill>
                <a:latin typeface="Arial"/>
              </a:defRPr>
            </a:pPr>
            <a:r>
              <a:t>MIN</a:t>
            </a:r>
          </a:p>
        </p:txBody>
      </p:sp>
      <p:sp>
        <p:nvSpPr>
          <p:cNvPr id="28" name="TextBox 27"/>
          <p:cNvSpPr txBox="1"/>
          <p:nvPr/>
        </p:nvSpPr>
        <p:spPr>
          <a:xfrm>
            <a:off x="594360" y="3703320"/>
            <a:ext cx="1389888" cy="201168"/>
          </a:xfrm>
          <a:prstGeom prst="rect">
            <a:avLst/>
          </a:prstGeom>
          <a:noFill/>
        </p:spPr>
        <p:txBody>
          <a:bodyPr wrap="none" lIns="0" rIns="0" tIns="0" bIns="0" anchor="ctr">
            <a:spAutoFit/>
          </a:bodyPr>
          <a:lstStyle/>
          <a:p>
            <a:pPr algn="l">
              <a:defRPr sz="1400" b="0">
                <a:solidFill>
                  <a:srgbClr val="53665D"/>
                </a:solidFill>
                <a:latin typeface="Arial"/>
              </a:defRPr>
            </a:pPr>
            <a:r>
              <a:t>minimax()</a:t>
            </a:r>
          </a:p>
        </p:txBody>
      </p:sp>
      <p:sp>
        <p:nvSpPr>
          <p:cNvPr id="29" name="TextBox 28"/>
          <p:cNvSpPr txBox="1"/>
          <p:nvPr/>
        </p:nvSpPr>
        <p:spPr>
          <a:xfrm>
            <a:off x="594360" y="3941064"/>
            <a:ext cx="1389888" cy="201168"/>
          </a:xfrm>
          <a:prstGeom prst="rect">
            <a:avLst/>
          </a:prstGeom>
          <a:noFill/>
        </p:spPr>
        <p:txBody>
          <a:bodyPr wrap="none" lIns="0" rIns="0" tIns="0" bIns="0" anchor="ctr">
            <a:spAutoFit/>
          </a:bodyPr>
          <a:lstStyle/>
          <a:p>
            <a:pPr algn="l">
              <a:defRPr sz="1400" b="0">
                <a:solidFill>
                  <a:srgbClr val="53665D"/>
                </a:solidFill>
                <a:latin typeface="Arial"/>
              </a:defRPr>
            </a:pPr>
            <a:r>
              <a:t>depth = 2</a:t>
            </a:r>
          </a:p>
        </p:txBody>
      </p:sp>
      <p:sp>
        <p:nvSpPr>
          <p:cNvPr id="30" name="TextBox 29"/>
          <p:cNvSpPr txBox="1"/>
          <p:nvPr/>
        </p:nvSpPr>
        <p:spPr>
          <a:xfrm>
            <a:off x="594360" y="4443984"/>
            <a:ext cx="1389888" cy="283464"/>
          </a:xfrm>
          <a:prstGeom prst="rect">
            <a:avLst/>
          </a:prstGeom>
          <a:noFill/>
        </p:spPr>
        <p:txBody>
          <a:bodyPr wrap="none" lIns="0" rIns="0" tIns="0" bIns="0" anchor="ctr">
            <a:spAutoFit/>
          </a:bodyPr>
          <a:lstStyle/>
          <a:p>
            <a:pPr algn="l">
              <a:defRPr sz="2200" b="1">
                <a:solidFill>
                  <a:srgbClr val="9D3E32"/>
                </a:solidFill>
                <a:latin typeface="Arial"/>
              </a:defRPr>
            </a:pPr>
            <a:r>
              <a:t>3  BOT</a:t>
            </a:r>
          </a:p>
        </p:txBody>
      </p:sp>
      <p:sp>
        <p:nvSpPr>
          <p:cNvPr id="31" name="TextBox 30"/>
          <p:cNvSpPr txBox="1"/>
          <p:nvPr/>
        </p:nvSpPr>
        <p:spPr>
          <a:xfrm>
            <a:off x="594360" y="4764024"/>
            <a:ext cx="1389888" cy="228600"/>
          </a:xfrm>
          <a:prstGeom prst="rect">
            <a:avLst/>
          </a:prstGeom>
          <a:noFill/>
        </p:spPr>
        <p:txBody>
          <a:bodyPr wrap="none" lIns="0" rIns="0" tIns="0" bIns="0" anchor="ctr">
            <a:spAutoFit/>
          </a:bodyPr>
          <a:lstStyle/>
          <a:p>
            <a:pPr algn="l">
              <a:defRPr sz="1800" b="1">
                <a:solidFill>
                  <a:srgbClr val="9D3E32"/>
                </a:solidFill>
                <a:latin typeface="Arial"/>
              </a:defRPr>
            </a:pPr>
            <a:r>
              <a:t>MAX</a:t>
            </a:r>
          </a:p>
        </p:txBody>
      </p:sp>
      <p:sp>
        <p:nvSpPr>
          <p:cNvPr id="32" name="TextBox 31"/>
          <p:cNvSpPr txBox="1"/>
          <p:nvPr/>
        </p:nvSpPr>
        <p:spPr>
          <a:xfrm>
            <a:off x="594360" y="5047488"/>
            <a:ext cx="1389888" cy="201168"/>
          </a:xfrm>
          <a:prstGeom prst="rect">
            <a:avLst/>
          </a:prstGeom>
          <a:noFill/>
        </p:spPr>
        <p:txBody>
          <a:bodyPr wrap="none" lIns="0" rIns="0" tIns="0" bIns="0" anchor="ctr">
            <a:spAutoFit/>
          </a:bodyPr>
          <a:lstStyle/>
          <a:p>
            <a:pPr algn="l">
              <a:defRPr sz="1400" b="0">
                <a:solidFill>
                  <a:srgbClr val="53665D"/>
                </a:solidFill>
                <a:latin typeface="Arial"/>
              </a:defRPr>
            </a:pPr>
            <a:r>
              <a:t>minimax()</a:t>
            </a:r>
          </a:p>
        </p:txBody>
      </p:sp>
      <p:sp>
        <p:nvSpPr>
          <p:cNvPr id="33" name="TextBox 32"/>
          <p:cNvSpPr txBox="1"/>
          <p:nvPr/>
        </p:nvSpPr>
        <p:spPr>
          <a:xfrm>
            <a:off x="594360" y="5285232"/>
            <a:ext cx="1389888" cy="201168"/>
          </a:xfrm>
          <a:prstGeom prst="rect">
            <a:avLst/>
          </a:prstGeom>
          <a:noFill/>
        </p:spPr>
        <p:txBody>
          <a:bodyPr wrap="none" lIns="0" rIns="0" tIns="0" bIns="0" anchor="ctr">
            <a:spAutoFit/>
          </a:bodyPr>
          <a:lstStyle/>
          <a:p>
            <a:pPr algn="l">
              <a:defRPr sz="1400" b="0">
                <a:solidFill>
                  <a:srgbClr val="53665D"/>
                </a:solidFill>
                <a:latin typeface="Arial"/>
              </a:defRPr>
            </a:pPr>
            <a:r>
              <a:t>depth = 1</a:t>
            </a:r>
          </a:p>
        </p:txBody>
      </p:sp>
      <p:sp>
        <p:nvSpPr>
          <p:cNvPr id="34" name="TextBox 33"/>
          <p:cNvSpPr txBox="1"/>
          <p:nvPr/>
        </p:nvSpPr>
        <p:spPr>
          <a:xfrm>
            <a:off x="594360" y="5769864"/>
            <a:ext cx="1389888" cy="283464"/>
          </a:xfrm>
          <a:prstGeom prst="rect">
            <a:avLst/>
          </a:prstGeom>
          <a:noFill/>
        </p:spPr>
        <p:txBody>
          <a:bodyPr wrap="none" lIns="0" rIns="0" tIns="0" bIns="0" anchor="ctr">
            <a:spAutoFit/>
          </a:bodyPr>
          <a:lstStyle/>
          <a:p>
            <a:pPr algn="l">
              <a:defRPr sz="2200" b="1">
                <a:solidFill>
                  <a:srgbClr val="17382D"/>
                </a:solidFill>
                <a:latin typeface="Arial"/>
              </a:defRPr>
            </a:pPr>
            <a:r>
              <a:t>SCORE</a:t>
            </a:r>
          </a:p>
        </p:txBody>
      </p:sp>
      <p:sp>
        <p:nvSpPr>
          <p:cNvPr id="35" name="TextBox 34"/>
          <p:cNvSpPr txBox="1"/>
          <p:nvPr/>
        </p:nvSpPr>
        <p:spPr>
          <a:xfrm>
            <a:off x="594360" y="6089903"/>
            <a:ext cx="1389888" cy="228600"/>
          </a:xfrm>
          <a:prstGeom prst="rect">
            <a:avLst/>
          </a:prstGeom>
          <a:noFill/>
        </p:spPr>
        <p:txBody>
          <a:bodyPr wrap="none" lIns="0" rIns="0" tIns="0" bIns="0" anchor="ctr">
            <a:spAutoFit/>
          </a:bodyPr>
          <a:lstStyle/>
          <a:p>
            <a:pPr algn="l">
              <a:defRPr sz="1800" b="1">
                <a:solidFill>
                  <a:srgbClr val="17382D"/>
                </a:solidFill>
                <a:latin typeface="Arial"/>
              </a:defRPr>
            </a:pPr>
            <a:r>
              <a:t>EVALUATE</a:t>
            </a:r>
          </a:p>
        </p:txBody>
      </p:sp>
      <p:sp>
        <p:nvSpPr>
          <p:cNvPr id="36" name="TextBox 35"/>
          <p:cNvSpPr txBox="1"/>
          <p:nvPr/>
        </p:nvSpPr>
        <p:spPr>
          <a:xfrm>
            <a:off x="594360" y="6373368"/>
            <a:ext cx="1389888" cy="201168"/>
          </a:xfrm>
          <a:prstGeom prst="rect">
            <a:avLst/>
          </a:prstGeom>
          <a:noFill/>
        </p:spPr>
        <p:txBody>
          <a:bodyPr wrap="none" lIns="0" rIns="0" tIns="0" bIns="0" anchor="ctr">
            <a:spAutoFit/>
          </a:bodyPr>
          <a:lstStyle/>
          <a:p>
            <a:pPr algn="l">
              <a:defRPr sz="1400" b="0">
                <a:solidFill>
                  <a:srgbClr val="53665D"/>
                </a:solidFill>
                <a:latin typeface="Arial"/>
              </a:defRPr>
            </a:pPr>
            <a:r>
              <a:t>evaluateBoard()</a:t>
            </a:r>
          </a:p>
        </p:txBody>
      </p:sp>
      <p:sp>
        <p:nvSpPr>
          <p:cNvPr id="37" name="TextBox 36"/>
          <p:cNvSpPr txBox="1"/>
          <p:nvPr/>
        </p:nvSpPr>
        <p:spPr>
          <a:xfrm>
            <a:off x="594360" y="6611112"/>
            <a:ext cx="1389888" cy="201168"/>
          </a:xfrm>
          <a:prstGeom prst="rect">
            <a:avLst/>
          </a:prstGeom>
          <a:noFill/>
        </p:spPr>
        <p:txBody>
          <a:bodyPr wrap="none" lIns="0" rIns="0" tIns="0" bIns="0" anchor="ctr">
            <a:spAutoFit/>
          </a:bodyPr>
          <a:lstStyle/>
          <a:p>
            <a:pPr algn="l">
              <a:defRPr sz="1400" b="0">
                <a:solidFill>
                  <a:srgbClr val="53665D"/>
                </a:solidFill>
                <a:latin typeface="Arial"/>
              </a:defRPr>
            </a:pPr>
            <a:r>
              <a:t>depth = 0</a:t>
            </a:r>
          </a:p>
        </p:txBody>
      </p:sp>
      <p:sp>
        <p:nvSpPr>
          <p:cNvPr id="38" name="Rounded Rectangle 37"/>
          <p:cNvSpPr/>
          <p:nvPr/>
        </p:nvSpPr>
        <p:spPr>
          <a:xfrm>
            <a:off x="6217920" y="1810512"/>
            <a:ext cx="3474720" cy="804672"/>
          </a:xfrm>
          <a:prstGeom prst="roundRect">
            <a:avLst>
              <a:gd name="adj" fmla="val 8000"/>
            </a:avLst>
          </a:prstGeom>
          <a:solidFill>
            <a:srgbClr val="FCEEE8"/>
          </a:solidFill>
          <a:ln w="31750">
            <a:solidFill>
              <a:srgbClr val="93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59" y="1883664"/>
            <a:ext cx="3291839" cy="310896"/>
          </a:xfrm>
          <a:prstGeom prst="rect">
            <a:avLst/>
          </a:prstGeom>
          <a:noFill/>
        </p:spPr>
        <p:txBody>
          <a:bodyPr wrap="none" lIns="0" rIns="0" tIns="0" bIns="0" anchor="ctr">
            <a:spAutoFit/>
          </a:bodyPr>
          <a:lstStyle/>
          <a:p>
            <a:pPr algn="ctr">
              <a:defRPr sz="2500" b="1">
                <a:solidFill>
                  <a:srgbClr val="9D3E32"/>
                </a:solidFill>
                <a:latin typeface="Arial"/>
              </a:defRPr>
            </a:pPr>
            <a:r>
              <a:t>BOT chooses A</a:t>
            </a:r>
          </a:p>
        </p:txBody>
      </p:sp>
      <p:sp>
        <p:nvSpPr>
          <p:cNvPr id="40" name="TextBox 39"/>
          <p:cNvSpPr txBox="1"/>
          <p:nvPr/>
        </p:nvSpPr>
        <p:spPr>
          <a:xfrm>
            <a:off x="6309359" y="2267712"/>
            <a:ext cx="3291839" cy="237744"/>
          </a:xfrm>
          <a:prstGeom prst="rect">
            <a:avLst/>
          </a:prstGeom>
          <a:noFill/>
        </p:spPr>
        <p:txBody>
          <a:bodyPr wrap="none" lIns="0" rIns="0" tIns="0" bIns="0" anchor="ctr">
            <a:spAutoFit/>
          </a:bodyPr>
          <a:lstStyle/>
          <a:p>
            <a:pPr algn="ctr">
              <a:defRPr sz="2000" b="1">
                <a:solidFill>
                  <a:srgbClr val="17382D"/>
                </a:solidFill>
                <a:latin typeface="Arial"/>
              </a:defRPr>
            </a:pPr>
            <a:r>
              <a:t>MAX(3, 0) = 3</a:t>
            </a:r>
          </a:p>
        </p:txBody>
      </p:sp>
      <p:sp>
        <p:nvSpPr>
          <p:cNvPr id="41" name="Rounded Rectangle 40"/>
          <p:cNvSpPr/>
          <p:nvPr/>
        </p:nvSpPr>
        <p:spPr>
          <a:xfrm>
            <a:off x="3337560" y="3063240"/>
            <a:ext cx="3017520" cy="804672"/>
          </a:xfrm>
          <a:prstGeom prst="roundRect">
            <a:avLst>
              <a:gd name="adj" fmla="val 8000"/>
            </a:avLst>
          </a:prstGeom>
          <a:solidFill>
            <a:srgbClr val="E8F1E8"/>
          </a:solidFill>
          <a:ln w="29209">
            <a:solidFill>
              <a:srgbClr val="93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29000" y="3127248"/>
            <a:ext cx="2834640" cy="246888"/>
          </a:xfrm>
          <a:prstGeom prst="rect">
            <a:avLst/>
          </a:prstGeom>
          <a:noFill/>
        </p:spPr>
        <p:txBody>
          <a:bodyPr wrap="none" lIns="0" rIns="0" tIns="0" bIns="0" anchor="ctr">
            <a:spAutoFit/>
          </a:bodyPr>
          <a:lstStyle/>
          <a:p>
            <a:pPr algn="ctr">
              <a:defRPr sz="1800" b="1">
                <a:solidFill>
                  <a:srgbClr val="245B43"/>
                </a:solidFill>
                <a:latin typeface="Arial"/>
              </a:defRPr>
            </a:pPr>
            <a:r>
              <a:t>After move A</a:t>
            </a:r>
          </a:p>
        </p:txBody>
      </p:sp>
      <p:sp>
        <p:nvSpPr>
          <p:cNvPr id="43" name="TextBox 42"/>
          <p:cNvSpPr txBox="1"/>
          <p:nvPr/>
        </p:nvSpPr>
        <p:spPr>
          <a:xfrm>
            <a:off x="3429000" y="3465576"/>
            <a:ext cx="2834640" cy="274320"/>
          </a:xfrm>
          <a:prstGeom prst="rect">
            <a:avLst/>
          </a:prstGeom>
          <a:noFill/>
        </p:spPr>
        <p:txBody>
          <a:bodyPr wrap="none" lIns="0" rIns="0" tIns="0" bIns="0" anchor="ctr">
            <a:spAutoFit/>
          </a:bodyPr>
          <a:lstStyle/>
          <a:p>
            <a:pPr algn="ctr">
              <a:defRPr sz="2400" b="1">
                <a:solidFill>
                  <a:srgbClr val="245B43"/>
                </a:solidFill>
                <a:latin typeface="Arial"/>
              </a:defRPr>
            </a:pPr>
            <a:r>
              <a:t>MIN(6, 3) = 3</a:t>
            </a:r>
          </a:p>
        </p:txBody>
      </p:sp>
      <p:sp>
        <p:nvSpPr>
          <p:cNvPr id="44" name="Rounded Rectangle 43"/>
          <p:cNvSpPr/>
          <p:nvPr/>
        </p:nvSpPr>
        <p:spPr>
          <a:xfrm>
            <a:off x="5879592" y="2724912"/>
            <a:ext cx="384048" cy="256032"/>
          </a:xfrm>
          <a:prstGeom prst="roundRect">
            <a:avLst>
              <a:gd name="adj" fmla="val 8000"/>
            </a:avLst>
          </a:prstGeom>
          <a:solidFill>
            <a:srgbClr val="F7F8F4"/>
          </a:solidFill>
          <a:ln w="12700">
            <a:solidFill>
              <a:srgbClr val="F7F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79592" y="2724912"/>
            <a:ext cx="384048" cy="256032"/>
          </a:xfrm>
          <a:prstGeom prst="rect">
            <a:avLst/>
          </a:prstGeom>
          <a:noFill/>
        </p:spPr>
        <p:txBody>
          <a:bodyPr wrap="none" lIns="0" rIns="0" tIns="0" bIns="0" anchor="ctr">
            <a:spAutoFit/>
          </a:bodyPr>
          <a:lstStyle/>
          <a:p>
            <a:pPr algn="ctr">
              <a:defRPr sz="1800" b="1">
                <a:solidFill>
                  <a:srgbClr val="17382D"/>
                </a:solidFill>
                <a:latin typeface="Arial"/>
              </a:defRPr>
            </a:pPr>
            <a:r>
              <a:t>A</a:t>
            </a:r>
          </a:p>
        </p:txBody>
      </p:sp>
      <p:sp>
        <p:nvSpPr>
          <p:cNvPr id="46" name="Rounded Rectangle 45"/>
          <p:cNvSpPr/>
          <p:nvPr/>
        </p:nvSpPr>
        <p:spPr>
          <a:xfrm>
            <a:off x="2103120" y="4407408"/>
            <a:ext cx="2377440" cy="804672"/>
          </a:xfrm>
          <a:prstGeom prst="roundRect">
            <a:avLst>
              <a:gd name="adj" fmla="val 8000"/>
            </a:avLst>
          </a:prstGeom>
          <a:solidFill>
            <a:srgbClr val="FCEEE8"/>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148839" y="4471416"/>
            <a:ext cx="2286000" cy="237744"/>
          </a:xfrm>
          <a:prstGeom prst="rect">
            <a:avLst/>
          </a:prstGeom>
          <a:noFill/>
        </p:spPr>
        <p:txBody>
          <a:bodyPr wrap="none" lIns="0" rIns="0" tIns="0" bIns="0" anchor="ctr">
            <a:spAutoFit/>
          </a:bodyPr>
          <a:lstStyle/>
          <a:p>
            <a:pPr algn="ctr">
              <a:defRPr sz="1700" b="1">
                <a:solidFill>
                  <a:srgbClr val="9D3E32"/>
                </a:solidFill>
                <a:latin typeface="Arial"/>
              </a:defRPr>
            </a:pPr>
            <a:r>
              <a:t>After human H1</a:t>
            </a:r>
          </a:p>
        </p:txBody>
      </p:sp>
      <p:sp>
        <p:nvSpPr>
          <p:cNvPr id="48" name="TextBox 47"/>
          <p:cNvSpPr txBox="1"/>
          <p:nvPr/>
        </p:nvSpPr>
        <p:spPr>
          <a:xfrm>
            <a:off x="2148839" y="4800600"/>
            <a:ext cx="2286000" cy="274320"/>
          </a:xfrm>
          <a:prstGeom prst="rect">
            <a:avLst/>
          </a:prstGeom>
          <a:noFill/>
        </p:spPr>
        <p:txBody>
          <a:bodyPr wrap="none" lIns="0" rIns="0" tIns="0" bIns="0" anchor="ctr">
            <a:spAutoFit/>
          </a:bodyPr>
          <a:lstStyle/>
          <a:p>
            <a:pPr algn="ctr">
              <a:defRPr sz="2000" b="1">
                <a:solidFill>
                  <a:srgbClr val="9D3E32"/>
                </a:solidFill>
                <a:latin typeface="Arial"/>
              </a:defRPr>
            </a:pPr>
            <a:r>
              <a:t>MAX(3, 6) = 6</a:t>
            </a:r>
          </a:p>
        </p:txBody>
      </p:sp>
      <p:sp>
        <p:nvSpPr>
          <p:cNvPr id="49" name="Rounded Rectangle 48"/>
          <p:cNvSpPr/>
          <p:nvPr/>
        </p:nvSpPr>
        <p:spPr>
          <a:xfrm>
            <a:off x="2194560" y="5742432"/>
            <a:ext cx="1005840" cy="749808"/>
          </a:xfrm>
          <a:prstGeom prst="roundRect">
            <a:avLst>
              <a:gd name="adj" fmla="val 8000"/>
            </a:avLst>
          </a:prstGeom>
          <a:solidFill>
            <a:srgbClr val="FFFFFF"/>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40280" y="5797296"/>
            <a:ext cx="914400" cy="182880"/>
          </a:xfrm>
          <a:prstGeom prst="rect">
            <a:avLst/>
          </a:prstGeom>
          <a:noFill/>
        </p:spPr>
        <p:txBody>
          <a:bodyPr wrap="none" lIns="0" rIns="0" tIns="0" bIns="0" anchor="ctr">
            <a:spAutoFit/>
          </a:bodyPr>
          <a:lstStyle/>
          <a:p>
            <a:pPr algn="ctr">
              <a:defRPr sz="1400" b="0">
                <a:solidFill>
                  <a:srgbClr val="53665D"/>
                </a:solidFill>
                <a:latin typeface="Arial"/>
              </a:defRPr>
            </a:pPr>
            <a:r>
              <a:t>Reply 1</a:t>
            </a:r>
          </a:p>
        </p:txBody>
      </p:sp>
      <p:sp>
        <p:nvSpPr>
          <p:cNvPr id="51" name="TextBox 50"/>
          <p:cNvSpPr txBox="1"/>
          <p:nvPr/>
        </p:nvSpPr>
        <p:spPr>
          <a:xfrm>
            <a:off x="2240280" y="6035040"/>
            <a:ext cx="914400" cy="365760"/>
          </a:xfrm>
          <a:prstGeom prst="rect">
            <a:avLst/>
          </a:prstGeom>
          <a:noFill/>
        </p:spPr>
        <p:txBody>
          <a:bodyPr wrap="none" lIns="0" rIns="0" tIns="0" bIns="0" anchor="ctr">
            <a:spAutoFit/>
          </a:bodyPr>
          <a:lstStyle/>
          <a:p>
            <a:pPr algn="ctr">
              <a:defRPr sz="2900" b="1">
                <a:solidFill>
                  <a:srgbClr val="17382D"/>
                </a:solidFill>
                <a:latin typeface="Arial"/>
              </a:defRPr>
            </a:pPr>
            <a:r>
              <a:t>3</a:t>
            </a:r>
          </a:p>
        </p:txBody>
      </p:sp>
      <p:sp>
        <p:nvSpPr>
          <p:cNvPr id="52" name="Rounded Rectangle 51"/>
          <p:cNvSpPr/>
          <p:nvPr/>
        </p:nvSpPr>
        <p:spPr>
          <a:xfrm>
            <a:off x="3383280" y="5742432"/>
            <a:ext cx="1005840" cy="749808"/>
          </a:xfrm>
          <a:prstGeom prst="roundRect">
            <a:avLst>
              <a:gd name="adj" fmla="val 8000"/>
            </a:avLst>
          </a:prstGeom>
          <a:solidFill>
            <a:srgbClr val="FFFFFF"/>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29000" y="5797296"/>
            <a:ext cx="914400" cy="182880"/>
          </a:xfrm>
          <a:prstGeom prst="rect">
            <a:avLst/>
          </a:prstGeom>
          <a:noFill/>
        </p:spPr>
        <p:txBody>
          <a:bodyPr wrap="none" lIns="0" rIns="0" tIns="0" bIns="0" anchor="ctr">
            <a:spAutoFit/>
          </a:bodyPr>
          <a:lstStyle/>
          <a:p>
            <a:pPr algn="ctr">
              <a:defRPr sz="1400" b="0">
                <a:solidFill>
                  <a:srgbClr val="53665D"/>
                </a:solidFill>
                <a:latin typeface="Arial"/>
              </a:defRPr>
            </a:pPr>
            <a:r>
              <a:t>Reply 2</a:t>
            </a:r>
          </a:p>
        </p:txBody>
      </p:sp>
      <p:sp>
        <p:nvSpPr>
          <p:cNvPr id="54" name="TextBox 53"/>
          <p:cNvSpPr txBox="1"/>
          <p:nvPr/>
        </p:nvSpPr>
        <p:spPr>
          <a:xfrm>
            <a:off x="3429000" y="6035040"/>
            <a:ext cx="914400" cy="365760"/>
          </a:xfrm>
          <a:prstGeom prst="rect">
            <a:avLst/>
          </a:prstGeom>
          <a:noFill/>
        </p:spPr>
        <p:txBody>
          <a:bodyPr wrap="none" lIns="0" rIns="0" tIns="0" bIns="0" anchor="ctr">
            <a:spAutoFit/>
          </a:bodyPr>
          <a:lstStyle/>
          <a:p>
            <a:pPr algn="ctr">
              <a:defRPr sz="2900" b="1">
                <a:solidFill>
                  <a:srgbClr val="17382D"/>
                </a:solidFill>
                <a:latin typeface="Arial"/>
              </a:defRPr>
            </a:pPr>
            <a:r>
              <a:t>6</a:t>
            </a:r>
          </a:p>
        </p:txBody>
      </p:sp>
      <p:sp>
        <p:nvSpPr>
          <p:cNvPr id="55" name="Rounded Rectangle 54"/>
          <p:cNvSpPr/>
          <p:nvPr/>
        </p:nvSpPr>
        <p:spPr>
          <a:xfrm>
            <a:off x="5212080" y="4407408"/>
            <a:ext cx="2377440" cy="804672"/>
          </a:xfrm>
          <a:prstGeom prst="roundRect">
            <a:avLst>
              <a:gd name="adj" fmla="val 8000"/>
            </a:avLst>
          </a:prstGeom>
          <a:solidFill>
            <a:srgbClr val="FCEEE8"/>
          </a:solidFill>
          <a:ln w="29209">
            <a:solidFill>
              <a:srgbClr val="93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257800" y="4471416"/>
            <a:ext cx="2286000" cy="237744"/>
          </a:xfrm>
          <a:prstGeom prst="rect">
            <a:avLst/>
          </a:prstGeom>
          <a:noFill/>
        </p:spPr>
        <p:txBody>
          <a:bodyPr wrap="none" lIns="0" rIns="0" tIns="0" bIns="0" anchor="ctr">
            <a:spAutoFit/>
          </a:bodyPr>
          <a:lstStyle/>
          <a:p>
            <a:pPr algn="ctr">
              <a:defRPr sz="1700" b="1">
                <a:solidFill>
                  <a:srgbClr val="9D3E32"/>
                </a:solidFill>
                <a:latin typeface="Arial"/>
              </a:defRPr>
            </a:pPr>
            <a:r>
              <a:t>After human H2</a:t>
            </a:r>
          </a:p>
        </p:txBody>
      </p:sp>
      <p:sp>
        <p:nvSpPr>
          <p:cNvPr id="57" name="TextBox 56"/>
          <p:cNvSpPr txBox="1"/>
          <p:nvPr/>
        </p:nvSpPr>
        <p:spPr>
          <a:xfrm>
            <a:off x="5257800" y="4800600"/>
            <a:ext cx="2286000" cy="274320"/>
          </a:xfrm>
          <a:prstGeom prst="rect">
            <a:avLst/>
          </a:prstGeom>
          <a:noFill/>
        </p:spPr>
        <p:txBody>
          <a:bodyPr wrap="none" lIns="0" rIns="0" tIns="0" bIns="0" anchor="ctr">
            <a:spAutoFit/>
          </a:bodyPr>
          <a:lstStyle/>
          <a:p>
            <a:pPr algn="ctr">
              <a:defRPr sz="2000" b="1">
                <a:solidFill>
                  <a:srgbClr val="9D3E32"/>
                </a:solidFill>
                <a:latin typeface="Arial"/>
              </a:defRPr>
            </a:pPr>
            <a:r>
              <a:t>MAX(0, 3) = 3</a:t>
            </a:r>
          </a:p>
        </p:txBody>
      </p:sp>
      <p:sp>
        <p:nvSpPr>
          <p:cNvPr id="58" name="Rounded Rectangle 57"/>
          <p:cNvSpPr/>
          <p:nvPr/>
        </p:nvSpPr>
        <p:spPr>
          <a:xfrm>
            <a:off x="5303520" y="5742432"/>
            <a:ext cx="1005840" cy="749808"/>
          </a:xfrm>
          <a:prstGeom prst="roundRect">
            <a:avLst>
              <a:gd name="adj" fmla="val 8000"/>
            </a:avLst>
          </a:prstGeom>
          <a:solidFill>
            <a:srgbClr val="FFFFFF"/>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349240" y="5797296"/>
            <a:ext cx="914400" cy="182880"/>
          </a:xfrm>
          <a:prstGeom prst="rect">
            <a:avLst/>
          </a:prstGeom>
          <a:noFill/>
        </p:spPr>
        <p:txBody>
          <a:bodyPr wrap="none" lIns="0" rIns="0" tIns="0" bIns="0" anchor="ctr">
            <a:spAutoFit/>
          </a:bodyPr>
          <a:lstStyle/>
          <a:p>
            <a:pPr algn="ctr">
              <a:defRPr sz="1400" b="0">
                <a:solidFill>
                  <a:srgbClr val="53665D"/>
                </a:solidFill>
                <a:latin typeface="Arial"/>
              </a:defRPr>
            </a:pPr>
            <a:r>
              <a:t>Reply 1</a:t>
            </a:r>
          </a:p>
        </p:txBody>
      </p:sp>
      <p:sp>
        <p:nvSpPr>
          <p:cNvPr id="60" name="TextBox 59"/>
          <p:cNvSpPr txBox="1"/>
          <p:nvPr/>
        </p:nvSpPr>
        <p:spPr>
          <a:xfrm>
            <a:off x="5349240" y="6035040"/>
            <a:ext cx="914400" cy="365760"/>
          </a:xfrm>
          <a:prstGeom prst="rect">
            <a:avLst/>
          </a:prstGeom>
          <a:noFill/>
        </p:spPr>
        <p:txBody>
          <a:bodyPr wrap="none" lIns="0" rIns="0" tIns="0" bIns="0" anchor="ctr">
            <a:spAutoFit/>
          </a:bodyPr>
          <a:lstStyle/>
          <a:p>
            <a:pPr algn="ctr">
              <a:defRPr sz="2900" b="1">
                <a:solidFill>
                  <a:srgbClr val="17382D"/>
                </a:solidFill>
                <a:latin typeface="Arial"/>
              </a:defRPr>
            </a:pPr>
            <a:r>
              <a:t>0</a:t>
            </a:r>
          </a:p>
        </p:txBody>
      </p:sp>
      <p:sp>
        <p:nvSpPr>
          <p:cNvPr id="61" name="Rounded Rectangle 60"/>
          <p:cNvSpPr/>
          <p:nvPr/>
        </p:nvSpPr>
        <p:spPr>
          <a:xfrm>
            <a:off x="6492240" y="5742432"/>
            <a:ext cx="1005840" cy="749808"/>
          </a:xfrm>
          <a:prstGeom prst="roundRect">
            <a:avLst>
              <a:gd name="adj" fmla="val 8000"/>
            </a:avLst>
          </a:prstGeom>
          <a:solidFill>
            <a:srgbClr val="FFF1BA"/>
          </a:solidFill>
          <a:ln w="29209">
            <a:solidFill>
              <a:srgbClr val="93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37960" y="5797296"/>
            <a:ext cx="914400" cy="182880"/>
          </a:xfrm>
          <a:prstGeom prst="rect">
            <a:avLst/>
          </a:prstGeom>
          <a:noFill/>
        </p:spPr>
        <p:txBody>
          <a:bodyPr wrap="none" lIns="0" rIns="0" tIns="0" bIns="0" anchor="ctr">
            <a:spAutoFit/>
          </a:bodyPr>
          <a:lstStyle/>
          <a:p>
            <a:pPr algn="ctr">
              <a:defRPr sz="1400" b="0">
                <a:solidFill>
                  <a:srgbClr val="53665D"/>
                </a:solidFill>
                <a:latin typeface="Arial"/>
              </a:defRPr>
            </a:pPr>
            <a:r>
              <a:t>Reply 2</a:t>
            </a:r>
          </a:p>
        </p:txBody>
      </p:sp>
      <p:sp>
        <p:nvSpPr>
          <p:cNvPr id="63" name="TextBox 62"/>
          <p:cNvSpPr txBox="1"/>
          <p:nvPr/>
        </p:nvSpPr>
        <p:spPr>
          <a:xfrm>
            <a:off x="6537960" y="6035040"/>
            <a:ext cx="914400" cy="365760"/>
          </a:xfrm>
          <a:prstGeom prst="rect">
            <a:avLst/>
          </a:prstGeom>
          <a:noFill/>
        </p:spPr>
        <p:txBody>
          <a:bodyPr wrap="none" lIns="0" rIns="0" tIns="0" bIns="0" anchor="ctr">
            <a:spAutoFit/>
          </a:bodyPr>
          <a:lstStyle/>
          <a:p>
            <a:pPr algn="ctr">
              <a:defRPr sz="2900" b="1">
                <a:solidFill>
                  <a:srgbClr val="936600"/>
                </a:solidFill>
                <a:latin typeface="Arial"/>
              </a:defRPr>
            </a:pPr>
            <a:r>
              <a:t>3</a:t>
            </a:r>
          </a:p>
        </p:txBody>
      </p:sp>
      <p:sp>
        <p:nvSpPr>
          <p:cNvPr id="64" name="Rounded Rectangle 63"/>
          <p:cNvSpPr/>
          <p:nvPr/>
        </p:nvSpPr>
        <p:spPr>
          <a:xfrm>
            <a:off x="9555480" y="3063240"/>
            <a:ext cx="3017520" cy="804672"/>
          </a:xfrm>
          <a:prstGeom prst="roundRect">
            <a:avLst>
              <a:gd name="adj" fmla="val 8000"/>
            </a:avLst>
          </a:prstGeom>
          <a:solidFill>
            <a:srgbClr val="E8F1E8"/>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46919" y="3127248"/>
            <a:ext cx="2834640" cy="246888"/>
          </a:xfrm>
          <a:prstGeom prst="rect">
            <a:avLst/>
          </a:prstGeom>
          <a:noFill/>
        </p:spPr>
        <p:txBody>
          <a:bodyPr wrap="none" lIns="0" rIns="0" tIns="0" bIns="0" anchor="ctr">
            <a:spAutoFit/>
          </a:bodyPr>
          <a:lstStyle/>
          <a:p>
            <a:pPr algn="ctr">
              <a:defRPr sz="1800" b="1">
                <a:solidFill>
                  <a:srgbClr val="245B43"/>
                </a:solidFill>
                <a:latin typeface="Arial"/>
              </a:defRPr>
            </a:pPr>
            <a:r>
              <a:t>After move B</a:t>
            </a:r>
          </a:p>
        </p:txBody>
      </p:sp>
      <p:sp>
        <p:nvSpPr>
          <p:cNvPr id="66" name="TextBox 65"/>
          <p:cNvSpPr txBox="1"/>
          <p:nvPr/>
        </p:nvSpPr>
        <p:spPr>
          <a:xfrm>
            <a:off x="9646919" y="3465576"/>
            <a:ext cx="2834640" cy="274320"/>
          </a:xfrm>
          <a:prstGeom prst="rect">
            <a:avLst/>
          </a:prstGeom>
          <a:noFill/>
        </p:spPr>
        <p:txBody>
          <a:bodyPr wrap="none" lIns="0" rIns="0" tIns="0" bIns="0" anchor="ctr">
            <a:spAutoFit/>
          </a:bodyPr>
          <a:lstStyle/>
          <a:p>
            <a:pPr algn="ctr">
              <a:defRPr sz="2400" b="1">
                <a:solidFill>
                  <a:srgbClr val="245B43"/>
                </a:solidFill>
                <a:latin typeface="Arial"/>
              </a:defRPr>
            </a:pPr>
            <a:r>
              <a:t>MIN(9, 0) = 0</a:t>
            </a:r>
          </a:p>
        </p:txBody>
      </p:sp>
      <p:sp>
        <p:nvSpPr>
          <p:cNvPr id="67" name="Rounded Rectangle 66"/>
          <p:cNvSpPr/>
          <p:nvPr/>
        </p:nvSpPr>
        <p:spPr>
          <a:xfrm>
            <a:off x="9610344" y="2724912"/>
            <a:ext cx="384048" cy="256032"/>
          </a:xfrm>
          <a:prstGeom prst="roundRect">
            <a:avLst>
              <a:gd name="adj" fmla="val 8000"/>
            </a:avLst>
          </a:prstGeom>
          <a:solidFill>
            <a:srgbClr val="F7F8F4"/>
          </a:solidFill>
          <a:ln w="12700">
            <a:solidFill>
              <a:srgbClr val="F7F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10344" y="2724912"/>
            <a:ext cx="384048" cy="256032"/>
          </a:xfrm>
          <a:prstGeom prst="rect">
            <a:avLst/>
          </a:prstGeom>
          <a:noFill/>
        </p:spPr>
        <p:txBody>
          <a:bodyPr wrap="none" lIns="0" rIns="0" tIns="0" bIns="0" anchor="ctr">
            <a:spAutoFit/>
          </a:bodyPr>
          <a:lstStyle/>
          <a:p>
            <a:pPr algn="ctr">
              <a:defRPr sz="1800" b="1">
                <a:solidFill>
                  <a:srgbClr val="17382D"/>
                </a:solidFill>
                <a:latin typeface="Arial"/>
              </a:defRPr>
            </a:pPr>
            <a:r>
              <a:t>B</a:t>
            </a:r>
          </a:p>
        </p:txBody>
      </p:sp>
      <p:sp>
        <p:nvSpPr>
          <p:cNvPr id="69" name="Rounded Rectangle 68"/>
          <p:cNvSpPr/>
          <p:nvPr/>
        </p:nvSpPr>
        <p:spPr>
          <a:xfrm>
            <a:off x="8321040" y="4407408"/>
            <a:ext cx="2377440" cy="804672"/>
          </a:xfrm>
          <a:prstGeom prst="roundRect">
            <a:avLst>
              <a:gd name="adj" fmla="val 8000"/>
            </a:avLst>
          </a:prstGeom>
          <a:solidFill>
            <a:srgbClr val="FCEEE8"/>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366760" y="4471416"/>
            <a:ext cx="2286000" cy="237744"/>
          </a:xfrm>
          <a:prstGeom prst="rect">
            <a:avLst/>
          </a:prstGeom>
          <a:noFill/>
        </p:spPr>
        <p:txBody>
          <a:bodyPr wrap="none" lIns="0" rIns="0" tIns="0" bIns="0" anchor="ctr">
            <a:spAutoFit/>
          </a:bodyPr>
          <a:lstStyle/>
          <a:p>
            <a:pPr algn="ctr">
              <a:defRPr sz="1700" b="1">
                <a:solidFill>
                  <a:srgbClr val="9D3E32"/>
                </a:solidFill>
                <a:latin typeface="Arial"/>
              </a:defRPr>
            </a:pPr>
            <a:r>
              <a:t>After human H1</a:t>
            </a:r>
          </a:p>
        </p:txBody>
      </p:sp>
      <p:sp>
        <p:nvSpPr>
          <p:cNvPr id="71" name="TextBox 70"/>
          <p:cNvSpPr txBox="1"/>
          <p:nvPr/>
        </p:nvSpPr>
        <p:spPr>
          <a:xfrm>
            <a:off x="8366760" y="4800600"/>
            <a:ext cx="2286000" cy="274320"/>
          </a:xfrm>
          <a:prstGeom prst="rect">
            <a:avLst/>
          </a:prstGeom>
          <a:noFill/>
        </p:spPr>
        <p:txBody>
          <a:bodyPr wrap="none" lIns="0" rIns="0" tIns="0" bIns="0" anchor="ctr">
            <a:spAutoFit/>
          </a:bodyPr>
          <a:lstStyle/>
          <a:p>
            <a:pPr algn="ctr">
              <a:defRPr sz="2000" b="1">
                <a:solidFill>
                  <a:srgbClr val="9D3E32"/>
                </a:solidFill>
                <a:latin typeface="Arial"/>
              </a:defRPr>
            </a:pPr>
            <a:r>
              <a:t>MAX(6, 9) = 9</a:t>
            </a:r>
          </a:p>
        </p:txBody>
      </p:sp>
      <p:sp>
        <p:nvSpPr>
          <p:cNvPr id="72" name="Rounded Rectangle 71"/>
          <p:cNvSpPr/>
          <p:nvPr/>
        </p:nvSpPr>
        <p:spPr>
          <a:xfrm>
            <a:off x="8412480" y="5742432"/>
            <a:ext cx="1005840" cy="749808"/>
          </a:xfrm>
          <a:prstGeom prst="roundRect">
            <a:avLst>
              <a:gd name="adj" fmla="val 8000"/>
            </a:avLst>
          </a:prstGeom>
          <a:solidFill>
            <a:srgbClr val="FFFFFF"/>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58200" y="5797296"/>
            <a:ext cx="914400" cy="182880"/>
          </a:xfrm>
          <a:prstGeom prst="rect">
            <a:avLst/>
          </a:prstGeom>
          <a:noFill/>
        </p:spPr>
        <p:txBody>
          <a:bodyPr wrap="none" lIns="0" rIns="0" tIns="0" bIns="0" anchor="ctr">
            <a:spAutoFit/>
          </a:bodyPr>
          <a:lstStyle/>
          <a:p>
            <a:pPr algn="ctr">
              <a:defRPr sz="1400" b="0">
                <a:solidFill>
                  <a:srgbClr val="53665D"/>
                </a:solidFill>
                <a:latin typeface="Arial"/>
              </a:defRPr>
            </a:pPr>
            <a:r>
              <a:t>Reply 1</a:t>
            </a:r>
          </a:p>
        </p:txBody>
      </p:sp>
      <p:sp>
        <p:nvSpPr>
          <p:cNvPr id="74" name="TextBox 73"/>
          <p:cNvSpPr txBox="1"/>
          <p:nvPr/>
        </p:nvSpPr>
        <p:spPr>
          <a:xfrm>
            <a:off x="8458200" y="6035040"/>
            <a:ext cx="914400" cy="365760"/>
          </a:xfrm>
          <a:prstGeom prst="rect">
            <a:avLst/>
          </a:prstGeom>
          <a:noFill/>
        </p:spPr>
        <p:txBody>
          <a:bodyPr wrap="none" lIns="0" rIns="0" tIns="0" bIns="0" anchor="ctr">
            <a:spAutoFit/>
          </a:bodyPr>
          <a:lstStyle/>
          <a:p>
            <a:pPr algn="ctr">
              <a:defRPr sz="2900" b="1">
                <a:solidFill>
                  <a:srgbClr val="17382D"/>
                </a:solidFill>
                <a:latin typeface="Arial"/>
              </a:defRPr>
            </a:pPr>
            <a:r>
              <a:t>6</a:t>
            </a:r>
          </a:p>
        </p:txBody>
      </p:sp>
      <p:sp>
        <p:nvSpPr>
          <p:cNvPr id="75" name="Rounded Rectangle 74"/>
          <p:cNvSpPr/>
          <p:nvPr/>
        </p:nvSpPr>
        <p:spPr>
          <a:xfrm>
            <a:off x="9601200" y="5742432"/>
            <a:ext cx="1005840" cy="749808"/>
          </a:xfrm>
          <a:prstGeom prst="roundRect">
            <a:avLst>
              <a:gd name="adj" fmla="val 8000"/>
            </a:avLst>
          </a:prstGeom>
          <a:solidFill>
            <a:srgbClr val="FFFFFF"/>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646920" y="5797296"/>
            <a:ext cx="914400" cy="182880"/>
          </a:xfrm>
          <a:prstGeom prst="rect">
            <a:avLst/>
          </a:prstGeom>
          <a:noFill/>
        </p:spPr>
        <p:txBody>
          <a:bodyPr wrap="none" lIns="0" rIns="0" tIns="0" bIns="0" anchor="ctr">
            <a:spAutoFit/>
          </a:bodyPr>
          <a:lstStyle/>
          <a:p>
            <a:pPr algn="ctr">
              <a:defRPr sz="1400" b="0">
                <a:solidFill>
                  <a:srgbClr val="53665D"/>
                </a:solidFill>
                <a:latin typeface="Arial"/>
              </a:defRPr>
            </a:pPr>
            <a:r>
              <a:t>Reply 2</a:t>
            </a:r>
          </a:p>
        </p:txBody>
      </p:sp>
      <p:sp>
        <p:nvSpPr>
          <p:cNvPr id="77" name="TextBox 76"/>
          <p:cNvSpPr txBox="1"/>
          <p:nvPr/>
        </p:nvSpPr>
        <p:spPr>
          <a:xfrm>
            <a:off x="9646920" y="6035040"/>
            <a:ext cx="914400" cy="365760"/>
          </a:xfrm>
          <a:prstGeom prst="rect">
            <a:avLst/>
          </a:prstGeom>
          <a:noFill/>
        </p:spPr>
        <p:txBody>
          <a:bodyPr wrap="none" lIns="0" rIns="0" tIns="0" bIns="0" anchor="ctr">
            <a:spAutoFit/>
          </a:bodyPr>
          <a:lstStyle/>
          <a:p>
            <a:pPr algn="ctr">
              <a:defRPr sz="2900" b="1">
                <a:solidFill>
                  <a:srgbClr val="17382D"/>
                </a:solidFill>
                <a:latin typeface="Arial"/>
              </a:defRPr>
            </a:pPr>
            <a:r>
              <a:t>9</a:t>
            </a:r>
          </a:p>
        </p:txBody>
      </p:sp>
      <p:sp>
        <p:nvSpPr>
          <p:cNvPr id="78" name="Rounded Rectangle 77"/>
          <p:cNvSpPr/>
          <p:nvPr/>
        </p:nvSpPr>
        <p:spPr>
          <a:xfrm>
            <a:off x="11430000" y="4407408"/>
            <a:ext cx="2377440" cy="804672"/>
          </a:xfrm>
          <a:prstGeom prst="roundRect">
            <a:avLst>
              <a:gd name="adj" fmla="val 8000"/>
            </a:avLst>
          </a:prstGeom>
          <a:solidFill>
            <a:srgbClr val="FCEEE8"/>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1475720" y="4471416"/>
            <a:ext cx="2286000" cy="237744"/>
          </a:xfrm>
          <a:prstGeom prst="rect">
            <a:avLst/>
          </a:prstGeom>
          <a:noFill/>
        </p:spPr>
        <p:txBody>
          <a:bodyPr wrap="none" lIns="0" rIns="0" tIns="0" bIns="0" anchor="ctr">
            <a:spAutoFit/>
          </a:bodyPr>
          <a:lstStyle/>
          <a:p>
            <a:pPr algn="ctr">
              <a:defRPr sz="1700" b="1">
                <a:solidFill>
                  <a:srgbClr val="9D3E32"/>
                </a:solidFill>
                <a:latin typeface="Arial"/>
              </a:defRPr>
            </a:pPr>
            <a:r>
              <a:t>After human H2</a:t>
            </a:r>
          </a:p>
        </p:txBody>
      </p:sp>
      <p:sp>
        <p:nvSpPr>
          <p:cNvPr id="80" name="TextBox 79"/>
          <p:cNvSpPr txBox="1"/>
          <p:nvPr/>
        </p:nvSpPr>
        <p:spPr>
          <a:xfrm>
            <a:off x="11475720" y="4800600"/>
            <a:ext cx="2286000" cy="274320"/>
          </a:xfrm>
          <a:prstGeom prst="rect">
            <a:avLst/>
          </a:prstGeom>
          <a:noFill/>
        </p:spPr>
        <p:txBody>
          <a:bodyPr wrap="none" lIns="0" rIns="0" tIns="0" bIns="0" anchor="ctr">
            <a:spAutoFit/>
          </a:bodyPr>
          <a:lstStyle/>
          <a:p>
            <a:pPr algn="ctr">
              <a:defRPr sz="2000" b="1">
                <a:solidFill>
                  <a:srgbClr val="9D3E32"/>
                </a:solidFill>
                <a:latin typeface="Arial"/>
              </a:defRPr>
            </a:pPr>
            <a:r>
              <a:t>MAX(-3, 0) = 0</a:t>
            </a:r>
          </a:p>
        </p:txBody>
      </p:sp>
      <p:sp>
        <p:nvSpPr>
          <p:cNvPr id="81" name="Rounded Rectangle 80"/>
          <p:cNvSpPr/>
          <p:nvPr/>
        </p:nvSpPr>
        <p:spPr>
          <a:xfrm>
            <a:off x="11521440" y="5742432"/>
            <a:ext cx="1005840" cy="749808"/>
          </a:xfrm>
          <a:prstGeom prst="roundRect">
            <a:avLst>
              <a:gd name="adj" fmla="val 8000"/>
            </a:avLst>
          </a:prstGeom>
          <a:solidFill>
            <a:srgbClr val="FFFFFF"/>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567160" y="5797296"/>
            <a:ext cx="914400" cy="182880"/>
          </a:xfrm>
          <a:prstGeom prst="rect">
            <a:avLst/>
          </a:prstGeom>
          <a:noFill/>
        </p:spPr>
        <p:txBody>
          <a:bodyPr wrap="none" lIns="0" rIns="0" tIns="0" bIns="0" anchor="ctr">
            <a:spAutoFit/>
          </a:bodyPr>
          <a:lstStyle/>
          <a:p>
            <a:pPr algn="ctr">
              <a:defRPr sz="1400" b="0">
                <a:solidFill>
                  <a:srgbClr val="53665D"/>
                </a:solidFill>
                <a:latin typeface="Arial"/>
              </a:defRPr>
            </a:pPr>
            <a:r>
              <a:t>Reply 1</a:t>
            </a:r>
          </a:p>
        </p:txBody>
      </p:sp>
      <p:sp>
        <p:nvSpPr>
          <p:cNvPr id="83" name="TextBox 82"/>
          <p:cNvSpPr txBox="1"/>
          <p:nvPr/>
        </p:nvSpPr>
        <p:spPr>
          <a:xfrm>
            <a:off x="11567160" y="6035040"/>
            <a:ext cx="914400" cy="365760"/>
          </a:xfrm>
          <a:prstGeom prst="rect">
            <a:avLst/>
          </a:prstGeom>
          <a:noFill/>
        </p:spPr>
        <p:txBody>
          <a:bodyPr wrap="none" lIns="0" rIns="0" tIns="0" bIns="0" anchor="ctr">
            <a:spAutoFit/>
          </a:bodyPr>
          <a:lstStyle/>
          <a:p>
            <a:pPr algn="ctr">
              <a:defRPr sz="2900" b="1">
                <a:solidFill>
                  <a:srgbClr val="17382D"/>
                </a:solidFill>
                <a:latin typeface="Arial"/>
              </a:defRPr>
            </a:pPr>
            <a:r>
              <a:t>-3</a:t>
            </a:r>
          </a:p>
        </p:txBody>
      </p:sp>
      <p:sp>
        <p:nvSpPr>
          <p:cNvPr id="84" name="Rounded Rectangle 83"/>
          <p:cNvSpPr/>
          <p:nvPr/>
        </p:nvSpPr>
        <p:spPr>
          <a:xfrm>
            <a:off x="12710160" y="5742432"/>
            <a:ext cx="1005840" cy="749808"/>
          </a:xfrm>
          <a:prstGeom prst="roundRect">
            <a:avLst>
              <a:gd name="adj" fmla="val 8000"/>
            </a:avLst>
          </a:prstGeom>
          <a:solidFill>
            <a:srgbClr val="FFFFFF"/>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2755880" y="5797296"/>
            <a:ext cx="914400" cy="182880"/>
          </a:xfrm>
          <a:prstGeom prst="rect">
            <a:avLst/>
          </a:prstGeom>
          <a:noFill/>
        </p:spPr>
        <p:txBody>
          <a:bodyPr wrap="none" lIns="0" rIns="0" tIns="0" bIns="0" anchor="ctr">
            <a:spAutoFit/>
          </a:bodyPr>
          <a:lstStyle/>
          <a:p>
            <a:pPr algn="ctr">
              <a:defRPr sz="1400" b="0">
                <a:solidFill>
                  <a:srgbClr val="53665D"/>
                </a:solidFill>
                <a:latin typeface="Arial"/>
              </a:defRPr>
            </a:pPr>
            <a:r>
              <a:t>Reply 2</a:t>
            </a:r>
          </a:p>
        </p:txBody>
      </p:sp>
      <p:sp>
        <p:nvSpPr>
          <p:cNvPr id="86" name="TextBox 85"/>
          <p:cNvSpPr txBox="1"/>
          <p:nvPr/>
        </p:nvSpPr>
        <p:spPr>
          <a:xfrm>
            <a:off x="12755880" y="6035040"/>
            <a:ext cx="914400" cy="365760"/>
          </a:xfrm>
          <a:prstGeom prst="rect">
            <a:avLst/>
          </a:prstGeom>
          <a:noFill/>
        </p:spPr>
        <p:txBody>
          <a:bodyPr wrap="none" lIns="0" rIns="0" tIns="0" bIns="0" anchor="ctr">
            <a:spAutoFit/>
          </a:bodyPr>
          <a:lstStyle/>
          <a:p>
            <a:pPr algn="ctr">
              <a:defRPr sz="2900" b="1">
                <a:solidFill>
                  <a:srgbClr val="17382D"/>
                </a:solidFill>
                <a:latin typeface="Arial"/>
              </a:defRPr>
            </a:pPr>
            <a:r>
              <a:t>0</a:t>
            </a:r>
          </a:p>
        </p:txBody>
      </p:sp>
      <p:sp>
        <p:nvSpPr>
          <p:cNvPr id="87" name="Rounded Rectangle 86"/>
          <p:cNvSpPr/>
          <p:nvPr/>
        </p:nvSpPr>
        <p:spPr>
          <a:xfrm>
            <a:off x="594360" y="6912864"/>
            <a:ext cx="13441680" cy="566928"/>
          </a:xfrm>
          <a:prstGeom prst="roundRect">
            <a:avLst>
              <a:gd name="adj" fmla="val 8000"/>
            </a:avLst>
          </a:prstGeom>
          <a:solidFill>
            <a:srgbClr val="17382D"/>
          </a:solidFill>
          <a:ln w="12700">
            <a:solidFill>
              <a:srgbClr val="1738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41248" y="6995160"/>
            <a:ext cx="12947904" cy="365760"/>
          </a:xfrm>
          <a:prstGeom prst="rect">
            <a:avLst/>
          </a:prstGeom>
          <a:noFill/>
        </p:spPr>
        <p:txBody>
          <a:bodyPr wrap="none" lIns="0" rIns="0" tIns="0" bIns="0" anchor="ctr">
            <a:spAutoFit/>
          </a:bodyPr>
          <a:lstStyle/>
          <a:p>
            <a:pPr algn="ctr">
              <a:defRPr sz="2500" b="1">
                <a:solidFill>
                  <a:srgbClr val="FFFFFF"/>
                </a:solidFill>
                <a:latin typeface="Arial"/>
              </a:defRPr>
            </a:pPr>
            <a:r>
              <a:t>A returns 3.   B returns 0.   findBestMove() returns A.</a:t>
            </a:r>
          </a:p>
        </p:txBody>
      </p:sp>
      <p:sp>
        <p:nvSpPr>
          <p:cNvPr id="89" name="TextBox 88"/>
          <p:cNvSpPr txBox="1"/>
          <p:nvPr/>
        </p:nvSpPr>
        <p:spPr>
          <a:xfrm>
            <a:off x="594360" y="7534656"/>
            <a:ext cx="13441680" cy="210312"/>
          </a:xfrm>
          <a:prstGeom prst="rect">
            <a:avLst/>
          </a:prstGeom>
          <a:noFill/>
        </p:spPr>
        <p:txBody>
          <a:bodyPr wrap="none" lIns="0" rIns="0" tIns="0" bIns="0" anchor="ctr">
            <a:spAutoFit/>
          </a:bodyPr>
          <a:lstStyle/>
          <a:p>
            <a:pPr algn="ctr">
              <a:defRPr sz="1500" b="0">
                <a:solidFill>
                  <a:srgbClr val="53665D"/>
                </a:solidFill>
                <a:latin typeface="Arial"/>
              </a:defRPr>
            </a:pPr>
            <a:r>
              <a:t>Gold traces the predicted choices: A → H2 → Reply 2. Only the first move A is played now.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4"/>
        </a:solidFill>
        <a:effectLst/>
      </p:bgPr>
    </p:bg>
    <p:spTree>
      <p:nvGrpSpPr>
        <p:cNvPr id="1" name=""/>
        <p:cNvGrpSpPr/>
        <p:nvPr/>
      </p:nvGrpSpPr>
      <p:grpSpPr/>
      <p:sp>
        <p:nvSpPr>
          <p:cNvPr id="2" name="TextBox 1"/>
          <p:cNvSpPr txBox="1"/>
          <p:nvPr/>
        </p:nvSpPr>
        <p:spPr>
          <a:xfrm>
            <a:off x="594360" y="210312"/>
            <a:ext cx="10972800" cy="201168"/>
          </a:xfrm>
          <a:prstGeom prst="rect">
            <a:avLst/>
          </a:prstGeom>
          <a:noFill/>
        </p:spPr>
        <p:txBody>
          <a:bodyPr wrap="none" lIns="0" rIns="0" tIns="0" bIns="0" anchor="ctr">
            <a:spAutoFit/>
          </a:bodyPr>
          <a:lstStyle/>
          <a:p>
            <a:pPr algn="l">
              <a:defRPr sz="1300" b="1">
                <a:solidFill>
                  <a:srgbClr val="245B43"/>
                </a:solidFill>
                <a:latin typeface="Arial"/>
              </a:defRPr>
            </a:pPr>
            <a:r>
              <a:t>DAMKA  /  HOW THE BOT CHOOSES A MOVE</a:t>
            </a:r>
          </a:p>
        </p:txBody>
      </p:sp>
      <p:sp>
        <p:nvSpPr>
          <p:cNvPr id="3" name="TextBox 2"/>
          <p:cNvSpPr txBox="1"/>
          <p:nvPr/>
        </p:nvSpPr>
        <p:spPr>
          <a:xfrm>
            <a:off x="594360" y="603504"/>
            <a:ext cx="13441680" cy="512064"/>
          </a:xfrm>
          <a:prstGeom prst="rect">
            <a:avLst/>
          </a:prstGeom>
          <a:noFill/>
        </p:spPr>
        <p:txBody>
          <a:bodyPr wrap="none" lIns="0" rIns="0" tIns="0" bIns="0" anchor="ctr">
            <a:spAutoFit/>
          </a:bodyPr>
          <a:lstStyle/>
          <a:p>
            <a:pPr algn="l">
              <a:defRPr sz="3300" b="1">
                <a:solidFill>
                  <a:srgbClr val="17382D"/>
                </a:solidFill>
                <a:latin typeface="Arial"/>
              </a:defRPr>
            </a:pPr>
            <a:r>
              <a:t>The same example, one path per row</a:t>
            </a:r>
          </a:p>
        </p:txBody>
      </p:sp>
      <p:sp>
        <p:nvSpPr>
          <p:cNvPr id="4" name="TextBox 3"/>
          <p:cNvSpPr txBox="1"/>
          <p:nvPr/>
        </p:nvSpPr>
        <p:spPr>
          <a:xfrm>
            <a:off x="594360" y="1197864"/>
            <a:ext cx="13441680" cy="329184"/>
          </a:xfrm>
          <a:prstGeom prst="rect">
            <a:avLst/>
          </a:prstGeom>
          <a:noFill/>
        </p:spPr>
        <p:txBody>
          <a:bodyPr wrap="none" lIns="0" rIns="0" tIns="0" bIns="0" anchor="ctr">
            <a:spAutoFit/>
          </a:bodyPr>
          <a:lstStyle/>
          <a:p>
            <a:pPr algn="l">
              <a:defRPr sz="1900" b="0">
                <a:solidFill>
                  <a:srgbClr val="53665D"/>
                </a:solidFill>
                <a:latin typeface="Arial"/>
              </a:defRPr>
            </a:pPr>
            <a:r>
              <a:t>The score is calculated after the third simulated move. Then MAX and MIN return values upward.</a:t>
            </a:r>
          </a:p>
        </p:txBody>
      </p:sp>
      <p:cxnSp>
        <p:nvCxnSpPr>
          <p:cNvPr id="5" name="Connector 4"/>
          <p:cNvCxnSpPr/>
          <p:nvPr/>
        </p:nvCxnSpPr>
        <p:spPr>
          <a:xfrm>
            <a:off x="594360" y="1645920"/>
            <a:ext cx="13441680" cy="0"/>
          </a:xfrm>
          <a:prstGeom prst="line">
            <a:avLst/>
          </a:prstGeom>
          <a:ln w="12700">
            <a:solidFill>
              <a:srgbClr val="C9D4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18120"/>
            <a:ext cx="12527280" cy="201168"/>
          </a:xfrm>
          <a:prstGeom prst="rect">
            <a:avLst/>
          </a:prstGeom>
          <a:noFill/>
        </p:spPr>
        <p:txBody>
          <a:bodyPr wrap="none" lIns="0" rIns="0" tIns="0" bIns="0" anchor="ctr">
            <a:spAutoFit/>
          </a:bodyPr>
          <a:lstStyle/>
          <a:p>
            <a:pPr algn="l">
              <a:defRPr sz="1300" b="0">
                <a:solidFill>
                  <a:srgbClr val="53665D"/>
                </a:solidFill>
                <a:latin typeface="Arial"/>
              </a:defRPr>
            </a:pPr>
            <a:r>
              <a:t>Illustrative scores; alternating turns and no early winner. Every score is from the BOT’s perspective.</a:t>
            </a:r>
          </a:p>
        </p:txBody>
      </p:sp>
      <p:sp>
        <p:nvSpPr>
          <p:cNvPr id="7" name="TextBox 6"/>
          <p:cNvSpPr txBox="1"/>
          <p:nvPr/>
        </p:nvSpPr>
        <p:spPr>
          <a:xfrm>
            <a:off x="13167360" y="7799831"/>
            <a:ext cx="868680" cy="228600"/>
          </a:xfrm>
          <a:prstGeom prst="rect">
            <a:avLst/>
          </a:prstGeom>
          <a:noFill/>
        </p:spPr>
        <p:txBody>
          <a:bodyPr wrap="none" lIns="0" rIns="0" tIns="0" bIns="0" anchor="ctr">
            <a:spAutoFit/>
          </a:bodyPr>
          <a:lstStyle/>
          <a:p>
            <a:pPr algn="r">
              <a:defRPr sz="1300" b="0">
                <a:solidFill>
                  <a:srgbClr val="53665D"/>
                </a:solidFill>
                <a:latin typeface="Arial"/>
              </a:defRPr>
            </a:pPr>
            <a:r>
              <a:t>02 / 02</a:t>
            </a:r>
          </a:p>
        </p:txBody>
      </p:sp>
      <p:sp>
        <p:nvSpPr>
          <p:cNvPr id="8" name="Rounded Rectangle 7"/>
          <p:cNvSpPr/>
          <p:nvPr/>
        </p:nvSpPr>
        <p:spPr>
          <a:xfrm>
            <a:off x="594360" y="1901952"/>
            <a:ext cx="13441680" cy="640080"/>
          </a:xfrm>
          <a:prstGeom prst="roundRect">
            <a:avLst>
              <a:gd name="adj" fmla="val 8000"/>
            </a:avLst>
          </a:prstGeom>
          <a:solidFill>
            <a:srgbClr val="17382D"/>
          </a:solidFill>
          <a:ln w="12700">
            <a:solidFill>
              <a:srgbClr val="1738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57400"/>
            <a:ext cx="2606040" cy="320040"/>
          </a:xfrm>
          <a:prstGeom prst="rect">
            <a:avLst/>
          </a:prstGeom>
          <a:noFill/>
        </p:spPr>
        <p:txBody>
          <a:bodyPr wrap="none" lIns="0" rIns="0" tIns="0" bIns="0" anchor="ctr">
            <a:spAutoFit/>
          </a:bodyPr>
          <a:lstStyle/>
          <a:p>
            <a:pPr algn="ctr">
              <a:defRPr sz="1900" b="1">
                <a:solidFill>
                  <a:srgbClr val="FFFFFF"/>
                </a:solidFill>
                <a:latin typeface="Arial"/>
              </a:defRPr>
            </a:pPr>
            <a:r>
              <a:t>1  BOT first move</a:t>
            </a:r>
          </a:p>
        </p:txBody>
      </p:sp>
      <p:sp>
        <p:nvSpPr>
          <p:cNvPr id="10" name="TextBox 9"/>
          <p:cNvSpPr txBox="1"/>
          <p:nvPr/>
        </p:nvSpPr>
        <p:spPr>
          <a:xfrm>
            <a:off x="3611879" y="2057400"/>
            <a:ext cx="3063240" cy="320040"/>
          </a:xfrm>
          <a:prstGeom prst="rect">
            <a:avLst/>
          </a:prstGeom>
          <a:noFill/>
        </p:spPr>
        <p:txBody>
          <a:bodyPr wrap="none" lIns="0" rIns="0" tIns="0" bIns="0" anchor="ctr">
            <a:spAutoFit/>
          </a:bodyPr>
          <a:lstStyle/>
          <a:p>
            <a:pPr algn="ctr">
              <a:defRPr sz="1900" b="1">
                <a:solidFill>
                  <a:srgbClr val="FFFFFF"/>
                </a:solidFill>
                <a:latin typeface="Arial"/>
              </a:defRPr>
            </a:pPr>
            <a:r>
              <a:t>2  HUMAN response</a:t>
            </a:r>
          </a:p>
        </p:txBody>
      </p:sp>
      <p:sp>
        <p:nvSpPr>
          <p:cNvPr id="11" name="TextBox 10"/>
          <p:cNvSpPr txBox="1"/>
          <p:nvPr/>
        </p:nvSpPr>
        <p:spPr>
          <a:xfrm>
            <a:off x="6949440" y="2057400"/>
            <a:ext cx="3474720" cy="320040"/>
          </a:xfrm>
          <a:prstGeom prst="rect">
            <a:avLst/>
          </a:prstGeom>
          <a:noFill/>
        </p:spPr>
        <p:txBody>
          <a:bodyPr wrap="none" lIns="0" rIns="0" tIns="0" bIns="0" anchor="ctr">
            <a:spAutoFit/>
          </a:bodyPr>
          <a:lstStyle/>
          <a:p>
            <a:pPr algn="ctr">
              <a:defRPr sz="1900" b="1">
                <a:solidFill>
                  <a:srgbClr val="FFFFFF"/>
                </a:solidFill>
                <a:latin typeface="Arial"/>
              </a:defRPr>
            </a:pPr>
            <a:r>
              <a:t>3  BOT final response</a:t>
            </a:r>
          </a:p>
        </p:txBody>
      </p:sp>
      <p:sp>
        <p:nvSpPr>
          <p:cNvPr id="12" name="TextBox 11"/>
          <p:cNvSpPr txBox="1"/>
          <p:nvPr/>
        </p:nvSpPr>
        <p:spPr>
          <a:xfrm>
            <a:off x="10698480" y="2057400"/>
            <a:ext cx="3200399" cy="320040"/>
          </a:xfrm>
          <a:prstGeom prst="rect">
            <a:avLst/>
          </a:prstGeom>
          <a:noFill/>
        </p:spPr>
        <p:txBody>
          <a:bodyPr wrap="none" lIns="0" rIns="0" tIns="0" bIns="0" anchor="ctr">
            <a:spAutoFit/>
          </a:bodyPr>
          <a:lstStyle/>
          <a:p>
            <a:pPr algn="ctr">
              <a:defRPr sz="1900" b="1">
                <a:solidFill>
                  <a:srgbClr val="FFFFFF"/>
                </a:solidFill>
                <a:latin typeface="Arial"/>
              </a:defRPr>
            </a:pPr>
            <a:r>
              <a:t>Board score · depth 0</a:t>
            </a:r>
          </a:p>
        </p:txBody>
      </p:sp>
      <p:sp>
        <p:nvSpPr>
          <p:cNvPr id="13" name="Rectangle 12"/>
          <p:cNvSpPr/>
          <p:nvPr/>
        </p:nvSpPr>
        <p:spPr>
          <a:xfrm>
            <a:off x="594360" y="2542032"/>
            <a:ext cx="13441680" cy="388620"/>
          </a:xfrm>
          <a:prstGeom prst="rect">
            <a:avLst/>
          </a:prstGeom>
          <a:solidFill>
            <a:srgbClr val="FFFFFF"/>
          </a:solidFill>
          <a:ln w="7620">
            <a:solidFill>
              <a:srgbClr val="DF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578608"/>
            <a:ext cx="2606040" cy="315468"/>
          </a:xfrm>
          <a:prstGeom prst="rect">
            <a:avLst/>
          </a:prstGeom>
          <a:noFill/>
        </p:spPr>
        <p:txBody>
          <a:bodyPr wrap="none" lIns="0" rIns="0" tIns="0" bIns="0" anchor="ctr">
            <a:spAutoFit/>
          </a:bodyPr>
          <a:lstStyle/>
          <a:p>
            <a:pPr algn="ctr">
              <a:defRPr sz="1900" b="1">
                <a:solidFill>
                  <a:srgbClr val="17382D"/>
                </a:solidFill>
                <a:latin typeface="Arial"/>
              </a:defRPr>
            </a:pPr>
            <a:r>
              <a:t>A</a:t>
            </a:r>
          </a:p>
        </p:txBody>
      </p:sp>
      <p:sp>
        <p:nvSpPr>
          <p:cNvPr id="15" name="TextBox 14"/>
          <p:cNvSpPr txBox="1"/>
          <p:nvPr/>
        </p:nvSpPr>
        <p:spPr>
          <a:xfrm>
            <a:off x="3611879" y="2578608"/>
            <a:ext cx="3063240" cy="315468"/>
          </a:xfrm>
          <a:prstGeom prst="rect">
            <a:avLst/>
          </a:prstGeom>
          <a:noFill/>
        </p:spPr>
        <p:txBody>
          <a:bodyPr wrap="none" lIns="0" rIns="0" tIns="0" bIns="0" anchor="ctr">
            <a:spAutoFit/>
          </a:bodyPr>
          <a:lstStyle/>
          <a:p>
            <a:pPr algn="ctr">
              <a:defRPr sz="1900" b="0">
                <a:solidFill>
                  <a:srgbClr val="17382D"/>
                </a:solidFill>
                <a:latin typeface="Arial"/>
              </a:defRPr>
            </a:pPr>
            <a:r>
              <a:t>H1</a:t>
            </a:r>
          </a:p>
        </p:txBody>
      </p:sp>
      <p:sp>
        <p:nvSpPr>
          <p:cNvPr id="16" name="TextBox 15"/>
          <p:cNvSpPr txBox="1"/>
          <p:nvPr/>
        </p:nvSpPr>
        <p:spPr>
          <a:xfrm>
            <a:off x="6949440" y="2578608"/>
            <a:ext cx="3474720" cy="315468"/>
          </a:xfrm>
          <a:prstGeom prst="rect">
            <a:avLst/>
          </a:prstGeom>
          <a:noFill/>
        </p:spPr>
        <p:txBody>
          <a:bodyPr wrap="none" lIns="0" rIns="0" tIns="0" bIns="0" anchor="ctr">
            <a:spAutoFit/>
          </a:bodyPr>
          <a:lstStyle/>
          <a:p>
            <a:pPr algn="ctr">
              <a:defRPr sz="1900" b="0">
                <a:solidFill>
                  <a:srgbClr val="17382D"/>
                </a:solidFill>
                <a:latin typeface="Arial"/>
              </a:defRPr>
            </a:pPr>
            <a:r>
              <a:t>Reply 1</a:t>
            </a:r>
          </a:p>
        </p:txBody>
      </p:sp>
      <p:sp>
        <p:nvSpPr>
          <p:cNvPr id="17" name="TextBox 16"/>
          <p:cNvSpPr txBox="1"/>
          <p:nvPr/>
        </p:nvSpPr>
        <p:spPr>
          <a:xfrm>
            <a:off x="10698480" y="2578608"/>
            <a:ext cx="3200399" cy="315468"/>
          </a:xfrm>
          <a:prstGeom prst="rect">
            <a:avLst/>
          </a:prstGeom>
          <a:noFill/>
        </p:spPr>
        <p:txBody>
          <a:bodyPr wrap="none" lIns="0" rIns="0" tIns="0" bIns="0" anchor="ctr">
            <a:spAutoFit/>
          </a:bodyPr>
          <a:lstStyle/>
          <a:p>
            <a:pPr algn="ctr">
              <a:defRPr sz="2100" b="1">
                <a:solidFill>
                  <a:srgbClr val="17382D"/>
                </a:solidFill>
                <a:latin typeface="Arial"/>
              </a:defRPr>
            </a:pPr>
            <a:r>
              <a:t>3</a:t>
            </a:r>
          </a:p>
        </p:txBody>
      </p:sp>
      <p:sp>
        <p:nvSpPr>
          <p:cNvPr id="18" name="Rectangle 17"/>
          <p:cNvSpPr/>
          <p:nvPr/>
        </p:nvSpPr>
        <p:spPr>
          <a:xfrm>
            <a:off x="594360" y="2930652"/>
            <a:ext cx="13441680" cy="388620"/>
          </a:xfrm>
          <a:prstGeom prst="rect">
            <a:avLst/>
          </a:prstGeom>
          <a:solidFill>
            <a:srgbClr val="FFFFFF"/>
          </a:solidFill>
          <a:ln w="7620">
            <a:solidFill>
              <a:srgbClr val="DF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967228"/>
            <a:ext cx="2606040" cy="315468"/>
          </a:xfrm>
          <a:prstGeom prst="rect">
            <a:avLst/>
          </a:prstGeom>
          <a:noFill/>
        </p:spPr>
        <p:txBody>
          <a:bodyPr wrap="none" lIns="0" rIns="0" tIns="0" bIns="0" anchor="ctr">
            <a:spAutoFit/>
          </a:bodyPr>
          <a:lstStyle/>
          <a:p>
            <a:pPr algn="ctr">
              <a:defRPr sz="1900" b="1">
                <a:solidFill>
                  <a:srgbClr val="17382D"/>
                </a:solidFill>
                <a:latin typeface="Arial"/>
              </a:defRPr>
            </a:pPr>
            <a:r>
              <a:t>A</a:t>
            </a:r>
          </a:p>
        </p:txBody>
      </p:sp>
      <p:sp>
        <p:nvSpPr>
          <p:cNvPr id="20" name="TextBox 19"/>
          <p:cNvSpPr txBox="1"/>
          <p:nvPr/>
        </p:nvSpPr>
        <p:spPr>
          <a:xfrm>
            <a:off x="3611879" y="2967228"/>
            <a:ext cx="3063240" cy="315468"/>
          </a:xfrm>
          <a:prstGeom prst="rect">
            <a:avLst/>
          </a:prstGeom>
          <a:noFill/>
        </p:spPr>
        <p:txBody>
          <a:bodyPr wrap="none" lIns="0" rIns="0" tIns="0" bIns="0" anchor="ctr">
            <a:spAutoFit/>
          </a:bodyPr>
          <a:lstStyle/>
          <a:p>
            <a:pPr algn="ctr">
              <a:defRPr sz="1900" b="0">
                <a:solidFill>
                  <a:srgbClr val="17382D"/>
                </a:solidFill>
                <a:latin typeface="Arial"/>
              </a:defRPr>
            </a:pPr>
            <a:r>
              <a:t>H1</a:t>
            </a:r>
          </a:p>
        </p:txBody>
      </p:sp>
      <p:sp>
        <p:nvSpPr>
          <p:cNvPr id="21" name="TextBox 20"/>
          <p:cNvSpPr txBox="1"/>
          <p:nvPr/>
        </p:nvSpPr>
        <p:spPr>
          <a:xfrm>
            <a:off x="6949440" y="2967228"/>
            <a:ext cx="3474720" cy="315468"/>
          </a:xfrm>
          <a:prstGeom prst="rect">
            <a:avLst/>
          </a:prstGeom>
          <a:noFill/>
        </p:spPr>
        <p:txBody>
          <a:bodyPr wrap="none" lIns="0" rIns="0" tIns="0" bIns="0" anchor="ctr">
            <a:spAutoFit/>
          </a:bodyPr>
          <a:lstStyle/>
          <a:p>
            <a:pPr algn="ctr">
              <a:defRPr sz="1900" b="0">
                <a:solidFill>
                  <a:srgbClr val="17382D"/>
                </a:solidFill>
                <a:latin typeface="Arial"/>
              </a:defRPr>
            </a:pPr>
            <a:r>
              <a:t>Reply 2</a:t>
            </a:r>
          </a:p>
        </p:txBody>
      </p:sp>
      <p:sp>
        <p:nvSpPr>
          <p:cNvPr id="22" name="TextBox 21"/>
          <p:cNvSpPr txBox="1"/>
          <p:nvPr/>
        </p:nvSpPr>
        <p:spPr>
          <a:xfrm>
            <a:off x="10698480" y="2967228"/>
            <a:ext cx="3200399" cy="315468"/>
          </a:xfrm>
          <a:prstGeom prst="rect">
            <a:avLst/>
          </a:prstGeom>
          <a:noFill/>
        </p:spPr>
        <p:txBody>
          <a:bodyPr wrap="none" lIns="0" rIns="0" tIns="0" bIns="0" anchor="ctr">
            <a:spAutoFit/>
          </a:bodyPr>
          <a:lstStyle/>
          <a:p>
            <a:pPr algn="ctr">
              <a:defRPr sz="2100" b="1">
                <a:solidFill>
                  <a:srgbClr val="17382D"/>
                </a:solidFill>
                <a:latin typeface="Arial"/>
              </a:defRPr>
            </a:pPr>
            <a:r>
              <a:t>6</a:t>
            </a:r>
          </a:p>
        </p:txBody>
      </p:sp>
      <p:sp>
        <p:nvSpPr>
          <p:cNvPr id="23" name="Rectangle 22"/>
          <p:cNvSpPr/>
          <p:nvPr/>
        </p:nvSpPr>
        <p:spPr>
          <a:xfrm>
            <a:off x="594360" y="3319272"/>
            <a:ext cx="13441680" cy="388620"/>
          </a:xfrm>
          <a:prstGeom prst="rect">
            <a:avLst/>
          </a:prstGeom>
          <a:solidFill>
            <a:srgbClr val="FFFFFF"/>
          </a:solidFill>
          <a:ln w="7620">
            <a:solidFill>
              <a:srgbClr val="DF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355848"/>
            <a:ext cx="2606040" cy="315468"/>
          </a:xfrm>
          <a:prstGeom prst="rect">
            <a:avLst/>
          </a:prstGeom>
          <a:noFill/>
        </p:spPr>
        <p:txBody>
          <a:bodyPr wrap="none" lIns="0" rIns="0" tIns="0" bIns="0" anchor="ctr">
            <a:spAutoFit/>
          </a:bodyPr>
          <a:lstStyle/>
          <a:p>
            <a:pPr algn="ctr">
              <a:defRPr sz="1900" b="1">
                <a:solidFill>
                  <a:srgbClr val="17382D"/>
                </a:solidFill>
                <a:latin typeface="Arial"/>
              </a:defRPr>
            </a:pPr>
            <a:r>
              <a:t>A</a:t>
            </a:r>
          </a:p>
        </p:txBody>
      </p:sp>
      <p:sp>
        <p:nvSpPr>
          <p:cNvPr id="25" name="TextBox 24"/>
          <p:cNvSpPr txBox="1"/>
          <p:nvPr/>
        </p:nvSpPr>
        <p:spPr>
          <a:xfrm>
            <a:off x="3611879" y="3355848"/>
            <a:ext cx="3063240" cy="315468"/>
          </a:xfrm>
          <a:prstGeom prst="rect">
            <a:avLst/>
          </a:prstGeom>
          <a:noFill/>
        </p:spPr>
        <p:txBody>
          <a:bodyPr wrap="none" lIns="0" rIns="0" tIns="0" bIns="0" anchor="ctr">
            <a:spAutoFit/>
          </a:bodyPr>
          <a:lstStyle/>
          <a:p>
            <a:pPr algn="ctr">
              <a:defRPr sz="1900" b="0">
                <a:solidFill>
                  <a:srgbClr val="17382D"/>
                </a:solidFill>
                <a:latin typeface="Arial"/>
              </a:defRPr>
            </a:pPr>
            <a:r>
              <a:t>H2</a:t>
            </a:r>
          </a:p>
        </p:txBody>
      </p:sp>
      <p:sp>
        <p:nvSpPr>
          <p:cNvPr id="26" name="TextBox 25"/>
          <p:cNvSpPr txBox="1"/>
          <p:nvPr/>
        </p:nvSpPr>
        <p:spPr>
          <a:xfrm>
            <a:off x="6949440" y="3355848"/>
            <a:ext cx="3474720" cy="315468"/>
          </a:xfrm>
          <a:prstGeom prst="rect">
            <a:avLst/>
          </a:prstGeom>
          <a:noFill/>
        </p:spPr>
        <p:txBody>
          <a:bodyPr wrap="none" lIns="0" rIns="0" tIns="0" bIns="0" anchor="ctr">
            <a:spAutoFit/>
          </a:bodyPr>
          <a:lstStyle/>
          <a:p>
            <a:pPr algn="ctr">
              <a:defRPr sz="1900" b="0">
                <a:solidFill>
                  <a:srgbClr val="17382D"/>
                </a:solidFill>
                <a:latin typeface="Arial"/>
              </a:defRPr>
            </a:pPr>
            <a:r>
              <a:t>Reply 1</a:t>
            </a:r>
          </a:p>
        </p:txBody>
      </p:sp>
      <p:sp>
        <p:nvSpPr>
          <p:cNvPr id="27" name="TextBox 26"/>
          <p:cNvSpPr txBox="1"/>
          <p:nvPr/>
        </p:nvSpPr>
        <p:spPr>
          <a:xfrm>
            <a:off x="10698480" y="3355848"/>
            <a:ext cx="3200399" cy="315468"/>
          </a:xfrm>
          <a:prstGeom prst="rect">
            <a:avLst/>
          </a:prstGeom>
          <a:noFill/>
        </p:spPr>
        <p:txBody>
          <a:bodyPr wrap="none" lIns="0" rIns="0" tIns="0" bIns="0" anchor="ctr">
            <a:spAutoFit/>
          </a:bodyPr>
          <a:lstStyle/>
          <a:p>
            <a:pPr algn="ctr">
              <a:defRPr sz="2100" b="1">
                <a:solidFill>
                  <a:srgbClr val="17382D"/>
                </a:solidFill>
                <a:latin typeface="Arial"/>
              </a:defRPr>
            </a:pPr>
            <a:r>
              <a:t>0</a:t>
            </a:r>
          </a:p>
        </p:txBody>
      </p:sp>
      <p:sp>
        <p:nvSpPr>
          <p:cNvPr id="28" name="Rectangle 27"/>
          <p:cNvSpPr/>
          <p:nvPr/>
        </p:nvSpPr>
        <p:spPr>
          <a:xfrm>
            <a:off x="594360" y="3707891"/>
            <a:ext cx="13441680" cy="388620"/>
          </a:xfrm>
          <a:prstGeom prst="rect">
            <a:avLst/>
          </a:prstGeom>
          <a:solidFill>
            <a:srgbClr val="FFF1BA"/>
          </a:solidFill>
          <a:ln w="7620">
            <a:solidFill>
              <a:srgbClr val="DF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744468"/>
            <a:ext cx="2606040" cy="315468"/>
          </a:xfrm>
          <a:prstGeom prst="rect">
            <a:avLst/>
          </a:prstGeom>
          <a:noFill/>
        </p:spPr>
        <p:txBody>
          <a:bodyPr wrap="none" lIns="0" rIns="0" tIns="0" bIns="0" anchor="ctr">
            <a:spAutoFit/>
          </a:bodyPr>
          <a:lstStyle/>
          <a:p>
            <a:pPr algn="ctr">
              <a:defRPr sz="1900" b="1">
                <a:solidFill>
                  <a:srgbClr val="936600"/>
                </a:solidFill>
                <a:latin typeface="Arial"/>
              </a:defRPr>
            </a:pPr>
            <a:r>
              <a:t>A</a:t>
            </a:r>
          </a:p>
        </p:txBody>
      </p:sp>
      <p:sp>
        <p:nvSpPr>
          <p:cNvPr id="30" name="TextBox 29"/>
          <p:cNvSpPr txBox="1"/>
          <p:nvPr/>
        </p:nvSpPr>
        <p:spPr>
          <a:xfrm>
            <a:off x="3611879" y="3744468"/>
            <a:ext cx="3063240" cy="315468"/>
          </a:xfrm>
          <a:prstGeom prst="rect">
            <a:avLst/>
          </a:prstGeom>
          <a:noFill/>
        </p:spPr>
        <p:txBody>
          <a:bodyPr wrap="none" lIns="0" rIns="0" tIns="0" bIns="0" anchor="ctr">
            <a:spAutoFit/>
          </a:bodyPr>
          <a:lstStyle/>
          <a:p>
            <a:pPr algn="ctr">
              <a:defRPr sz="1900" b="1">
                <a:solidFill>
                  <a:srgbClr val="936600"/>
                </a:solidFill>
                <a:latin typeface="Arial"/>
              </a:defRPr>
            </a:pPr>
            <a:r>
              <a:t>H2</a:t>
            </a:r>
          </a:p>
        </p:txBody>
      </p:sp>
      <p:sp>
        <p:nvSpPr>
          <p:cNvPr id="31" name="TextBox 30"/>
          <p:cNvSpPr txBox="1"/>
          <p:nvPr/>
        </p:nvSpPr>
        <p:spPr>
          <a:xfrm>
            <a:off x="6949440" y="3744468"/>
            <a:ext cx="3474720" cy="315468"/>
          </a:xfrm>
          <a:prstGeom prst="rect">
            <a:avLst/>
          </a:prstGeom>
          <a:noFill/>
        </p:spPr>
        <p:txBody>
          <a:bodyPr wrap="none" lIns="0" rIns="0" tIns="0" bIns="0" anchor="ctr">
            <a:spAutoFit/>
          </a:bodyPr>
          <a:lstStyle/>
          <a:p>
            <a:pPr algn="ctr">
              <a:defRPr sz="1900" b="1">
                <a:solidFill>
                  <a:srgbClr val="936600"/>
                </a:solidFill>
                <a:latin typeface="Arial"/>
              </a:defRPr>
            </a:pPr>
            <a:r>
              <a:t>Reply 2</a:t>
            </a:r>
          </a:p>
        </p:txBody>
      </p:sp>
      <p:sp>
        <p:nvSpPr>
          <p:cNvPr id="32" name="TextBox 31"/>
          <p:cNvSpPr txBox="1"/>
          <p:nvPr/>
        </p:nvSpPr>
        <p:spPr>
          <a:xfrm>
            <a:off x="10698480" y="3744468"/>
            <a:ext cx="3200399" cy="315468"/>
          </a:xfrm>
          <a:prstGeom prst="rect">
            <a:avLst/>
          </a:prstGeom>
          <a:noFill/>
        </p:spPr>
        <p:txBody>
          <a:bodyPr wrap="none" lIns="0" rIns="0" tIns="0" bIns="0" anchor="ctr">
            <a:spAutoFit/>
          </a:bodyPr>
          <a:lstStyle/>
          <a:p>
            <a:pPr algn="ctr">
              <a:defRPr sz="2100" b="1">
                <a:solidFill>
                  <a:srgbClr val="936600"/>
                </a:solidFill>
                <a:latin typeface="Arial"/>
              </a:defRPr>
            </a:pPr>
            <a:r>
              <a:t>3</a:t>
            </a:r>
          </a:p>
        </p:txBody>
      </p:sp>
      <p:sp>
        <p:nvSpPr>
          <p:cNvPr id="33" name="Rectangle 32"/>
          <p:cNvSpPr/>
          <p:nvPr/>
        </p:nvSpPr>
        <p:spPr>
          <a:xfrm>
            <a:off x="594360" y="4096512"/>
            <a:ext cx="13441680" cy="388620"/>
          </a:xfrm>
          <a:prstGeom prst="rect">
            <a:avLst/>
          </a:prstGeom>
          <a:solidFill>
            <a:srgbClr val="F0F3EF"/>
          </a:solidFill>
          <a:ln w="7620">
            <a:solidFill>
              <a:srgbClr val="DF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133088"/>
            <a:ext cx="2606040" cy="315468"/>
          </a:xfrm>
          <a:prstGeom prst="rect">
            <a:avLst/>
          </a:prstGeom>
          <a:noFill/>
        </p:spPr>
        <p:txBody>
          <a:bodyPr wrap="none" lIns="0" rIns="0" tIns="0" bIns="0" anchor="ctr">
            <a:spAutoFit/>
          </a:bodyPr>
          <a:lstStyle/>
          <a:p>
            <a:pPr algn="ctr">
              <a:defRPr sz="1900" b="1">
                <a:solidFill>
                  <a:srgbClr val="17382D"/>
                </a:solidFill>
                <a:latin typeface="Arial"/>
              </a:defRPr>
            </a:pPr>
            <a:r>
              <a:t>B</a:t>
            </a:r>
          </a:p>
        </p:txBody>
      </p:sp>
      <p:sp>
        <p:nvSpPr>
          <p:cNvPr id="35" name="TextBox 34"/>
          <p:cNvSpPr txBox="1"/>
          <p:nvPr/>
        </p:nvSpPr>
        <p:spPr>
          <a:xfrm>
            <a:off x="3611879" y="4133088"/>
            <a:ext cx="3063240" cy="315468"/>
          </a:xfrm>
          <a:prstGeom prst="rect">
            <a:avLst/>
          </a:prstGeom>
          <a:noFill/>
        </p:spPr>
        <p:txBody>
          <a:bodyPr wrap="none" lIns="0" rIns="0" tIns="0" bIns="0" anchor="ctr">
            <a:spAutoFit/>
          </a:bodyPr>
          <a:lstStyle/>
          <a:p>
            <a:pPr algn="ctr">
              <a:defRPr sz="1900" b="0">
                <a:solidFill>
                  <a:srgbClr val="17382D"/>
                </a:solidFill>
                <a:latin typeface="Arial"/>
              </a:defRPr>
            </a:pPr>
            <a:r>
              <a:t>H1</a:t>
            </a:r>
          </a:p>
        </p:txBody>
      </p:sp>
      <p:sp>
        <p:nvSpPr>
          <p:cNvPr id="36" name="TextBox 35"/>
          <p:cNvSpPr txBox="1"/>
          <p:nvPr/>
        </p:nvSpPr>
        <p:spPr>
          <a:xfrm>
            <a:off x="6949440" y="4133088"/>
            <a:ext cx="3474720" cy="315468"/>
          </a:xfrm>
          <a:prstGeom prst="rect">
            <a:avLst/>
          </a:prstGeom>
          <a:noFill/>
        </p:spPr>
        <p:txBody>
          <a:bodyPr wrap="none" lIns="0" rIns="0" tIns="0" bIns="0" anchor="ctr">
            <a:spAutoFit/>
          </a:bodyPr>
          <a:lstStyle/>
          <a:p>
            <a:pPr algn="ctr">
              <a:defRPr sz="1900" b="0">
                <a:solidFill>
                  <a:srgbClr val="17382D"/>
                </a:solidFill>
                <a:latin typeface="Arial"/>
              </a:defRPr>
            </a:pPr>
            <a:r>
              <a:t>Reply 1</a:t>
            </a:r>
          </a:p>
        </p:txBody>
      </p:sp>
      <p:sp>
        <p:nvSpPr>
          <p:cNvPr id="37" name="TextBox 36"/>
          <p:cNvSpPr txBox="1"/>
          <p:nvPr/>
        </p:nvSpPr>
        <p:spPr>
          <a:xfrm>
            <a:off x="10698480" y="4133088"/>
            <a:ext cx="3200399" cy="315468"/>
          </a:xfrm>
          <a:prstGeom prst="rect">
            <a:avLst/>
          </a:prstGeom>
          <a:noFill/>
        </p:spPr>
        <p:txBody>
          <a:bodyPr wrap="none" lIns="0" rIns="0" tIns="0" bIns="0" anchor="ctr">
            <a:spAutoFit/>
          </a:bodyPr>
          <a:lstStyle/>
          <a:p>
            <a:pPr algn="ctr">
              <a:defRPr sz="2100" b="1">
                <a:solidFill>
                  <a:srgbClr val="17382D"/>
                </a:solidFill>
                <a:latin typeface="Arial"/>
              </a:defRPr>
            </a:pPr>
            <a:r>
              <a:t>6</a:t>
            </a:r>
          </a:p>
        </p:txBody>
      </p:sp>
      <p:sp>
        <p:nvSpPr>
          <p:cNvPr id="38" name="Rectangle 37"/>
          <p:cNvSpPr/>
          <p:nvPr/>
        </p:nvSpPr>
        <p:spPr>
          <a:xfrm>
            <a:off x="594360" y="4485132"/>
            <a:ext cx="13441680" cy="388620"/>
          </a:xfrm>
          <a:prstGeom prst="rect">
            <a:avLst/>
          </a:prstGeom>
          <a:solidFill>
            <a:srgbClr val="F0F3EF"/>
          </a:solidFill>
          <a:ln w="7620">
            <a:solidFill>
              <a:srgbClr val="DF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521708"/>
            <a:ext cx="2606040" cy="315468"/>
          </a:xfrm>
          <a:prstGeom prst="rect">
            <a:avLst/>
          </a:prstGeom>
          <a:noFill/>
        </p:spPr>
        <p:txBody>
          <a:bodyPr wrap="none" lIns="0" rIns="0" tIns="0" bIns="0" anchor="ctr">
            <a:spAutoFit/>
          </a:bodyPr>
          <a:lstStyle/>
          <a:p>
            <a:pPr algn="ctr">
              <a:defRPr sz="1900" b="1">
                <a:solidFill>
                  <a:srgbClr val="17382D"/>
                </a:solidFill>
                <a:latin typeface="Arial"/>
              </a:defRPr>
            </a:pPr>
            <a:r>
              <a:t>B</a:t>
            </a:r>
          </a:p>
        </p:txBody>
      </p:sp>
      <p:sp>
        <p:nvSpPr>
          <p:cNvPr id="40" name="TextBox 39"/>
          <p:cNvSpPr txBox="1"/>
          <p:nvPr/>
        </p:nvSpPr>
        <p:spPr>
          <a:xfrm>
            <a:off x="3611879" y="4521708"/>
            <a:ext cx="3063240" cy="315468"/>
          </a:xfrm>
          <a:prstGeom prst="rect">
            <a:avLst/>
          </a:prstGeom>
          <a:noFill/>
        </p:spPr>
        <p:txBody>
          <a:bodyPr wrap="none" lIns="0" rIns="0" tIns="0" bIns="0" anchor="ctr">
            <a:spAutoFit/>
          </a:bodyPr>
          <a:lstStyle/>
          <a:p>
            <a:pPr algn="ctr">
              <a:defRPr sz="1900" b="0">
                <a:solidFill>
                  <a:srgbClr val="17382D"/>
                </a:solidFill>
                <a:latin typeface="Arial"/>
              </a:defRPr>
            </a:pPr>
            <a:r>
              <a:t>H1</a:t>
            </a:r>
          </a:p>
        </p:txBody>
      </p:sp>
      <p:sp>
        <p:nvSpPr>
          <p:cNvPr id="41" name="TextBox 40"/>
          <p:cNvSpPr txBox="1"/>
          <p:nvPr/>
        </p:nvSpPr>
        <p:spPr>
          <a:xfrm>
            <a:off x="6949440" y="4521708"/>
            <a:ext cx="3474720" cy="315468"/>
          </a:xfrm>
          <a:prstGeom prst="rect">
            <a:avLst/>
          </a:prstGeom>
          <a:noFill/>
        </p:spPr>
        <p:txBody>
          <a:bodyPr wrap="none" lIns="0" rIns="0" tIns="0" bIns="0" anchor="ctr">
            <a:spAutoFit/>
          </a:bodyPr>
          <a:lstStyle/>
          <a:p>
            <a:pPr algn="ctr">
              <a:defRPr sz="1900" b="0">
                <a:solidFill>
                  <a:srgbClr val="17382D"/>
                </a:solidFill>
                <a:latin typeface="Arial"/>
              </a:defRPr>
            </a:pPr>
            <a:r>
              <a:t>Reply 2</a:t>
            </a:r>
          </a:p>
        </p:txBody>
      </p:sp>
      <p:sp>
        <p:nvSpPr>
          <p:cNvPr id="42" name="TextBox 41"/>
          <p:cNvSpPr txBox="1"/>
          <p:nvPr/>
        </p:nvSpPr>
        <p:spPr>
          <a:xfrm>
            <a:off x="10698480" y="4521708"/>
            <a:ext cx="3200399" cy="315468"/>
          </a:xfrm>
          <a:prstGeom prst="rect">
            <a:avLst/>
          </a:prstGeom>
          <a:noFill/>
        </p:spPr>
        <p:txBody>
          <a:bodyPr wrap="none" lIns="0" rIns="0" tIns="0" bIns="0" anchor="ctr">
            <a:spAutoFit/>
          </a:bodyPr>
          <a:lstStyle/>
          <a:p>
            <a:pPr algn="ctr">
              <a:defRPr sz="2100" b="1">
                <a:solidFill>
                  <a:srgbClr val="17382D"/>
                </a:solidFill>
                <a:latin typeface="Arial"/>
              </a:defRPr>
            </a:pPr>
            <a:r>
              <a:t>9</a:t>
            </a:r>
          </a:p>
        </p:txBody>
      </p:sp>
      <p:sp>
        <p:nvSpPr>
          <p:cNvPr id="43" name="Rectangle 42"/>
          <p:cNvSpPr/>
          <p:nvPr/>
        </p:nvSpPr>
        <p:spPr>
          <a:xfrm>
            <a:off x="594360" y="4873752"/>
            <a:ext cx="13441680" cy="388620"/>
          </a:xfrm>
          <a:prstGeom prst="rect">
            <a:avLst/>
          </a:prstGeom>
          <a:solidFill>
            <a:srgbClr val="F0F3EF"/>
          </a:solidFill>
          <a:ln w="7620">
            <a:solidFill>
              <a:srgbClr val="DF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910328"/>
            <a:ext cx="2606040" cy="315468"/>
          </a:xfrm>
          <a:prstGeom prst="rect">
            <a:avLst/>
          </a:prstGeom>
          <a:noFill/>
        </p:spPr>
        <p:txBody>
          <a:bodyPr wrap="none" lIns="0" rIns="0" tIns="0" bIns="0" anchor="ctr">
            <a:spAutoFit/>
          </a:bodyPr>
          <a:lstStyle/>
          <a:p>
            <a:pPr algn="ctr">
              <a:defRPr sz="1900" b="1">
                <a:solidFill>
                  <a:srgbClr val="17382D"/>
                </a:solidFill>
                <a:latin typeface="Arial"/>
              </a:defRPr>
            </a:pPr>
            <a:r>
              <a:t>B</a:t>
            </a:r>
          </a:p>
        </p:txBody>
      </p:sp>
      <p:sp>
        <p:nvSpPr>
          <p:cNvPr id="45" name="TextBox 44"/>
          <p:cNvSpPr txBox="1"/>
          <p:nvPr/>
        </p:nvSpPr>
        <p:spPr>
          <a:xfrm>
            <a:off x="3611879" y="4910328"/>
            <a:ext cx="3063240" cy="315468"/>
          </a:xfrm>
          <a:prstGeom prst="rect">
            <a:avLst/>
          </a:prstGeom>
          <a:noFill/>
        </p:spPr>
        <p:txBody>
          <a:bodyPr wrap="none" lIns="0" rIns="0" tIns="0" bIns="0" anchor="ctr">
            <a:spAutoFit/>
          </a:bodyPr>
          <a:lstStyle/>
          <a:p>
            <a:pPr algn="ctr">
              <a:defRPr sz="1900" b="0">
                <a:solidFill>
                  <a:srgbClr val="17382D"/>
                </a:solidFill>
                <a:latin typeface="Arial"/>
              </a:defRPr>
            </a:pPr>
            <a:r>
              <a:t>H2</a:t>
            </a:r>
          </a:p>
        </p:txBody>
      </p:sp>
      <p:sp>
        <p:nvSpPr>
          <p:cNvPr id="46" name="TextBox 45"/>
          <p:cNvSpPr txBox="1"/>
          <p:nvPr/>
        </p:nvSpPr>
        <p:spPr>
          <a:xfrm>
            <a:off x="6949440" y="4910328"/>
            <a:ext cx="3474720" cy="315468"/>
          </a:xfrm>
          <a:prstGeom prst="rect">
            <a:avLst/>
          </a:prstGeom>
          <a:noFill/>
        </p:spPr>
        <p:txBody>
          <a:bodyPr wrap="none" lIns="0" rIns="0" tIns="0" bIns="0" anchor="ctr">
            <a:spAutoFit/>
          </a:bodyPr>
          <a:lstStyle/>
          <a:p>
            <a:pPr algn="ctr">
              <a:defRPr sz="1900" b="0">
                <a:solidFill>
                  <a:srgbClr val="17382D"/>
                </a:solidFill>
                <a:latin typeface="Arial"/>
              </a:defRPr>
            </a:pPr>
            <a:r>
              <a:t>Reply 1</a:t>
            </a:r>
          </a:p>
        </p:txBody>
      </p:sp>
      <p:sp>
        <p:nvSpPr>
          <p:cNvPr id="47" name="TextBox 46"/>
          <p:cNvSpPr txBox="1"/>
          <p:nvPr/>
        </p:nvSpPr>
        <p:spPr>
          <a:xfrm>
            <a:off x="10698480" y="4910328"/>
            <a:ext cx="3200399" cy="315468"/>
          </a:xfrm>
          <a:prstGeom prst="rect">
            <a:avLst/>
          </a:prstGeom>
          <a:noFill/>
        </p:spPr>
        <p:txBody>
          <a:bodyPr wrap="none" lIns="0" rIns="0" tIns="0" bIns="0" anchor="ctr">
            <a:spAutoFit/>
          </a:bodyPr>
          <a:lstStyle/>
          <a:p>
            <a:pPr algn="ctr">
              <a:defRPr sz="2100" b="1">
                <a:solidFill>
                  <a:srgbClr val="17382D"/>
                </a:solidFill>
                <a:latin typeface="Arial"/>
              </a:defRPr>
            </a:pPr>
            <a:r>
              <a:t>-3</a:t>
            </a:r>
          </a:p>
        </p:txBody>
      </p:sp>
      <p:sp>
        <p:nvSpPr>
          <p:cNvPr id="48" name="Rectangle 47"/>
          <p:cNvSpPr/>
          <p:nvPr/>
        </p:nvSpPr>
        <p:spPr>
          <a:xfrm>
            <a:off x="594360" y="5262372"/>
            <a:ext cx="13441680" cy="388620"/>
          </a:xfrm>
          <a:prstGeom prst="rect">
            <a:avLst/>
          </a:prstGeom>
          <a:solidFill>
            <a:srgbClr val="F0F3EF"/>
          </a:solidFill>
          <a:ln w="7620">
            <a:solidFill>
              <a:srgbClr val="DFE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5298948"/>
            <a:ext cx="2606040" cy="315468"/>
          </a:xfrm>
          <a:prstGeom prst="rect">
            <a:avLst/>
          </a:prstGeom>
          <a:noFill/>
        </p:spPr>
        <p:txBody>
          <a:bodyPr wrap="none" lIns="0" rIns="0" tIns="0" bIns="0" anchor="ctr">
            <a:spAutoFit/>
          </a:bodyPr>
          <a:lstStyle/>
          <a:p>
            <a:pPr algn="ctr">
              <a:defRPr sz="1900" b="1">
                <a:solidFill>
                  <a:srgbClr val="17382D"/>
                </a:solidFill>
                <a:latin typeface="Arial"/>
              </a:defRPr>
            </a:pPr>
            <a:r>
              <a:t>B</a:t>
            </a:r>
          </a:p>
        </p:txBody>
      </p:sp>
      <p:sp>
        <p:nvSpPr>
          <p:cNvPr id="50" name="TextBox 49"/>
          <p:cNvSpPr txBox="1"/>
          <p:nvPr/>
        </p:nvSpPr>
        <p:spPr>
          <a:xfrm>
            <a:off x="3611879" y="5298948"/>
            <a:ext cx="3063240" cy="315468"/>
          </a:xfrm>
          <a:prstGeom prst="rect">
            <a:avLst/>
          </a:prstGeom>
          <a:noFill/>
        </p:spPr>
        <p:txBody>
          <a:bodyPr wrap="none" lIns="0" rIns="0" tIns="0" bIns="0" anchor="ctr">
            <a:spAutoFit/>
          </a:bodyPr>
          <a:lstStyle/>
          <a:p>
            <a:pPr algn="ctr">
              <a:defRPr sz="1900" b="0">
                <a:solidFill>
                  <a:srgbClr val="17382D"/>
                </a:solidFill>
                <a:latin typeface="Arial"/>
              </a:defRPr>
            </a:pPr>
            <a:r>
              <a:t>H2</a:t>
            </a:r>
          </a:p>
        </p:txBody>
      </p:sp>
      <p:sp>
        <p:nvSpPr>
          <p:cNvPr id="51" name="TextBox 50"/>
          <p:cNvSpPr txBox="1"/>
          <p:nvPr/>
        </p:nvSpPr>
        <p:spPr>
          <a:xfrm>
            <a:off x="6949440" y="5298948"/>
            <a:ext cx="3474720" cy="315468"/>
          </a:xfrm>
          <a:prstGeom prst="rect">
            <a:avLst/>
          </a:prstGeom>
          <a:noFill/>
        </p:spPr>
        <p:txBody>
          <a:bodyPr wrap="none" lIns="0" rIns="0" tIns="0" bIns="0" anchor="ctr">
            <a:spAutoFit/>
          </a:bodyPr>
          <a:lstStyle/>
          <a:p>
            <a:pPr algn="ctr">
              <a:defRPr sz="1900" b="0">
                <a:solidFill>
                  <a:srgbClr val="17382D"/>
                </a:solidFill>
                <a:latin typeface="Arial"/>
              </a:defRPr>
            </a:pPr>
            <a:r>
              <a:t>Reply 2</a:t>
            </a:r>
          </a:p>
        </p:txBody>
      </p:sp>
      <p:sp>
        <p:nvSpPr>
          <p:cNvPr id="52" name="TextBox 51"/>
          <p:cNvSpPr txBox="1"/>
          <p:nvPr/>
        </p:nvSpPr>
        <p:spPr>
          <a:xfrm>
            <a:off x="10698480" y="5298948"/>
            <a:ext cx="3200399" cy="315468"/>
          </a:xfrm>
          <a:prstGeom prst="rect">
            <a:avLst/>
          </a:prstGeom>
          <a:noFill/>
        </p:spPr>
        <p:txBody>
          <a:bodyPr wrap="none" lIns="0" rIns="0" tIns="0" bIns="0" anchor="ctr">
            <a:spAutoFit/>
          </a:bodyPr>
          <a:lstStyle/>
          <a:p>
            <a:pPr algn="ctr">
              <a:defRPr sz="2100" b="1">
                <a:solidFill>
                  <a:srgbClr val="17382D"/>
                </a:solidFill>
                <a:latin typeface="Arial"/>
              </a:defRPr>
            </a:pPr>
            <a:r>
              <a:t>0</a:t>
            </a:r>
          </a:p>
        </p:txBody>
      </p:sp>
      <p:sp>
        <p:nvSpPr>
          <p:cNvPr id="53" name="Rounded Rectangle 52"/>
          <p:cNvSpPr/>
          <p:nvPr/>
        </p:nvSpPr>
        <p:spPr>
          <a:xfrm>
            <a:off x="594360" y="5971032"/>
            <a:ext cx="6601968" cy="868680"/>
          </a:xfrm>
          <a:prstGeom prst="roundRect">
            <a:avLst>
              <a:gd name="adj" fmla="val 8000"/>
            </a:avLst>
          </a:prstGeom>
          <a:solidFill>
            <a:srgbClr val="E8F1E8"/>
          </a:solidFill>
          <a:ln w="25400">
            <a:solidFill>
              <a:srgbClr val="93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6071616"/>
            <a:ext cx="6327648" cy="274320"/>
          </a:xfrm>
          <a:prstGeom prst="rect">
            <a:avLst/>
          </a:prstGeom>
          <a:noFill/>
        </p:spPr>
        <p:txBody>
          <a:bodyPr wrap="none" lIns="0" rIns="0" tIns="0" bIns="0" anchor="ctr">
            <a:spAutoFit/>
          </a:bodyPr>
          <a:lstStyle/>
          <a:p>
            <a:pPr algn="ctr">
              <a:defRPr sz="2100" b="1">
                <a:solidFill>
                  <a:srgbClr val="245B43"/>
                </a:solidFill>
                <a:latin typeface="Arial"/>
              </a:defRPr>
            </a:pPr>
            <a:r>
              <a:t>A = MIN(MAX(3, 6), MAX(0, 3))</a:t>
            </a:r>
          </a:p>
        </p:txBody>
      </p:sp>
      <p:sp>
        <p:nvSpPr>
          <p:cNvPr id="55" name="TextBox 54"/>
          <p:cNvSpPr txBox="1"/>
          <p:nvPr/>
        </p:nvSpPr>
        <p:spPr>
          <a:xfrm>
            <a:off x="731520" y="6428232"/>
            <a:ext cx="6327648" cy="237744"/>
          </a:xfrm>
          <a:prstGeom prst="rect">
            <a:avLst/>
          </a:prstGeom>
          <a:noFill/>
        </p:spPr>
        <p:txBody>
          <a:bodyPr wrap="none" lIns="0" rIns="0" tIns="0" bIns="0" anchor="ctr">
            <a:spAutoFit/>
          </a:bodyPr>
          <a:lstStyle/>
          <a:p>
            <a:pPr algn="ctr">
              <a:defRPr sz="2100" b="1">
                <a:solidFill>
                  <a:srgbClr val="245B43"/>
                </a:solidFill>
                <a:latin typeface="Arial"/>
              </a:defRPr>
            </a:pPr>
            <a:r>
              <a:t>= MIN(6, 3) = 3</a:t>
            </a:r>
          </a:p>
        </p:txBody>
      </p:sp>
      <p:sp>
        <p:nvSpPr>
          <p:cNvPr id="56" name="Rounded Rectangle 55"/>
          <p:cNvSpPr/>
          <p:nvPr/>
        </p:nvSpPr>
        <p:spPr>
          <a:xfrm>
            <a:off x="7434072" y="5971032"/>
            <a:ext cx="6601968" cy="868680"/>
          </a:xfrm>
          <a:prstGeom prst="roundRect">
            <a:avLst>
              <a:gd name="adj" fmla="val 8000"/>
            </a:avLst>
          </a:prstGeom>
          <a:solidFill>
            <a:srgbClr val="E8F1E8"/>
          </a:solidFill>
          <a:ln w="12700">
            <a:solidFill>
              <a:srgbClr val="C9D4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71232" y="6071616"/>
            <a:ext cx="6327648" cy="274320"/>
          </a:xfrm>
          <a:prstGeom prst="rect">
            <a:avLst/>
          </a:prstGeom>
          <a:noFill/>
        </p:spPr>
        <p:txBody>
          <a:bodyPr wrap="none" lIns="0" rIns="0" tIns="0" bIns="0" anchor="ctr">
            <a:spAutoFit/>
          </a:bodyPr>
          <a:lstStyle/>
          <a:p>
            <a:pPr algn="ctr">
              <a:defRPr sz="2100" b="1">
                <a:solidFill>
                  <a:srgbClr val="245B43"/>
                </a:solidFill>
                <a:latin typeface="Arial"/>
              </a:defRPr>
            </a:pPr>
            <a:r>
              <a:t>B = MIN(MAX(6, 9), MAX(-3, 0))</a:t>
            </a:r>
          </a:p>
        </p:txBody>
      </p:sp>
      <p:sp>
        <p:nvSpPr>
          <p:cNvPr id="58" name="TextBox 57"/>
          <p:cNvSpPr txBox="1"/>
          <p:nvPr/>
        </p:nvSpPr>
        <p:spPr>
          <a:xfrm>
            <a:off x="7571232" y="6428232"/>
            <a:ext cx="6327648" cy="237744"/>
          </a:xfrm>
          <a:prstGeom prst="rect">
            <a:avLst/>
          </a:prstGeom>
          <a:noFill/>
        </p:spPr>
        <p:txBody>
          <a:bodyPr wrap="none" lIns="0" rIns="0" tIns="0" bIns="0" anchor="ctr">
            <a:spAutoFit/>
          </a:bodyPr>
          <a:lstStyle/>
          <a:p>
            <a:pPr algn="ctr">
              <a:defRPr sz="2100" b="1">
                <a:solidFill>
                  <a:srgbClr val="245B43"/>
                </a:solidFill>
                <a:latin typeface="Arial"/>
              </a:defRPr>
            </a:pPr>
            <a:r>
              <a:t>= MIN(9, 0) = 0</a:t>
            </a:r>
          </a:p>
        </p:txBody>
      </p:sp>
      <p:sp>
        <p:nvSpPr>
          <p:cNvPr id="59" name="TextBox 58"/>
          <p:cNvSpPr txBox="1"/>
          <p:nvPr/>
        </p:nvSpPr>
        <p:spPr>
          <a:xfrm>
            <a:off x="594360" y="7132320"/>
            <a:ext cx="13441680" cy="393192"/>
          </a:xfrm>
          <a:prstGeom prst="rect">
            <a:avLst/>
          </a:prstGeom>
          <a:noFill/>
        </p:spPr>
        <p:txBody>
          <a:bodyPr wrap="none" lIns="0" rIns="0" tIns="0" bIns="0" anchor="ctr">
            <a:spAutoFit/>
          </a:bodyPr>
          <a:lstStyle/>
          <a:p>
            <a:pPr algn="ctr">
              <a:defRPr sz="2700" b="1">
                <a:solidFill>
                  <a:srgbClr val="17382D"/>
                </a:solidFill>
                <a:latin typeface="Arial"/>
              </a:defRPr>
            </a:pPr>
            <a:r>
              <a:t>findBestMove(): MAX(3, 0) = 3  →  choose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