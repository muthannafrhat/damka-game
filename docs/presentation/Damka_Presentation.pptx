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פתיחה</a:t>
            </a:r>
          </a:p>
          <a:p>
            <a:pPr algn="r" rtl="1"/>
            <a:r>
              <a:rPr sz="1200">
                <a:latin typeface="Arial"/>
              </a:rPr>
              <a:t>זמן מומלץ: 30 שניות</a:t>
            </a:r>
          </a:p>
          <a:p>
            <a:pPr algn="r" rtl="1"/>
          </a:p>
          <a:p>
            <a:pPr algn="r" rtl="1"/>
            <a:r>
              <a:rPr sz="1200">
                <a:latin typeface="Arial"/>
              </a:rPr>
              <a:t>להציג את שמות המגישים ואת שם הפרויקט. בנינו משחק דמקה ב־Java וב־JavaFX, הכולל משחק בין שני מחשבים באמצעות שרת TCP, יריב ממוחשב ופרופילים עם היסטוריית משחקים. בהצגה נתמקד בדרך שבה הרכיבים עובדים יחד, ואז נציג משחק קצר ושמירת תוצאה. אין צורך להתחיל בהתקנה או לעבור על רשימת הקבצים.</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המטרה והיכולות</a:t>
            </a:r>
          </a:p>
          <a:p>
            <a:pPr algn="r" rtl="1"/>
            <a:r>
              <a:rPr sz="1200">
                <a:latin typeface="Arial"/>
              </a:rPr>
              <a:t>זמן מומלץ: 60 שניות</a:t>
            </a:r>
          </a:p>
          <a:p>
            <a:pPr algn="r" rtl="1"/>
          </a:p>
          <a:p>
            <a:pPr algn="r" rtl="1"/>
            <a:r>
              <a:rPr sz="1200">
                <a:latin typeface="Arial"/>
              </a:rPr>
              <a:t>המטרה היא לאפשר למשתמש לבחור בין משחק מול אדם אחר לבין אימון מול BOT, ולקבל חוויית משחק ברורה עם תוצאה שנשמרת בחשבון. במשחק ברשת צריך ששני המשתתפים יראו את אותו לוח ושלא יוכלו לבצע מהלכים מחוץ לתור. חשבונות והיסטוריה מאפשרים לשמור הישגים בין הפעלות. המשחק המקומי מול BOT זמין גם ללא שרת, אך אימון לא מקוון אינו נשמר. כללי הדמקה עצמם מרוכזים ב־Game ומשמשים בשני המצבים. להזכיר בקצרה: תנועה אלכסונית, אכילה מחייבת והכתרה; אין צורך ללמד כאן את כל המשחק.</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מבנה המערכת ובחירת TCP</a:t>
            </a:r>
          </a:p>
          <a:p>
            <a:pPr algn="r" rtl="1"/>
            <a:r>
              <a:rPr sz="1200">
                <a:latin typeface="Arial"/>
              </a:rPr>
              <a:t>זמן מומלץ: 90 שניות</a:t>
            </a:r>
          </a:p>
          <a:p>
            <a:pPr algn="r" rtl="1"/>
          </a:p>
          <a:p>
            <a:pPr algn="r" rtl="1"/>
            <a:r>
              <a:rPr sz="1200">
                <a:latin typeface="Arial"/>
              </a:rPr>
              <a:t>להצביע על שני הלקוחות ועל השרת. כל לקוח מחובר לשרת; אין חיבור ישיר בין שני השחקנים. השרת מנהל חדרים, ובכל חדר נמצא אובייקט Game שמחזיק את מצב המשחק המקוון. כך יש מקור מוסמך אחד שמאמת מהלכים ומעדכן את שני המשתתפים. מסד SQLite נמצא בצד השרת ושומר חשבונות ותוצאות.</a:t>
            </a:r>
          </a:p>
          <a:p>
            <a:pPr algn="r" rtl="1"/>
          </a:p>
          <a:p>
            <a:pPr algn="r" rtl="1"/>
            <a:r>
              <a:rPr sz="1200">
                <a:latin typeface="Arial"/>
              </a:rPr>
              <a:t>אפשר היה לבחור HTTP עם בקשות חוזרות לקבלת עדכונים. בחרנו TCP מתמשך כדי להעביר בקשות ועדכונים לשני הכיוונים דרך אותו חיבור. זו בחירה שמתאימה לפרויקט, ולא טענה ש־TCP תמיד עדיף. גם HTTP פועל בדרך כלל מעל TCP; כאן ההשוואה היא בין פרוטוקול ההודעות שלנו על Socket לבין תכנון מבוסס בקשות HTTP.</a:t>
            </a:r>
          </a:p>
          <a:p>
            <a:pPr algn="r" rtl="1"/>
          </a:p>
          <a:p>
            <a:pPr algn="r" rtl="1"/>
            <a:r>
              <a:rPr sz="1200">
                <a:latin typeface="Arial"/>
              </a:rPr>
              <a:t>חיבור TCP נפתח כבר בהרשמה או בהתחברות. לאחר ההזדהות אותו Socket משמש לחדרים, למהלכים ולפרופיל. יצירת חדר משייכת שני חיבורים למשחק אחד.</a:t>
            </a:r>
          </a:p>
          <a:p>
            <a:pPr algn="r" rtl="1"/>
            <a:r>
              <a:rPr sz="1200">
                <a:latin typeface="Arial"/>
              </a:rPr>
              <a:t>מקורות להכנה: https://docs.oracle.com/javase/tutorial/networking/sockets/ ; https://www.sqlite.org/about.html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מהלך אחד מקצה לקצה</a:t>
            </a:r>
          </a:p>
          <a:p>
            <a:pPr algn="r" rtl="1"/>
            <a:r>
              <a:rPr sz="1200">
                <a:latin typeface="Arial"/>
              </a:rPr>
              <a:t>זמן מומלץ: 120 שניות</a:t>
            </a:r>
          </a:p>
          <a:p>
            <a:pPr algn="r" rtl="1"/>
          </a:p>
          <a:p>
            <a:pPr algn="r" rtl="1"/>
            <a:r>
              <a:rPr sz="1200">
                <a:latin typeface="Arial"/>
              </a:rPr>
              <a:t>להתחיל מלחיצה על כלי וממשבצת היעד. DamkaFX שולחת דרך RoomConnection הודעת MOVE עם שורת ועמודת מקור ויעד. המספרים בדוגמה הם קואורדינטות שמתחילות באפס. השרת מזהה את השחקן לפי ה־Socket המאומת; Room בודקת את ההקשר ואת התור, ו־Game.move בודקת את חוקי הדמקה. בקשה לא חוקית מקבלת ERROR בלי לשנות את הלוח.</a:t>
            </a:r>
          </a:p>
          <a:p>
            <a:pPr algn="r" rtl="1"/>
          </a:p>
          <a:p>
            <a:pPr algn="r" rtl="1"/>
            <a:r>
              <a:rPr sz="1200">
                <a:latin typeface="Arial"/>
              </a:rPr>
              <a:t>כאשר המהלך מאושר, שני הלקוחות מקבלים בסדר זה MOVE_APPLIED, BOARD ו־TURN. הראשונה מאפשרת להנפיש את המהלך, השנייה מכילה תמונת לוח של 64 סימנים, והשלישית מציינת את התור. הלקוח משהה את הטיפול בהודעות המאוחרות בזמן האנימציה, ואז מציג את המצב המעודכן.</a:t>
            </a:r>
          </a:p>
          <a:p>
            <a:pPr algn="r" rtl="1"/>
          </a:p>
          <a:p>
            <a:pPr algn="r" rtl="1"/>
            <a:r>
              <a:rPr sz="1200">
                <a:latin typeface="Arial"/>
              </a:rPr>
              <a:t>TCP מעבירה זרם בתים ואינה מסמנת לבדה גבולות הודעה. בחרנו שורת טקסט לכל הודעה: println כותבת סוף שורה ו־readLine קוראת עד סוף שורה. הנקודה מייצגת תא ריק, x/o כלי רגיל ו־X/O מלך.</a:t>
            </a:r>
          </a:p>
          <a:p>
            <a:pPr algn="r" rtl="1"/>
          </a:p>
          <a:p>
            <a:pPr algn="r" rtl="1"/>
            <a:r>
              <a:rPr sz="1200">
                <a:latin typeface="Arial"/>
              </a:rPr>
              <a:t>הרשת נקראת בחוט רקע; כתיבה נעשית דרך עובד כתיבה יחיד ששומר סדר. Platform.runLater מעבירה עדכוני מסך לחוט JavaFX. חיפוש BOT במימוש הנוכחי מתבצע מחוט הממשק.</a:t>
            </a:r>
          </a:p>
          <a:p>
            <a:pPr algn="r" rtl="1"/>
            <a:r>
              <a:rPr sz="1200">
                <a:latin typeface="Arial"/>
              </a:rPr>
              <a:t>לקראת שאלה: הלקוח בוחר ומציג; הסמכות לאשר מהלך מקוון נמצאת בשרת.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כללי המשחק ובחירת מהלך BOT</a:t>
            </a:r>
          </a:p>
          <a:p>
            <a:pPr algn="r" rtl="1"/>
            <a:r>
              <a:rPr sz="1200">
                <a:latin typeface="Arial"/>
              </a:rPr>
              <a:t>זמן מומלץ: 90 שניות</a:t>
            </a:r>
          </a:p>
          <a:p>
            <a:pPr algn="r" rtl="1"/>
          </a:p>
          <a:p>
            <a:pPr algn="r" rtl="1"/>
            <a:r>
              <a:rPr sz="1200">
                <a:latin typeface="Arial"/>
              </a:rPr>
              <a:t>הכללים מרוכזים ב־Game, ולכן השרת והמשחק מול BOT נשענים על אותו מנגנון של תנועה, אכילה, רצף אכילות והכתרה. BotPlayer מחפשת מהלך באמצעות Minimax עם גיזום Alpha-Beta. כל אפשרות נבדקת על עותק עצמאי של Game, כדי לא לשנות את המשחק הפעיל בזמן החיפוש.</a:t>
            </a:r>
          </a:p>
          <a:p>
            <a:pPr algn="r" rtl="1"/>
          </a:p>
          <a:p>
            <a:pPr algn="r" rtl="1"/>
            <a:r>
              <a:rPr sz="1200">
                <a:latin typeface="Arial"/>
              </a:rPr>
              <a:t>להצביע על העץ: בתור ה־BOT מחפשים ציון גבוה; בתור היריב מניחים שהוא יבחר ציון נמוך מבחינת ה־BOT. בענף השמאלי היריב יכול לכפות מינוס 3, ובימני 0, ולכן ה־BOT מעדיף את הימני. הציונים בשקף הם המחשה, לא עקבה של משחק מסוים.</a:t>
            </a:r>
          </a:p>
          <a:p>
            <a:pPr algn="r" rtl="1"/>
          </a:p>
          <a:p>
            <a:pPr algn="r" rtl="1"/>
            <a:r>
              <a:rPr sz="1200">
                <a:latin typeface="Arial"/>
              </a:rPr>
              <a:t>ההערכה מבוססת על ערך כלי BOT פחות ערך כלי היריב: כלי רגיל 3, מלך 6. ניצחון או הפסד מקבלים ציון מכריע. רמות הקושי בוחרות עומק 1, 2 או 3; העומק נספר לפי צעד או קפיצה בודדת. ברצף אכילות אותו שחקן יכול להמשיך, ולכן החיפוש בודק מי השחקן הנוכחי ולא מחליף צד אוטומטית.</a:t>
            </a:r>
          </a:p>
          <a:p>
            <a:pPr algn="r" rtl="1"/>
          </a:p>
          <a:p>
            <a:pPr algn="r" rtl="1"/>
            <a:r>
              <a:rPr sz="1200">
                <a:latin typeface="Arial"/>
              </a:rPr>
              <a:t>Alpha-Beta מצמצמת ענפים שאינם יכולים לשפר את הבחירה בתוך החיפוש. אין צורך להיכנס להוכחה או להציג סיבוכיות בשקף.</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חשבונות ושמירת תוצאות</a:t>
            </a:r>
          </a:p>
          <a:p>
            <a:pPr algn="r" rtl="1"/>
            <a:r>
              <a:rPr sz="1200">
                <a:latin typeface="Arial"/>
              </a:rPr>
              <a:t>זמן מומלץ: 60 שניות</a:t>
            </a:r>
          </a:p>
          <a:p>
            <a:pPr algn="r" rtl="1"/>
          </a:p>
          <a:p>
            <a:pPr algn="r" rtl="1"/>
            <a:r>
              <a:rPr sz="1200">
                <a:latin typeface="Arial"/>
              </a:rPr>
              <a:t>השרת מטפל בהרשמה ובהתחברות ושומר את הנתונים בשתי טבלאות SQLite. profiles כוללת שם משתמש, תאריך יצירה, salt וגיבוב סיסמה; הסיסמה עצמה אינה נשמרת. בהתחברות מחשבים שוב גיבוב עם ה־salt השמור ומשווים אותו לערך שבמסד. המימוש משתמש ב־PBKDF2-HMAC-SHA256.</a:t>
            </a:r>
          </a:p>
          <a:p>
            <a:pPr algn="r" rtl="1"/>
          </a:p>
          <a:p>
            <a:pPr algn="r" rtl="1"/>
            <a:r>
              <a:rPr sz="1200">
                <a:latin typeface="Arial"/>
              </a:rPr>
              <a:t>game_results כוללת את פרטי המשחק ואת תוצאתו. אין טבלה נפרדת של מוני ניצחונות: הסטטיסטיקה מחושבת מתוצאות המשחקים. מזהה משחק ייחודי מונע שמירת אותה תוצאה פעמיים. בתצוגה יש הפרדה בין משחקים מקוונים למשחקי BOT, וההיסטוריה מציגה את 100 התוצאות האחרונות.</a:t>
            </a:r>
          </a:p>
          <a:p>
            <a:pPr algn="r" rtl="1"/>
          </a:p>
          <a:p>
            <a:pPr algn="r" rtl="1"/>
            <a:r>
              <a:rPr sz="1200">
                <a:latin typeface="Arial"/>
              </a:rPr>
              <a:t>תוצאה מקוונת נקבעת בשרת. תוצאת BOT מדווחת מהלקוח ונשלחת רק אם אותו חשבון ואותו חיבור נשארו פעילים מתחילת המשחק ועד סופו. גיבוב סיסמה במסד אינו מצפין את התקשורת ברשת.</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בדיקות ושימוש ב־AI</a:t>
            </a:r>
          </a:p>
          <a:p>
            <a:pPr algn="r" rtl="1"/>
            <a:r>
              <a:rPr sz="1200">
                <a:latin typeface="Arial"/>
              </a:rPr>
              <a:t>זמן מומלץ: 75 שניות</a:t>
            </a:r>
          </a:p>
          <a:p>
            <a:pPr algn="r" rtl="1"/>
          </a:p>
          <a:p>
            <a:pPr algn="r" rtl="1"/>
            <a:r>
              <a:rPr sz="1200">
                <a:latin typeface="Arial"/>
              </a:rPr>
              <a:t>הבדיקות האוטומטיות מכסות שלוש שכבות: כללי המשחק, תקשורת TCP ושמירת נתונים. בדיקות התקשורת משתמשות בחיבורים אמיתיים לכתובת loopback, ובדיקות הנתונים משתמשות במסדי SQLite זמניים. בין התרחישים: מהלך לא חוקי או מחוץ לתור נדחה בלי לשנות לוח, רצף אכילות נשמר, ושמירה חוזרת של אותה תוצאה אינה מכפילה את הסטטיסטיקה. נבדקו גם הרשמה, כניסה והתמדה לאחר פתיחה מחדש של המסד. הממשק נבדק ידנית עם שני חלונות לקוח.</a:t>
            </a:r>
          </a:p>
          <a:p>
            <a:pPr algn="r" rtl="1"/>
          </a:p>
          <a:p>
            <a:pPr algn="r" rtl="1"/>
            <a:r>
              <a:rPr sz="1200">
                <a:latin typeface="Arial"/>
              </a:rPr>
              <a:t>המספר 48 מבוסס על ההרצה המתועדת מ־12 באוקטובר 2026.</a:t>
            </a:r>
          </a:p>
          <a:p>
            <a:pPr algn="r" rtl="1"/>
          </a:p>
          <a:p>
            <a:pPr algn="r" rtl="1"/>
            <a:r>
              <a:rPr sz="1200">
                <a:latin typeface="Arial"/>
              </a:rPr>
              <a:t>בפרויקט נעשה שימוש נרחב ב־Codex וב־GitHub Copilot לתכנון, ליצירת קוד ולשינויו, להסברים, לבדיקות ולתיעוד. תהליך העבודה כלל הגדרת דרישות, קריאה, הרצה, בדיקה והתאמות.</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הדגמה חיה</a:t>
            </a:r>
          </a:p>
          <a:p>
            <a:pPr algn="r" rtl="1"/>
            <a:r>
              <a:rPr sz="1200">
                <a:latin typeface="Arial"/>
              </a:rPr>
              <a:t>זמן מומלץ: 180 שניות</a:t>
            </a:r>
          </a:p>
          <a:p>
            <a:pPr algn="r" rtl="1"/>
          </a:p>
          <a:p>
            <a:pPr algn="r" rtl="1"/>
            <a:r>
              <a:rPr sz="1200">
                <a:latin typeface="Arial"/>
              </a:rPr>
              <a:t>לפני ההצגה: להפעיל שרת ושני חלונות לקוח. להכין שני חשבונות בדיקה נפרדים, ולא להשתמש בסיסמה אישית מול הקהל. לפתוח את החלונות זה לצד זה ולוודא שהשרת נגיש. אפשר להריץ ב־VS Code את DamkaServer.main ואז את Main.main פעמיים; אפשר גם להשתמש ב־gradlew.bat tcpServer ובשני טרמינלים עם gradlew.bat run.</a:t>
            </a:r>
          </a:p>
          <a:p>
            <a:pPr algn="r" rtl="1"/>
          </a:p>
          <a:p>
            <a:pPr algn="r" rtl="1"/>
            <a:r>
              <a:rPr sz="1200">
                <a:latin typeface="Arial"/>
              </a:rPr>
              <a:t>0:00–0:35 — להראות ששני המשתמשים נכנסו לחשבונות נפרדים.</a:t>
            </a:r>
          </a:p>
          <a:p>
            <a:pPr algn="r" rtl="1"/>
            <a:r>
              <a:rPr sz="1200">
                <a:latin typeface="Arial"/>
              </a:rPr>
              <a:t>0:35–1:10 — ליצור חדר בחלון הראשון, להעתיק את הקוד ולהצטרף בחלון השני. להצביע על X/O ועל הלוחות הזהים.</a:t>
            </a:r>
          </a:p>
          <a:p>
            <a:pPr algn="r" rtl="1"/>
            <a:r>
              <a:rPr sz="1200">
                <a:latin typeface="Arial"/>
              </a:rPr>
              <a:t>1:10–2:00 — לבצע מהלך חוקי של X ומהלך של O. אם נוח, להראות מהלך לא חוקי אנכי ושהלוח אינו משתנה, ואז מהלך חוקי. אין צורך לסיים משחק מלא.</a:t>
            </a:r>
          </a:p>
          <a:p>
            <a:pPr algn="r" rtl="1"/>
            <a:r>
              <a:rPr sz="1200">
                <a:latin typeface="Arial"/>
              </a:rPr>
              <a:t>2:00–2:35 — לפרוש באחד החלונות ולפתוח Profile בחלון המנצח. להראות תוצאה אחת חדשה והפרדה בין Online ל־BOT.</a:t>
            </a:r>
          </a:p>
          <a:p>
            <a:pPr algn="r" rtl="1"/>
            <a:r>
              <a:rPr sz="1200">
                <a:latin typeface="Arial"/>
              </a:rPr>
              <a:t>2:35–3:00 — אם נשאר זמן, להתחיל BOT, לבחור קושי ולעשות מהלך אחד. אם לא נשאר זמן, לסיים את ההדגמה בפרופיל.</a:t>
            </a:r>
          </a:p>
          <a:p>
            <a:pPr algn="r" rtl="1"/>
          </a:p>
          <a:p>
            <a:pPr algn="r" rtl="1"/>
            <a:r>
              <a:rPr sz="1200">
                <a:latin typeface="Arial"/>
              </a:rPr>
              <a:t>צילומי המסך בשקפים הם גיבוי. אפשר להציג צילום מסך של הרצה ולהסביר באמצעותו את אותה זרימת משחק. אם ההדגמה אינה זמינה, לעבור לצילומים כדי לעמוד בזמן.</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מגבלות והמשך פיתוח</a:t>
            </a:r>
          </a:p>
          <a:p>
            <a:pPr algn="r" rtl="1"/>
            <a:r>
              <a:rPr sz="1200">
                <a:latin typeface="Arial"/>
              </a:rPr>
              <a:t>זמן מומלץ: 45 שניות</a:t>
            </a:r>
          </a:p>
          <a:p>
            <a:pPr algn="r" rtl="1"/>
          </a:p>
          <a:p>
            <a:pPr algn="r" rtl="1"/>
            <a:r>
              <a:rPr sz="1200">
                <a:latin typeface="Arial"/>
              </a:rPr>
              <a:t>המימוש הנוכחי מיועד לרשת מקומית. כתובת ופורט ניתנים להגדרה, אך אין TLS ולכן ההודעות אינן מוצפנות. לאחר זיהוי ניתוק במשחק פעיל המשחק מסתיים לטובת היריב; אין שחזור של אותו משחק לאחר התחברות מחדש. תוצאות BOT מדווחות מהלקוח, ומשחק לא מקוון או משחק שאיבד את חיבור החשבון אינו נשמר או מועלה מאוחר יותר.</a:t>
            </a:r>
          </a:p>
          <a:p>
            <a:pPr algn="r" rtl="1"/>
          </a:p>
          <a:p>
            <a:pPr algn="r" rtl="1"/>
            <a:r>
              <a:rPr sz="1200">
                <a:latin typeface="Arial"/>
              </a:rPr>
              <a:t>אלה גבולות ההיקף הנוכחי. כיוון המשך טבעי הוא צ׳אט בתוך החדר, דרך החיבורים הקיימים והשרת. זו תוספת עתידית, לא יכולת שכבר קיימת. אפשר להזכיר בעל פה גם שחיפוש BOT מוגבל לעומק שנבחר ולפונקציית הערכה פשוטה.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lgn="r" rtl="1"/>
            <a:r>
              <a:rPr sz="1200">
                <a:latin typeface="Arial"/>
              </a:rPr>
              <a:t>סיכום ותרומה אישית</a:t>
            </a:r>
          </a:p>
          <a:p>
            <a:pPr algn="r" rtl="1"/>
            <a:r>
              <a:rPr sz="1200">
                <a:latin typeface="Arial"/>
              </a:rPr>
              <a:t>זמן מומלץ: 60 שניות</a:t>
            </a:r>
          </a:p>
          <a:p>
            <a:pPr algn="r" rtl="1"/>
          </a:p>
          <a:p>
            <a:pPr algn="r" rtl="1"/>
            <a:r>
              <a:rPr sz="1200">
                <a:latin typeface="Arial"/>
              </a:rPr>
              <a:t>לסכם בתוצר: שני לקוחות מסונכרנים, שרת שמאמת מהלכים, מנוע כללים משותף ונתונים שנשמרים בפרופיל. הלמידה המרכזית היא חיבור ידע תאורטי ברשתות לתקשורת מעשית, עבודה עם JavaFX והפרדת כללי משחק מהתצוגה.</a:t>
            </a:r>
          </a:p>
          <a:p>
            <a:pPr algn="r" rtl="1"/>
          </a:p>
          <a:p>
            <a:pPr algn="r" rtl="1"/>
            <a:r>
              <a:rPr sz="1200">
                <a:latin typeface="Arial"/>
              </a:rPr>
              <a:t>חלוקת תחומי האחריות שהוגדרה בפרויקט: רביע — לוגיקת המשחק; מותנא — חיבור TCP. קישור המאגר מופיע בשקף וניתן ללחיצה.</a:t>
            </a:r>
          </a:p>
          <a:p>
            <a:pPr algn="r" rtl="1"/>
          </a:p>
          <a:p>
            <a:pPr algn="r" rtl="1"/>
            <a:r>
              <a:rPr sz="1200">
                <a:latin typeface="Arial"/>
              </a:rPr>
              <a:t>לאחר הסיכום לעצור ולאפשר שאלות. תקציב ההצגה הוא 13:30 דקות כולל הדגמה ועוד 1:30 לשאלות. לתרגל מראש תשובות: למה יש שרת? מתי נפתח Socket? מי מאשר מהלך? איך BOT בוחרת? איך נמנעת שמירה כפולה? מה ההבדל בין גיבוב סיסמה להצפנת התקשורת?</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MuthannaFrhat/damka-game" TargetMode="External"/><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FINAL PROJECT PRESENTATION · OCTOBER 2026</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Damka</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01 / 10</a:t>
            </a:r>
          </a:p>
        </p:txBody>
      </p:sp>
      <p:sp>
        <p:nvSpPr>
          <p:cNvPr id="9" name="TextBox 8"/>
          <p:cNvSpPr txBox="1"/>
          <p:nvPr/>
        </p:nvSpPr>
        <p:spPr>
          <a:xfrm>
            <a:off x="566928" y="1828800"/>
            <a:ext cx="5120640" cy="1828800"/>
          </a:xfrm>
          <a:prstGeom prst="rect">
            <a:avLst/>
          </a:prstGeom>
          <a:noFill/>
        </p:spPr>
        <p:txBody>
          <a:bodyPr wrap="square" lIns="0" rIns="0" tIns="0" bIns="0">
            <a:noAutofit/>
          </a:bodyPr>
          <a:lstStyle/>
          <a:p>
            <a:pPr algn="l">
              <a:lnSpc>
                <a:spcPct val="106000"/>
              </a:lnSpc>
              <a:spcBef>
                <a:spcPts val="0"/>
              </a:spcBef>
              <a:spcAft>
                <a:spcPts val="400"/>
              </a:spcAft>
              <a:defRPr sz="3100" b="1">
                <a:solidFill>
                  <a:srgbClr val="173B30"/>
                </a:solidFill>
                <a:latin typeface="Arial"/>
              </a:defRPr>
            </a:pPr>
            <a:r>
              <a:t>Network checkers.</a:t>
            </a:r>
          </a:p>
          <a:p>
            <a:pPr algn="l">
              <a:lnSpc>
                <a:spcPct val="106000"/>
              </a:lnSpc>
              <a:spcBef>
                <a:spcPts val="0"/>
              </a:spcBef>
              <a:spcAft>
                <a:spcPts val="400"/>
              </a:spcAft>
              <a:defRPr sz="3100" b="1">
                <a:solidFill>
                  <a:srgbClr val="173B30"/>
                </a:solidFill>
                <a:latin typeface="Arial"/>
              </a:defRPr>
            </a:pPr>
            <a:r>
              <a:t>A shared game,</a:t>
            </a:r>
          </a:p>
          <a:p>
            <a:pPr algn="l">
              <a:lnSpc>
                <a:spcPct val="106000"/>
              </a:lnSpc>
              <a:spcBef>
                <a:spcPts val="0"/>
              </a:spcBef>
              <a:spcAft>
                <a:spcPts val="400"/>
              </a:spcAft>
              <a:defRPr sz="3100" b="1">
                <a:solidFill>
                  <a:srgbClr val="173B30"/>
                </a:solidFill>
                <a:latin typeface="Arial"/>
              </a:defRPr>
            </a:pPr>
            <a:r>
              <a:t>a lasting profile.</a:t>
            </a:r>
          </a:p>
        </p:txBody>
      </p:sp>
      <p:sp>
        <p:nvSpPr>
          <p:cNvPr id="10" name="TextBox 9"/>
          <p:cNvSpPr txBox="1"/>
          <p:nvPr/>
        </p:nvSpPr>
        <p:spPr>
          <a:xfrm>
            <a:off x="566928" y="3858768"/>
            <a:ext cx="4709160" cy="128016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5C7066"/>
                </a:solidFill>
                <a:latin typeface="Arial"/>
              </a:defRPr>
            </a:pPr>
            <a:r>
              <a:t>JavaFX interface</a:t>
            </a:r>
          </a:p>
          <a:p>
            <a:pPr algn="l">
              <a:lnSpc>
                <a:spcPct val="106000"/>
              </a:lnSpc>
              <a:spcBef>
                <a:spcPts val="0"/>
              </a:spcBef>
              <a:spcAft>
                <a:spcPts val="400"/>
              </a:spcAft>
              <a:defRPr sz="2300" b="0">
                <a:solidFill>
                  <a:srgbClr val="5C7066"/>
                </a:solidFill>
                <a:latin typeface="Arial"/>
              </a:defRPr>
            </a:pPr>
            <a:r>
              <a:t>TCP multiplayer · Local BOT</a:t>
            </a:r>
          </a:p>
          <a:p>
            <a:pPr algn="l">
              <a:lnSpc>
                <a:spcPct val="106000"/>
              </a:lnSpc>
              <a:spcBef>
                <a:spcPts val="0"/>
              </a:spcBef>
              <a:spcAft>
                <a:spcPts val="400"/>
              </a:spcAft>
              <a:defRPr sz="2300" b="0">
                <a:solidFill>
                  <a:srgbClr val="5C7066"/>
                </a:solidFill>
                <a:latin typeface="Arial"/>
              </a:defRPr>
            </a:pPr>
            <a:r>
              <a:t>SQLite accounts and history</a:t>
            </a:r>
          </a:p>
        </p:txBody>
      </p:sp>
      <p:sp>
        <p:nvSpPr>
          <p:cNvPr id="11" name="Rounded Rectangle 10"/>
          <p:cNvSpPr/>
          <p:nvPr/>
        </p:nvSpPr>
        <p:spPr>
          <a:xfrm>
            <a:off x="5843016" y="1755648"/>
            <a:ext cx="5687568" cy="420624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5_online_game.png"/>
          <p:cNvPicPr>
            <a:picLocks noChangeAspect="1"/>
          </p:cNvPicPr>
          <p:nvPr/>
        </p:nvPicPr>
        <p:blipFill>
          <a:blip r:embed="rId2"/>
          <a:stretch>
            <a:fillRect/>
          </a:stretch>
        </p:blipFill>
        <p:spPr>
          <a:xfrm>
            <a:off x="5897880" y="1812352"/>
            <a:ext cx="5577840" cy="4092830"/>
          </a:xfrm>
          <a:prstGeom prst="rect">
            <a:avLst/>
          </a:prstGeom>
        </p:spPr>
      </p:pic>
      <p:sp>
        <p:nvSpPr>
          <p:cNvPr id="13" name="TextBox 12"/>
          <p:cNvSpPr txBox="1"/>
          <p:nvPr/>
        </p:nvSpPr>
        <p:spPr>
          <a:xfrm>
            <a:off x="566928" y="5522976"/>
            <a:ext cx="5166360" cy="320040"/>
          </a:xfrm>
          <a:prstGeom prst="rect">
            <a:avLst/>
          </a:prstGeom>
          <a:noFill/>
        </p:spPr>
        <p:txBody>
          <a:bodyPr wrap="square" lIns="0" rIns="0" tIns="0" bIns="0">
            <a:noAutofit/>
          </a:bodyPr>
          <a:lstStyle/>
          <a:p>
            <a:pPr algn="l">
              <a:lnSpc>
                <a:spcPct val="106000"/>
              </a:lnSpc>
              <a:spcBef>
                <a:spcPts val="0"/>
              </a:spcBef>
              <a:spcAft>
                <a:spcPts val="400"/>
              </a:spcAft>
              <a:defRPr sz="1800" b="1">
                <a:solidFill>
                  <a:srgbClr val="173B30"/>
                </a:solidFill>
                <a:latin typeface="Arial"/>
              </a:defRPr>
            </a:pPr>
            <a:r>
              <a:t>Muthanna Farhat  ·  Rabie Abu Aad</a:t>
            </a:r>
          </a:p>
        </p:txBody>
      </p:sp>
      <p:sp>
        <p:nvSpPr>
          <p:cNvPr id="14" name="TextBox 13"/>
          <p:cNvSpPr txBox="1"/>
          <p:nvPr/>
        </p:nvSpPr>
        <p:spPr>
          <a:xfrm>
            <a:off x="566928" y="5925312"/>
            <a:ext cx="512064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5C7066"/>
                </a:solidFill>
                <a:latin typeface="Arial"/>
              </a:defRPr>
            </a:pPr>
            <a:r>
              <a:t>Supervisor: Inbal Ronen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PROBLEM AND GOAL</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One game, two ways to play</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02 / 10</a:t>
            </a:r>
          </a:p>
        </p:txBody>
      </p:sp>
      <p:sp>
        <p:nvSpPr>
          <p:cNvPr id="9" name="TextBox 8"/>
          <p:cNvSpPr txBox="1"/>
          <p:nvPr/>
        </p:nvSpPr>
        <p:spPr>
          <a:xfrm>
            <a:off x="548640" y="1810512"/>
            <a:ext cx="10972800" cy="731520"/>
          </a:xfrm>
          <a:prstGeom prst="rect">
            <a:avLst/>
          </a:prstGeom>
          <a:noFill/>
        </p:spPr>
        <p:txBody>
          <a:bodyPr wrap="square" lIns="0" rIns="0" tIns="0" bIns="0">
            <a:noAutofit/>
          </a:bodyPr>
          <a:lstStyle/>
          <a:p>
            <a:pPr algn="l">
              <a:lnSpc>
                <a:spcPct val="106000"/>
              </a:lnSpc>
              <a:spcBef>
                <a:spcPts val="0"/>
              </a:spcBef>
              <a:spcAft>
                <a:spcPts val="400"/>
              </a:spcAft>
              <a:defRPr sz="2800" b="1">
                <a:solidFill>
                  <a:srgbClr val="173B30"/>
                </a:solidFill>
                <a:latin typeface="Arial"/>
              </a:defRPr>
            </a:pPr>
            <a:r>
              <a:t>Keep both screens in sync — and remember the result.</a:t>
            </a:r>
          </a:p>
        </p:txBody>
      </p:sp>
      <p:sp>
        <p:nvSpPr>
          <p:cNvPr id="10" name="Rounded Rectangle 9"/>
          <p:cNvSpPr/>
          <p:nvPr/>
        </p:nvSpPr>
        <p:spPr>
          <a:xfrm>
            <a:off x="548640" y="2788920"/>
            <a:ext cx="3538728" cy="228600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Online matches</a:t>
            </a:r>
          </a:p>
        </p:txBody>
      </p:sp>
      <p:sp>
        <p:nvSpPr>
          <p:cNvPr id="12" name="TextBox 11"/>
          <p:cNvSpPr txBox="1"/>
          <p:nvPr/>
        </p:nvSpPr>
        <p:spPr>
          <a:xfrm>
            <a:off x="777240"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Two computers</a:t>
            </a:r>
          </a:p>
          <a:p>
            <a:pPr algn="l">
              <a:lnSpc>
                <a:spcPct val="106000"/>
              </a:lnSpc>
              <a:spcBef>
                <a:spcPts val="0"/>
              </a:spcBef>
              <a:spcAft>
                <a:spcPts val="400"/>
              </a:spcAft>
              <a:defRPr sz="2200" b="0">
                <a:solidFill>
                  <a:srgbClr val="5C7066"/>
                </a:solidFill>
                <a:latin typeface="Arial"/>
              </a:defRPr>
            </a:pPr>
            <a:r>
              <a:t>One room code</a:t>
            </a:r>
          </a:p>
        </p:txBody>
      </p:sp>
      <p:sp>
        <p:nvSpPr>
          <p:cNvPr id="13" name="Rounded Rectangle 12"/>
          <p:cNvSpPr/>
          <p:nvPr/>
        </p:nvSpPr>
        <p:spPr>
          <a:xfrm>
            <a:off x="4325112" y="2788920"/>
            <a:ext cx="3538728" cy="228600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Local BOT</a:t>
            </a:r>
          </a:p>
        </p:txBody>
      </p:sp>
      <p:sp>
        <p:nvSpPr>
          <p:cNvPr id="15" name="TextBox 14"/>
          <p:cNvSpPr txBox="1"/>
          <p:nvPr/>
        </p:nvSpPr>
        <p:spPr>
          <a:xfrm>
            <a:off x="4553712"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Three difficulty levels</a:t>
            </a:r>
          </a:p>
          <a:p>
            <a:pPr algn="l">
              <a:lnSpc>
                <a:spcPct val="106000"/>
              </a:lnSpc>
              <a:spcBef>
                <a:spcPts val="0"/>
              </a:spcBef>
              <a:spcAft>
                <a:spcPts val="400"/>
              </a:spcAft>
              <a:defRPr sz="2200" b="0">
                <a:solidFill>
                  <a:srgbClr val="5C7066"/>
                </a:solidFill>
                <a:latin typeface="Arial"/>
              </a:defRPr>
            </a:pPr>
            <a:r>
              <a:t>Offline practice</a:t>
            </a:r>
          </a:p>
        </p:txBody>
      </p:sp>
      <p:sp>
        <p:nvSpPr>
          <p:cNvPr id="16" name="Rounded Rectangle 15"/>
          <p:cNvSpPr/>
          <p:nvPr/>
        </p:nvSpPr>
        <p:spPr>
          <a:xfrm>
            <a:off x="8110727" y="2788920"/>
            <a:ext cx="3538728" cy="228600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3008376"/>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Personal profiles</a:t>
            </a:r>
          </a:p>
        </p:txBody>
      </p:sp>
      <p:sp>
        <p:nvSpPr>
          <p:cNvPr id="18" name="TextBox 17"/>
          <p:cNvSpPr txBox="1"/>
          <p:nvPr/>
        </p:nvSpPr>
        <p:spPr>
          <a:xfrm>
            <a:off x="8339327" y="3749039"/>
            <a:ext cx="3081528" cy="117043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Accounts and statistics</a:t>
            </a:r>
          </a:p>
          <a:p>
            <a:pPr algn="l">
              <a:lnSpc>
                <a:spcPct val="106000"/>
              </a:lnSpc>
              <a:spcBef>
                <a:spcPts val="0"/>
              </a:spcBef>
              <a:spcAft>
                <a:spcPts val="400"/>
              </a:spcAft>
              <a:defRPr sz="2200" b="0">
                <a:solidFill>
                  <a:srgbClr val="5C7066"/>
                </a:solidFill>
                <a:latin typeface="Arial"/>
              </a:defRPr>
            </a:pPr>
            <a:r>
              <a:t>Persistent match history</a:t>
            </a:r>
          </a:p>
        </p:txBody>
      </p:sp>
      <p:sp>
        <p:nvSpPr>
          <p:cNvPr id="19" name="Rounded Rectangle 18"/>
          <p:cNvSpPr/>
          <p:nvPr/>
        </p:nvSpPr>
        <p:spPr>
          <a:xfrm>
            <a:off x="3474720" y="5577840"/>
            <a:ext cx="5212080" cy="347472"/>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6160" y="5632703"/>
            <a:ext cx="502920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315C48"/>
                </a:solidFill>
                <a:latin typeface="Arial"/>
              </a:defRPr>
            </a:pPr>
            <a:r>
              <a:t>One shared rules engine: Game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ARCHITECTURE</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Why a client–server design?</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03 / 10</a:t>
            </a:r>
          </a:p>
        </p:txBody>
      </p:sp>
      <p:sp>
        <p:nvSpPr>
          <p:cNvPr id="9" name="Rounded Rectangle 8"/>
          <p:cNvSpPr/>
          <p:nvPr/>
        </p:nvSpPr>
        <p:spPr>
          <a:xfrm>
            <a:off x="548640" y="2057400"/>
            <a:ext cx="2880360" cy="155448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73B30"/>
                </a:solidFill>
                <a:latin typeface="Arial"/>
              </a:defRPr>
            </a:pPr>
            <a:r>
              <a:t>Client A</a:t>
            </a:r>
          </a:p>
        </p:txBody>
      </p:sp>
      <p:sp>
        <p:nvSpPr>
          <p:cNvPr id="11" name="TextBox 10"/>
          <p:cNvSpPr txBox="1"/>
          <p:nvPr/>
        </p:nvSpPr>
        <p:spPr>
          <a:xfrm>
            <a:off x="777240"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JavaFX</a:t>
            </a:r>
          </a:p>
        </p:txBody>
      </p:sp>
      <p:sp>
        <p:nvSpPr>
          <p:cNvPr id="12" name="Rounded Rectangle 11"/>
          <p:cNvSpPr/>
          <p:nvPr/>
        </p:nvSpPr>
        <p:spPr>
          <a:xfrm>
            <a:off x="4599432" y="1874519"/>
            <a:ext cx="2999232" cy="1947672"/>
          </a:xfrm>
          <a:prstGeom prst="roundRect">
            <a:avLst>
              <a:gd name="adj" fmla="val 12000"/>
            </a:avLst>
          </a:prstGeom>
          <a:solidFill>
            <a:srgbClr val="EEF3EC"/>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28032" y="2093976"/>
            <a:ext cx="2542032" cy="5943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Server</a:t>
            </a:r>
          </a:p>
        </p:txBody>
      </p:sp>
      <p:sp>
        <p:nvSpPr>
          <p:cNvPr id="14" name="TextBox 13"/>
          <p:cNvSpPr txBox="1"/>
          <p:nvPr/>
        </p:nvSpPr>
        <p:spPr>
          <a:xfrm>
            <a:off x="4828032" y="2834639"/>
            <a:ext cx="2542032" cy="832103"/>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Room → Game</a:t>
            </a:r>
          </a:p>
          <a:p>
            <a:pPr algn="l">
              <a:lnSpc>
                <a:spcPct val="106000"/>
              </a:lnSpc>
              <a:spcBef>
                <a:spcPts val="0"/>
              </a:spcBef>
              <a:spcAft>
                <a:spcPts val="400"/>
              </a:spcAft>
              <a:defRPr sz="2200" b="0">
                <a:solidFill>
                  <a:srgbClr val="5C7066"/>
                </a:solidFill>
                <a:latin typeface="Arial"/>
              </a:defRPr>
            </a:pPr>
            <a:r>
              <a:t>Validate + sync</a:t>
            </a:r>
          </a:p>
        </p:txBody>
      </p:sp>
      <p:sp>
        <p:nvSpPr>
          <p:cNvPr id="15" name="Rounded Rectangle 14"/>
          <p:cNvSpPr/>
          <p:nvPr/>
        </p:nvSpPr>
        <p:spPr>
          <a:xfrm>
            <a:off x="8759952" y="2057400"/>
            <a:ext cx="2880360" cy="155448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88552" y="2276856"/>
            <a:ext cx="2423160" cy="594360"/>
          </a:xfrm>
          <a:prstGeom prst="rect">
            <a:avLst/>
          </a:prstGeom>
          <a:noFill/>
        </p:spPr>
        <p:txBody>
          <a:bodyPr wrap="square" lIns="0" rIns="0" tIns="0" bIns="0">
            <a:noAutofit/>
          </a:bodyPr>
          <a:lstStyle/>
          <a:p>
            <a:pPr algn="l">
              <a:lnSpc>
                <a:spcPct val="106000"/>
              </a:lnSpc>
              <a:spcBef>
                <a:spcPts val="0"/>
              </a:spcBef>
              <a:spcAft>
                <a:spcPts val="400"/>
              </a:spcAft>
              <a:defRPr sz="2600" b="1">
                <a:solidFill>
                  <a:srgbClr val="173B30"/>
                </a:solidFill>
                <a:latin typeface="Arial"/>
              </a:defRPr>
            </a:pPr>
            <a:r>
              <a:t>Client B</a:t>
            </a:r>
          </a:p>
        </p:txBody>
      </p:sp>
      <p:sp>
        <p:nvSpPr>
          <p:cNvPr id="17" name="TextBox 16"/>
          <p:cNvSpPr txBox="1"/>
          <p:nvPr/>
        </p:nvSpPr>
        <p:spPr>
          <a:xfrm>
            <a:off x="8988552" y="3017520"/>
            <a:ext cx="242316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JavaFX</a:t>
            </a:r>
          </a:p>
        </p:txBody>
      </p:sp>
      <p:cxnSp>
        <p:nvCxnSpPr>
          <p:cNvPr id="18" name="Connector 17"/>
          <p:cNvCxnSpPr/>
          <p:nvPr/>
        </p:nvCxnSpPr>
        <p:spPr>
          <a:xfrm>
            <a:off x="3438144" y="2788920"/>
            <a:ext cx="1133856" cy="0"/>
          </a:xfrm>
          <a:prstGeom prst="line">
            <a:avLst/>
          </a:prstGeom>
          <a:ln w="25400">
            <a:solidFill>
              <a:srgbClr val="315C48"/>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438144" y="3090672"/>
            <a:ext cx="1133856" cy="0"/>
          </a:xfrm>
          <a:prstGeom prst="line">
            <a:avLst/>
          </a:prstGeom>
          <a:ln w="25400">
            <a:solidFill>
              <a:srgbClr val="315C48"/>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626096" y="2788920"/>
            <a:ext cx="1106424" cy="0"/>
          </a:xfrm>
          <a:prstGeom prst="line">
            <a:avLst/>
          </a:prstGeom>
          <a:ln w="25400">
            <a:solidFill>
              <a:srgbClr val="315C48"/>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626096" y="3090672"/>
            <a:ext cx="1106424" cy="0"/>
          </a:xfrm>
          <a:prstGeom prst="line">
            <a:avLst/>
          </a:prstGeom>
          <a:ln w="25400">
            <a:solidFill>
              <a:srgbClr val="315C4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566160"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315C48"/>
                </a:solidFill>
                <a:latin typeface="Arial"/>
              </a:defRPr>
            </a:pPr>
            <a:r>
              <a:t>TCP</a:t>
            </a:r>
          </a:p>
        </p:txBody>
      </p:sp>
      <p:sp>
        <p:nvSpPr>
          <p:cNvPr id="23" name="TextBox 22"/>
          <p:cNvSpPr txBox="1"/>
          <p:nvPr/>
        </p:nvSpPr>
        <p:spPr>
          <a:xfrm>
            <a:off x="7726679" y="2313432"/>
            <a:ext cx="868680" cy="320040"/>
          </a:xfrm>
          <a:prstGeom prst="rect">
            <a:avLst/>
          </a:prstGeom>
          <a:noFill/>
        </p:spPr>
        <p:txBody>
          <a:bodyPr wrap="square" lIns="0" rIns="0" tIns="0" bIns="0">
            <a:noAutofit/>
          </a:bodyPr>
          <a:lstStyle/>
          <a:p>
            <a:pPr algn="ctr">
              <a:lnSpc>
                <a:spcPct val="106000"/>
              </a:lnSpc>
              <a:spcBef>
                <a:spcPts val="0"/>
              </a:spcBef>
              <a:spcAft>
                <a:spcPts val="400"/>
              </a:spcAft>
              <a:defRPr sz="2000" b="1">
                <a:solidFill>
                  <a:srgbClr val="315C48"/>
                </a:solidFill>
                <a:latin typeface="Arial"/>
              </a:defRPr>
            </a:pPr>
            <a:r>
              <a:t>TCP</a:t>
            </a:r>
          </a:p>
        </p:txBody>
      </p:sp>
      <p:cxnSp>
        <p:nvCxnSpPr>
          <p:cNvPr id="24" name="Connector 23"/>
          <p:cNvCxnSpPr/>
          <p:nvPr/>
        </p:nvCxnSpPr>
        <p:spPr>
          <a:xfrm>
            <a:off x="6099048" y="3840480"/>
            <a:ext cx="0" cy="548640"/>
          </a:xfrm>
          <a:prstGeom prst="line">
            <a:avLst/>
          </a:prstGeom>
          <a:ln w="25400">
            <a:solidFill>
              <a:srgbClr val="315C48"/>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498848" y="4434840"/>
            <a:ext cx="3200400" cy="82296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672584"/>
            <a:ext cx="2834640" cy="45720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73B30"/>
                </a:solidFill>
                <a:latin typeface="Arial"/>
              </a:defRPr>
            </a:pPr>
            <a:r>
              <a:t>SQLite on the server</a:t>
            </a:r>
          </a:p>
        </p:txBody>
      </p:sp>
      <p:sp>
        <p:nvSpPr>
          <p:cNvPr id="27" name="TextBox 26"/>
          <p:cNvSpPr txBox="1"/>
          <p:nvPr/>
        </p:nvSpPr>
        <p:spPr>
          <a:xfrm>
            <a:off x="594360" y="5614416"/>
            <a:ext cx="8046720" cy="4114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73B30"/>
                </a:solidFill>
                <a:latin typeface="Arial"/>
              </a:defRPr>
            </a:pPr>
            <a:r>
              <a:t>Choice: persistent TCP for two-way updates</a:t>
            </a:r>
          </a:p>
        </p:txBody>
      </p:sp>
      <p:sp>
        <p:nvSpPr>
          <p:cNvPr id="28" name="TextBox 27"/>
          <p:cNvSpPr txBox="1"/>
          <p:nvPr/>
        </p:nvSpPr>
        <p:spPr>
          <a:xfrm>
            <a:off x="8366760" y="5650992"/>
            <a:ext cx="3246120" cy="365760"/>
          </a:xfrm>
          <a:prstGeom prst="rect">
            <a:avLst/>
          </a:prstGeom>
          <a:noFill/>
        </p:spPr>
        <p:txBody>
          <a:bodyPr wrap="square" lIns="0" rIns="0" tIns="0" bIns="0">
            <a:noAutofit/>
          </a:bodyPr>
          <a:lstStyle/>
          <a:p>
            <a:pPr algn="r">
              <a:lnSpc>
                <a:spcPct val="106000"/>
              </a:lnSpc>
              <a:spcBef>
                <a:spcPts val="0"/>
              </a:spcBef>
              <a:spcAft>
                <a:spcPts val="400"/>
              </a:spcAft>
              <a:defRPr sz="1700" b="0">
                <a:solidFill>
                  <a:srgbClr val="5C7066"/>
                </a:solidFill>
                <a:latin typeface="Arial"/>
              </a:defRPr>
            </a:pPr>
            <a:r>
              <a:t>Alternative: HTTP polling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TCP MOVE FLOW</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From a click to both screens</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04 / 10</a:t>
            </a:r>
          </a:p>
        </p:txBody>
      </p:sp>
      <p:sp>
        <p:nvSpPr>
          <p:cNvPr id="9" name="Rounded Rectangle 8"/>
          <p:cNvSpPr/>
          <p:nvPr/>
        </p:nvSpPr>
        <p:spPr>
          <a:xfrm>
            <a:off x="548640" y="1856231"/>
            <a:ext cx="2788920" cy="3511296"/>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12264"/>
            <a:ext cx="233172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Client A</a:t>
            </a:r>
          </a:p>
        </p:txBody>
      </p:sp>
      <p:sp>
        <p:nvSpPr>
          <p:cNvPr id="11" name="TextBox 10"/>
          <p:cNvSpPr txBox="1"/>
          <p:nvPr/>
        </p:nvSpPr>
        <p:spPr>
          <a:xfrm>
            <a:off x="777240" y="2843784"/>
            <a:ext cx="2331720" cy="941832"/>
          </a:xfrm>
          <a:prstGeom prst="rect">
            <a:avLst/>
          </a:prstGeom>
          <a:noFill/>
        </p:spPr>
        <p:txBody>
          <a:bodyPr wrap="square" lIns="0" rIns="0" tIns="0" bIns="0">
            <a:noAutofit/>
          </a:bodyPr>
          <a:lstStyle/>
          <a:p>
            <a:pPr algn="l">
              <a:lnSpc>
                <a:spcPct val="106000"/>
              </a:lnSpc>
              <a:spcBef>
                <a:spcPts val="0"/>
              </a:spcBef>
              <a:spcAft>
                <a:spcPts val="400"/>
              </a:spcAft>
              <a:defRPr sz="2400" b="0">
                <a:solidFill>
                  <a:srgbClr val="173B30"/>
                </a:solidFill>
                <a:latin typeface="Arial"/>
              </a:defRPr>
            </a:pPr>
            <a:r>
              <a:t>Select a piece</a:t>
            </a:r>
          </a:p>
          <a:p>
            <a:pPr algn="l">
              <a:lnSpc>
                <a:spcPct val="106000"/>
              </a:lnSpc>
              <a:spcBef>
                <a:spcPts val="0"/>
              </a:spcBef>
              <a:spcAft>
                <a:spcPts val="400"/>
              </a:spcAft>
              <a:defRPr sz="2400" b="0">
                <a:solidFill>
                  <a:srgbClr val="173B30"/>
                </a:solidFill>
                <a:latin typeface="Arial"/>
              </a:defRPr>
            </a:pPr>
            <a:r>
              <a:t>and destination</a:t>
            </a:r>
          </a:p>
        </p:txBody>
      </p:sp>
      <p:sp>
        <p:nvSpPr>
          <p:cNvPr id="12" name="Rounded Rectangle 11"/>
          <p:cNvSpPr/>
          <p:nvPr/>
        </p:nvSpPr>
        <p:spPr>
          <a:xfrm>
            <a:off x="777240" y="4206240"/>
            <a:ext cx="2331720" cy="685800"/>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4416552"/>
            <a:ext cx="2130552" cy="365760"/>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73B30"/>
                </a:solidFill>
                <a:latin typeface="Consolas"/>
              </a:defRPr>
            </a:pPr>
            <a:r>
              <a:t>MOVE 5 0 4 1</a:t>
            </a:r>
          </a:p>
        </p:txBody>
      </p:sp>
      <p:cxnSp>
        <p:nvCxnSpPr>
          <p:cNvPr id="14" name="Connector 13"/>
          <p:cNvCxnSpPr/>
          <p:nvPr/>
        </p:nvCxnSpPr>
        <p:spPr>
          <a:xfrm>
            <a:off x="3383280" y="3584448"/>
            <a:ext cx="621792" cy="0"/>
          </a:xfrm>
          <a:prstGeom prst="line">
            <a:avLst/>
          </a:prstGeom>
          <a:ln w="30480">
            <a:solidFill>
              <a:srgbClr val="315C48"/>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069080" y="1856231"/>
            <a:ext cx="3611880" cy="3511296"/>
          </a:xfrm>
          <a:prstGeom prst="roundRect">
            <a:avLst>
              <a:gd name="adj" fmla="val 12000"/>
            </a:avLst>
          </a:prstGeom>
          <a:solidFill>
            <a:srgbClr val="EEF3EC"/>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15968" y="2112264"/>
            <a:ext cx="310896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Server</a:t>
            </a:r>
          </a:p>
        </p:txBody>
      </p:sp>
      <p:sp>
        <p:nvSpPr>
          <p:cNvPr id="17" name="TextBox 16"/>
          <p:cNvSpPr txBox="1"/>
          <p:nvPr/>
        </p:nvSpPr>
        <p:spPr>
          <a:xfrm>
            <a:off x="4315968" y="2880360"/>
            <a:ext cx="3108960" cy="1024128"/>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73B30"/>
                </a:solidFill>
                <a:latin typeface="Arial"/>
              </a:defRPr>
            </a:pPr>
            <a:r>
              <a:t>Room: identity + turn</a:t>
            </a:r>
          </a:p>
          <a:p>
            <a:pPr algn="l">
              <a:lnSpc>
                <a:spcPct val="106000"/>
              </a:lnSpc>
              <a:spcBef>
                <a:spcPts val="0"/>
              </a:spcBef>
              <a:spcAft>
                <a:spcPts val="400"/>
              </a:spcAft>
              <a:defRPr sz="2300" b="0">
                <a:solidFill>
                  <a:srgbClr val="173B30"/>
                </a:solidFill>
                <a:latin typeface="Arial"/>
              </a:defRPr>
            </a:pPr>
            <a:r>
              <a:t>Game.move(): rules</a:t>
            </a:r>
          </a:p>
        </p:txBody>
      </p:sp>
      <p:sp>
        <p:nvSpPr>
          <p:cNvPr id="18" name="Rounded Rectangle 17"/>
          <p:cNvSpPr/>
          <p:nvPr/>
        </p:nvSpPr>
        <p:spPr>
          <a:xfrm>
            <a:off x="4315968" y="4224528"/>
            <a:ext cx="3127248" cy="68580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71416" y="4434840"/>
            <a:ext cx="2816352"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73B30"/>
                </a:solidFill>
                <a:latin typeface="Arial"/>
              </a:defRPr>
            </a:pPr>
            <a:r>
              <a:t>Accept or reject</a:t>
            </a:r>
          </a:p>
        </p:txBody>
      </p:sp>
      <p:cxnSp>
        <p:nvCxnSpPr>
          <p:cNvPr id="20" name="Connector 19"/>
          <p:cNvCxnSpPr/>
          <p:nvPr/>
        </p:nvCxnSpPr>
        <p:spPr>
          <a:xfrm>
            <a:off x="7726679" y="3584448"/>
            <a:ext cx="612648" cy="0"/>
          </a:xfrm>
          <a:prstGeom prst="line">
            <a:avLst/>
          </a:prstGeom>
          <a:ln w="30480">
            <a:solidFill>
              <a:srgbClr val="315C48"/>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412480" y="1856231"/>
            <a:ext cx="3227832" cy="3511296"/>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50224" y="2112264"/>
            <a:ext cx="2743200" cy="45720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Both clients</a:t>
            </a:r>
          </a:p>
        </p:txBody>
      </p:sp>
      <p:sp>
        <p:nvSpPr>
          <p:cNvPr id="23" name="TextBox 22"/>
          <p:cNvSpPr txBox="1"/>
          <p:nvPr/>
        </p:nvSpPr>
        <p:spPr>
          <a:xfrm>
            <a:off x="8650224" y="2697480"/>
            <a:ext cx="2743200" cy="274320"/>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5C7066"/>
                </a:solidFill>
                <a:latin typeface="Arial"/>
              </a:defRPr>
            </a:pPr>
            <a:r>
              <a:t>Accepted move</a:t>
            </a:r>
          </a:p>
        </p:txBody>
      </p:sp>
      <p:sp>
        <p:nvSpPr>
          <p:cNvPr id="24" name="TextBox 23"/>
          <p:cNvSpPr txBox="1"/>
          <p:nvPr/>
        </p:nvSpPr>
        <p:spPr>
          <a:xfrm>
            <a:off x="8650224" y="3200400"/>
            <a:ext cx="2743200" cy="109728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315C48"/>
                </a:solidFill>
                <a:latin typeface="Consolas"/>
              </a:defRPr>
            </a:pPr>
            <a:r>
              <a:t>1  MOVE_APPLIED</a:t>
            </a:r>
          </a:p>
          <a:p>
            <a:pPr algn="l">
              <a:lnSpc>
                <a:spcPct val="106000"/>
              </a:lnSpc>
              <a:spcBef>
                <a:spcPts val="0"/>
              </a:spcBef>
              <a:spcAft>
                <a:spcPts val="400"/>
              </a:spcAft>
              <a:defRPr sz="2300" b="1">
                <a:solidFill>
                  <a:srgbClr val="315C48"/>
                </a:solidFill>
                <a:latin typeface="Consolas"/>
              </a:defRPr>
            </a:pPr>
            <a:r>
              <a:t>2  BOARD</a:t>
            </a:r>
          </a:p>
          <a:p>
            <a:pPr algn="l">
              <a:lnSpc>
                <a:spcPct val="106000"/>
              </a:lnSpc>
              <a:spcBef>
                <a:spcPts val="0"/>
              </a:spcBef>
              <a:spcAft>
                <a:spcPts val="400"/>
              </a:spcAft>
              <a:defRPr sz="2300" b="1">
                <a:solidFill>
                  <a:srgbClr val="315C48"/>
                </a:solidFill>
                <a:latin typeface="Consolas"/>
              </a:defRPr>
            </a:pPr>
            <a:r>
              <a:t>3  TURN</a:t>
            </a:r>
          </a:p>
        </p:txBody>
      </p:sp>
      <p:sp>
        <p:nvSpPr>
          <p:cNvPr id="25" name="TextBox 24"/>
          <p:cNvSpPr txBox="1"/>
          <p:nvPr/>
        </p:nvSpPr>
        <p:spPr>
          <a:xfrm>
            <a:off x="8650224" y="4498848"/>
            <a:ext cx="2743200" cy="731520"/>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5C7066"/>
                </a:solidFill>
                <a:latin typeface="Arial"/>
              </a:defRPr>
            </a:pPr>
            <a:r>
              <a:t>Animate → display</a:t>
            </a:r>
          </a:p>
          <a:p>
            <a:pPr algn="l">
              <a:lnSpc>
                <a:spcPct val="106000"/>
              </a:lnSpc>
              <a:spcBef>
                <a:spcPts val="0"/>
              </a:spcBef>
              <a:spcAft>
                <a:spcPts val="400"/>
              </a:spcAft>
              <a:defRPr sz="2000" b="0">
                <a:solidFill>
                  <a:srgbClr val="5C7066"/>
                </a:solidFill>
                <a:latin typeface="Arial"/>
              </a:defRPr>
            </a:pPr>
            <a:r>
              <a:t>the accepted state</a:t>
            </a:r>
          </a:p>
        </p:txBody>
      </p:sp>
      <p:sp>
        <p:nvSpPr>
          <p:cNvPr id="26" name="TextBox 25"/>
          <p:cNvSpPr txBox="1"/>
          <p:nvPr/>
        </p:nvSpPr>
        <p:spPr>
          <a:xfrm>
            <a:off x="594360" y="5687568"/>
            <a:ext cx="10972800" cy="438912"/>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5C7066"/>
                </a:solidFill>
                <a:latin typeface="Arial"/>
              </a:defRPr>
            </a:pPr>
            <a:r>
              <a:t>UTF-8 · one message per line · network work off the UI thread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BOT DECISION</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Minimax: how the BOT chooses</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05 / 10</a:t>
            </a:r>
          </a:p>
        </p:txBody>
      </p:sp>
      <p:sp>
        <p:nvSpPr>
          <p:cNvPr id="9" name="Rounded Rectangle 8"/>
          <p:cNvSpPr/>
          <p:nvPr/>
        </p:nvSpPr>
        <p:spPr>
          <a:xfrm>
            <a:off x="548640" y="1874519"/>
            <a:ext cx="4114800" cy="4096512"/>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57984"/>
            <a:ext cx="3611880" cy="82296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One rules engine: Game</a:t>
            </a:r>
          </a:p>
        </p:txBody>
      </p:sp>
      <p:sp>
        <p:nvSpPr>
          <p:cNvPr id="11" name="TextBox 10"/>
          <p:cNvSpPr txBox="1"/>
          <p:nvPr/>
        </p:nvSpPr>
        <p:spPr>
          <a:xfrm>
            <a:off x="804672" y="3108960"/>
            <a:ext cx="3611880" cy="2286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73B30"/>
                </a:solidFill>
                <a:latin typeface="Arial"/>
              </a:defRPr>
            </a:pPr>
            <a:r>
              <a:t>Legal moves on copied states</a:t>
            </a:r>
          </a:p>
          <a:p>
            <a:pPr algn="l">
              <a:lnSpc>
                <a:spcPct val="106000"/>
              </a:lnSpc>
              <a:spcBef>
                <a:spcPts val="0"/>
              </a:spcBef>
              <a:spcAft>
                <a:spcPts val="400"/>
              </a:spcAft>
              <a:defRPr sz="2300" b="0">
                <a:solidFill>
                  <a:srgbClr val="173B30"/>
                </a:solidFill>
                <a:latin typeface="Arial"/>
              </a:defRPr>
            </a:pPr>
          </a:p>
          <a:p>
            <a:pPr algn="l">
              <a:lnSpc>
                <a:spcPct val="106000"/>
              </a:lnSpc>
              <a:spcBef>
                <a:spcPts val="0"/>
              </a:spcBef>
              <a:spcAft>
                <a:spcPts val="400"/>
              </a:spcAft>
              <a:defRPr sz="2300" b="0">
                <a:solidFill>
                  <a:srgbClr val="173B30"/>
                </a:solidFill>
                <a:latin typeface="Arial"/>
              </a:defRPr>
            </a:pPr>
            <a:r>
              <a:t>Man = 3    King = 6</a:t>
            </a:r>
          </a:p>
          <a:p>
            <a:pPr algn="l">
              <a:lnSpc>
                <a:spcPct val="106000"/>
              </a:lnSpc>
              <a:spcBef>
                <a:spcPts val="0"/>
              </a:spcBef>
              <a:spcAft>
                <a:spcPts val="400"/>
              </a:spcAft>
              <a:defRPr sz="2300" b="0">
                <a:solidFill>
                  <a:srgbClr val="173B30"/>
                </a:solidFill>
                <a:latin typeface="Arial"/>
              </a:defRPr>
            </a:pPr>
          </a:p>
          <a:p>
            <a:pPr algn="l">
              <a:lnSpc>
                <a:spcPct val="106000"/>
              </a:lnSpc>
              <a:spcBef>
                <a:spcPts val="0"/>
              </a:spcBef>
              <a:spcAft>
                <a:spcPts val="400"/>
              </a:spcAft>
              <a:defRPr sz="2300" b="0">
                <a:solidFill>
                  <a:srgbClr val="173B30"/>
                </a:solidFill>
                <a:latin typeface="Arial"/>
              </a:defRPr>
            </a:pPr>
            <a:r>
              <a:t>Search depth: 1 / 2 / 3</a:t>
            </a:r>
          </a:p>
        </p:txBody>
      </p:sp>
      <p:cxnSp>
        <p:nvCxnSpPr>
          <p:cNvPr id="12" name="Connector 11"/>
          <p:cNvCxnSpPr/>
          <p:nvPr/>
        </p:nvCxnSpPr>
        <p:spPr>
          <a:xfrm flipH="1">
            <a:off x="6446520" y="2606040"/>
            <a:ext cx="1691640" cy="914400"/>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138160" y="2606040"/>
            <a:ext cx="1691640" cy="914400"/>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715000" y="4041648"/>
            <a:ext cx="731520" cy="850392"/>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446520" y="4041648"/>
            <a:ext cx="731520" cy="850392"/>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9098280" y="4041648"/>
            <a:ext cx="731520" cy="850392"/>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829800" y="4041648"/>
            <a:ext cx="731520" cy="850392"/>
          </a:xfrm>
          <a:prstGeom prst="line">
            <a:avLst/>
          </a:prstGeom>
          <a:ln w="25400">
            <a:solidFill>
              <a:srgbClr val="DCE5DD"/>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40880" y="1965960"/>
            <a:ext cx="2194560" cy="731520"/>
          </a:xfrm>
          <a:prstGeom prst="roundRect">
            <a:avLst>
              <a:gd name="adj" fmla="val 12000"/>
            </a:avLst>
          </a:prstGeom>
          <a:solidFill>
            <a:srgbClr val="EEF3EC"/>
          </a:solidFill>
          <a:ln w="12700">
            <a:solidFill>
              <a:srgbClr val="315C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0" y="2212848"/>
            <a:ext cx="2011680"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73B30"/>
                </a:solidFill>
                <a:latin typeface="Arial"/>
              </a:defRPr>
            </a:pPr>
            <a:r>
              <a:t>BOT · MAX = 0</a:t>
            </a:r>
          </a:p>
        </p:txBody>
      </p:sp>
      <p:sp>
        <p:nvSpPr>
          <p:cNvPr id="20" name="Rounded Rectangle 19"/>
          <p:cNvSpPr/>
          <p:nvPr/>
        </p:nvSpPr>
        <p:spPr>
          <a:xfrm>
            <a:off x="5468112" y="3364992"/>
            <a:ext cx="1965960" cy="73152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4126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73B30"/>
                </a:solidFill>
                <a:latin typeface="Arial"/>
              </a:defRPr>
            </a:pPr>
            <a:r>
              <a:t>MIN = −3</a:t>
            </a:r>
          </a:p>
        </p:txBody>
      </p:sp>
      <p:sp>
        <p:nvSpPr>
          <p:cNvPr id="22" name="Rounded Rectangle 21"/>
          <p:cNvSpPr/>
          <p:nvPr/>
        </p:nvSpPr>
        <p:spPr>
          <a:xfrm>
            <a:off x="8851392" y="3364992"/>
            <a:ext cx="1965960" cy="731520"/>
          </a:xfrm>
          <a:prstGeom prst="roundRect">
            <a:avLst>
              <a:gd name="adj" fmla="val 12000"/>
            </a:avLst>
          </a:prstGeom>
          <a:solidFill>
            <a:srgbClr val="EEF3EC"/>
          </a:solidFill>
          <a:ln w="12700">
            <a:solidFill>
              <a:srgbClr val="315C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24544" y="3621024"/>
            <a:ext cx="1819656" cy="365760"/>
          </a:xfrm>
          <a:prstGeom prst="rect">
            <a:avLst/>
          </a:prstGeom>
          <a:noFill/>
        </p:spPr>
        <p:txBody>
          <a:bodyPr wrap="square" lIns="0" rIns="0" tIns="0" bIns="0">
            <a:noAutofit/>
          </a:bodyPr>
          <a:lstStyle/>
          <a:p>
            <a:pPr algn="ctr">
              <a:lnSpc>
                <a:spcPct val="106000"/>
              </a:lnSpc>
              <a:spcBef>
                <a:spcPts val="0"/>
              </a:spcBef>
              <a:spcAft>
                <a:spcPts val="400"/>
              </a:spcAft>
              <a:defRPr sz="2200" b="1">
                <a:solidFill>
                  <a:srgbClr val="173B30"/>
                </a:solidFill>
                <a:latin typeface="Arial"/>
              </a:defRPr>
            </a:pPr>
            <a:r>
              <a:t>MIN = 0</a:t>
            </a:r>
          </a:p>
        </p:txBody>
      </p:sp>
      <p:sp>
        <p:nvSpPr>
          <p:cNvPr id="24" name="Rounded Rectangle 23"/>
          <p:cNvSpPr/>
          <p:nvPr/>
        </p:nvSpPr>
        <p:spPr>
          <a:xfrm>
            <a:off x="5212080" y="4773168"/>
            <a:ext cx="1005840" cy="65836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28523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73B30"/>
                </a:solidFill>
                <a:latin typeface="Arial"/>
              </a:defRPr>
            </a:pPr>
            <a:r>
              <a:t>3</a:t>
            </a:r>
          </a:p>
        </p:txBody>
      </p:sp>
      <p:sp>
        <p:nvSpPr>
          <p:cNvPr id="26" name="Rounded Rectangle 25"/>
          <p:cNvSpPr/>
          <p:nvPr/>
        </p:nvSpPr>
        <p:spPr>
          <a:xfrm>
            <a:off x="6675120" y="4773168"/>
            <a:ext cx="1005840" cy="65836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4827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73B30"/>
                </a:solidFill>
                <a:latin typeface="Arial"/>
              </a:defRPr>
            </a:pPr>
            <a:r>
              <a:t>−3</a:t>
            </a:r>
          </a:p>
        </p:txBody>
      </p:sp>
      <p:sp>
        <p:nvSpPr>
          <p:cNvPr id="28" name="Rounded Rectangle 27"/>
          <p:cNvSpPr/>
          <p:nvPr/>
        </p:nvSpPr>
        <p:spPr>
          <a:xfrm>
            <a:off x="8595360" y="4773168"/>
            <a:ext cx="1005840" cy="65836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6851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73B30"/>
                </a:solidFill>
                <a:latin typeface="Arial"/>
              </a:defRPr>
            </a:pPr>
            <a:r>
              <a:t>0</a:t>
            </a:r>
          </a:p>
        </p:txBody>
      </p:sp>
      <p:sp>
        <p:nvSpPr>
          <p:cNvPr id="30" name="Rounded Rectangle 29"/>
          <p:cNvSpPr/>
          <p:nvPr/>
        </p:nvSpPr>
        <p:spPr>
          <a:xfrm>
            <a:off x="10058400" y="4773168"/>
            <a:ext cx="1005840" cy="65836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31552" y="4974336"/>
            <a:ext cx="859536" cy="365760"/>
          </a:xfrm>
          <a:prstGeom prst="rect">
            <a:avLst/>
          </a:prstGeom>
          <a:noFill/>
        </p:spPr>
        <p:txBody>
          <a:bodyPr wrap="square" lIns="0" rIns="0" tIns="0" bIns="0">
            <a:noAutofit/>
          </a:bodyPr>
          <a:lstStyle/>
          <a:p>
            <a:pPr algn="ctr">
              <a:lnSpc>
                <a:spcPct val="106000"/>
              </a:lnSpc>
              <a:spcBef>
                <a:spcPts val="0"/>
              </a:spcBef>
              <a:spcAft>
                <a:spcPts val="400"/>
              </a:spcAft>
              <a:defRPr sz="2400" b="1">
                <a:solidFill>
                  <a:srgbClr val="173B30"/>
                </a:solidFill>
                <a:latin typeface="Arial"/>
              </a:defRPr>
            </a:pPr>
            <a:r>
              <a:t>3</a:t>
            </a:r>
          </a:p>
        </p:txBody>
      </p:sp>
      <p:sp>
        <p:nvSpPr>
          <p:cNvPr id="32" name="TextBox 31"/>
          <p:cNvSpPr txBox="1"/>
          <p:nvPr/>
        </p:nvSpPr>
        <p:spPr>
          <a:xfrm>
            <a:off x="5486400" y="5669280"/>
            <a:ext cx="5943600" cy="320040"/>
          </a:xfrm>
          <a:prstGeom prst="rect">
            <a:avLst/>
          </a:prstGeom>
          <a:noFill/>
        </p:spPr>
        <p:txBody>
          <a:bodyPr wrap="square" lIns="0" rIns="0" tIns="0" bIns="0">
            <a:noAutofit/>
          </a:bodyPr>
          <a:lstStyle/>
          <a:p>
            <a:pPr algn="ctr">
              <a:lnSpc>
                <a:spcPct val="106000"/>
              </a:lnSpc>
              <a:spcBef>
                <a:spcPts val="0"/>
              </a:spcBef>
              <a:spcAft>
                <a:spcPts val="400"/>
              </a:spcAft>
              <a:defRPr sz="1700" b="0">
                <a:solidFill>
                  <a:srgbClr val="5C7066"/>
                </a:solidFill>
                <a:latin typeface="Arial"/>
              </a:defRPr>
            </a:pPr>
            <a:r>
              <a:t>Illustrative two-step search</a:t>
            </a:r>
          </a:p>
        </p:txBody>
      </p:sp>
      <p:sp>
        <p:nvSpPr>
          <p:cNvPr id="33" name="TextBox 32"/>
          <p:cNvSpPr txBox="1"/>
          <p:nvPr/>
        </p:nvSpPr>
        <p:spPr>
          <a:xfrm>
            <a:off x="594360" y="6080760"/>
            <a:ext cx="10972800" cy="292608"/>
          </a:xfrm>
          <a:prstGeom prst="rect">
            <a:avLst/>
          </a:prstGeom>
          <a:noFill/>
        </p:spPr>
        <p:txBody>
          <a:bodyPr wrap="square" lIns="0" rIns="0" tIns="0" bIns="0">
            <a:noAutofit/>
          </a:bodyPr>
          <a:lstStyle/>
          <a:p>
            <a:pPr algn="l">
              <a:lnSpc>
                <a:spcPct val="106000"/>
              </a:lnSpc>
              <a:spcBef>
                <a:spcPts val="0"/>
              </a:spcBef>
              <a:spcAft>
                <a:spcPts val="400"/>
              </a:spcAft>
              <a:defRPr sz="1900" b="0">
                <a:solidFill>
                  <a:srgbClr val="315C48"/>
                </a:solidFill>
                <a:latin typeface="Arial"/>
              </a:defRPr>
            </a:pPr>
            <a:r>
              <a:t>Alpha–Beta skips branches that cannot improve the decision.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PERSISTENCE</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Accounts that remember results</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06 / 10</a:t>
            </a:r>
          </a:p>
        </p:txBody>
      </p:sp>
      <p:sp>
        <p:nvSpPr>
          <p:cNvPr id="9" name="Rounded Rectangle 8"/>
          <p:cNvSpPr/>
          <p:nvPr/>
        </p:nvSpPr>
        <p:spPr>
          <a:xfrm>
            <a:off x="539496" y="1883664"/>
            <a:ext cx="6099048" cy="408736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10_profile.png"/>
          <p:cNvPicPr>
            <a:picLocks noChangeAspect="1"/>
          </p:cNvPicPr>
          <p:nvPr/>
        </p:nvPicPr>
        <p:blipFill>
          <a:blip r:embed="rId2"/>
          <a:stretch>
            <a:fillRect/>
          </a:stretch>
        </p:blipFill>
        <p:spPr>
          <a:xfrm>
            <a:off x="892314" y="1938528"/>
            <a:ext cx="5393410" cy="3977639"/>
          </a:xfrm>
          <a:prstGeom prst="rect">
            <a:avLst/>
          </a:prstGeom>
        </p:spPr>
      </p:pic>
      <p:sp>
        <p:nvSpPr>
          <p:cNvPr id="11" name="Rounded Rectangle 10"/>
          <p:cNvSpPr/>
          <p:nvPr/>
        </p:nvSpPr>
        <p:spPr>
          <a:xfrm>
            <a:off x="1399032" y="6062472"/>
            <a:ext cx="4389120" cy="347472"/>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90472" y="6117336"/>
            <a:ext cx="4206240" cy="228600"/>
          </a:xfrm>
          <a:prstGeom prst="rect">
            <a:avLst/>
          </a:prstGeom>
          <a:noFill/>
        </p:spPr>
        <p:txBody>
          <a:bodyPr wrap="square" lIns="0" rIns="0" tIns="0" bIns="0">
            <a:noAutofit/>
          </a:bodyPr>
          <a:lstStyle/>
          <a:p>
            <a:pPr algn="ctr">
              <a:lnSpc>
                <a:spcPct val="106000"/>
              </a:lnSpc>
              <a:spcBef>
                <a:spcPts val="0"/>
              </a:spcBef>
              <a:spcAft>
                <a:spcPts val="400"/>
              </a:spcAft>
              <a:defRPr sz="1600" b="1">
                <a:solidFill>
                  <a:srgbClr val="315C48"/>
                </a:solidFill>
                <a:latin typeface="Arial"/>
              </a:defRPr>
            </a:pPr>
            <a:r>
              <a:t>Demo account · sample history</a:t>
            </a:r>
          </a:p>
        </p:txBody>
      </p:sp>
      <p:sp>
        <p:nvSpPr>
          <p:cNvPr id="13" name="Rounded Rectangle 12"/>
          <p:cNvSpPr/>
          <p:nvPr/>
        </p:nvSpPr>
        <p:spPr>
          <a:xfrm>
            <a:off x="7040880" y="1947672"/>
            <a:ext cx="4572000" cy="1499616"/>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06056" y="2194560"/>
            <a:ext cx="4023360" cy="420624"/>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Consolas"/>
              </a:defRPr>
            </a:pPr>
            <a:r>
              <a:t>profiles</a:t>
            </a:r>
          </a:p>
        </p:txBody>
      </p:sp>
      <p:sp>
        <p:nvSpPr>
          <p:cNvPr id="15" name="TextBox 14"/>
          <p:cNvSpPr txBox="1"/>
          <p:nvPr/>
        </p:nvSpPr>
        <p:spPr>
          <a:xfrm>
            <a:off x="7306056" y="2852928"/>
            <a:ext cx="4023360" cy="43891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5C7066"/>
                </a:solidFill>
                <a:latin typeface="Arial"/>
              </a:defRPr>
            </a:pPr>
            <a:r>
              <a:t>Username · salt · password hash</a:t>
            </a:r>
          </a:p>
        </p:txBody>
      </p:sp>
      <p:sp>
        <p:nvSpPr>
          <p:cNvPr id="16" name="Rounded Rectangle 15"/>
          <p:cNvSpPr/>
          <p:nvPr/>
        </p:nvSpPr>
        <p:spPr>
          <a:xfrm>
            <a:off x="7040880" y="3694176"/>
            <a:ext cx="4572000" cy="1499616"/>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6056" y="3941063"/>
            <a:ext cx="4023360" cy="420624"/>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Consolas"/>
              </a:defRPr>
            </a:pPr>
            <a:r>
              <a:t>game_results</a:t>
            </a:r>
          </a:p>
        </p:txBody>
      </p:sp>
      <p:sp>
        <p:nvSpPr>
          <p:cNvPr id="18" name="TextBox 17"/>
          <p:cNvSpPr txBox="1"/>
          <p:nvPr/>
        </p:nvSpPr>
        <p:spPr>
          <a:xfrm>
            <a:off x="7306056" y="4599432"/>
            <a:ext cx="4023360" cy="438912"/>
          </a:xfrm>
          <a:prstGeom prst="rect">
            <a:avLst/>
          </a:prstGeom>
          <a:noFill/>
        </p:spPr>
        <p:txBody>
          <a:bodyPr wrap="square" lIns="0" rIns="0" tIns="0" bIns="0">
            <a:noAutofit/>
          </a:bodyPr>
          <a:lstStyle/>
          <a:p>
            <a:pPr algn="l">
              <a:lnSpc>
                <a:spcPct val="106000"/>
              </a:lnSpc>
              <a:spcBef>
                <a:spcPts val="0"/>
              </a:spcBef>
              <a:spcAft>
                <a:spcPts val="400"/>
              </a:spcAft>
              <a:defRPr sz="2100" b="0">
                <a:solidFill>
                  <a:srgbClr val="5C7066"/>
                </a:solidFill>
                <a:latin typeface="Arial"/>
              </a:defRPr>
            </a:pPr>
            <a:r>
              <a:t>Players · winner · mode · time</a:t>
            </a:r>
          </a:p>
        </p:txBody>
      </p:sp>
      <p:sp>
        <p:nvSpPr>
          <p:cNvPr id="19" name="TextBox 18"/>
          <p:cNvSpPr txBox="1"/>
          <p:nvPr/>
        </p:nvSpPr>
        <p:spPr>
          <a:xfrm>
            <a:off x="7040880" y="5522976"/>
            <a:ext cx="4572000" cy="822960"/>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173B30"/>
                </a:solidFill>
                <a:latin typeface="Arial"/>
              </a:defRPr>
            </a:pPr>
            <a:r>
              <a:t>Statistics are derived from results.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QUALITY AND PROCESS</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Verification and AI-assisted development</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07 / 10</a:t>
            </a:r>
          </a:p>
        </p:txBody>
      </p:sp>
      <p:sp>
        <p:nvSpPr>
          <p:cNvPr id="9" name="Rounded Rectangle 8"/>
          <p:cNvSpPr/>
          <p:nvPr/>
        </p:nvSpPr>
        <p:spPr>
          <a:xfrm>
            <a:off x="548640" y="1901952"/>
            <a:ext cx="5513832" cy="4197096"/>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130552"/>
            <a:ext cx="1325880" cy="1005840"/>
          </a:xfrm>
          <a:prstGeom prst="rect">
            <a:avLst/>
          </a:prstGeom>
          <a:noFill/>
        </p:spPr>
        <p:txBody>
          <a:bodyPr wrap="square" lIns="0" rIns="0" tIns="0" bIns="0">
            <a:noAutofit/>
          </a:bodyPr>
          <a:lstStyle/>
          <a:p>
            <a:pPr algn="l">
              <a:lnSpc>
                <a:spcPct val="106000"/>
              </a:lnSpc>
              <a:spcBef>
                <a:spcPts val="0"/>
              </a:spcBef>
              <a:spcAft>
                <a:spcPts val="400"/>
              </a:spcAft>
              <a:defRPr sz="6400" b="1">
                <a:solidFill>
                  <a:srgbClr val="315C48"/>
                </a:solidFill>
                <a:latin typeface="Arial"/>
              </a:defRPr>
            </a:pPr>
            <a:r>
              <a:t>48</a:t>
            </a:r>
          </a:p>
        </p:txBody>
      </p:sp>
      <p:sp>
        <p:nvSpPr>
          <p:cNvPr id="11" name="TextBox 10"/>
          <p:cNvSpPr txBox="1"/>
          <p:nvPr/>
        </p:nvSpPr>
        <p:spPr>
          <a:xfrm>
            <a:off x="2286000" y="2551176"/>
            <a:ext cx="3474720" cy="548640"/>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automated tests</a:t>
            </a:r>
          </a:p>
        </p:txBody>
      </p:sp>
      <p:sp>
        <p:nvSpPr>
          <p:cNvPr id="12" name="TextBox 11"/>
          <p:cNvSpPr txBox="1"/>
          <p:nvPr/>
        </p:nvSpPr>
        <p:spPr>
          <a:xfrm>
            <a:off x="822960" y="3511296"/>
            <a:ext cx="4965192" cy="171907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73B30"/>
                </a:solidFill>
                <a:latin typeface="Arial"/>
              </a:defRPr>
            </a:pPr>
            <a:r>
              <a:t>Game rules and edge cases</a:t>
            </a:r>
          </a:p>
          <a:p>
            <a:pPr algn="l">
              <a:lnSpc>
                <a:spcPct val="106000"/>
              </a:lnSpc>
              <a:spcBef>
                <a:spcPts val="0"/>
              </a:spcBef>
              <a:spcAft>
                <a:spcPts val="400"/>
              </a:spcAft>
              <a:defRPr sz="2300" b="0">
                <a:solidFill>
                  <a:srgbClr val="173B30"/>
                </a:solidFill>
                <a:latin typeface="Arial"/>
              </a:defRPr>
            </a:pPr>
            <a:r>
              <a:t>Real TCP protocol checks</a:t>
            </a:r>
          </a:p>
          <a:p>
            <a:pPr algn="l">
              <a:lnSpc>
                <a:spcPct val="106000"/>
              </a:lnSpc>
              <a:spcBef>
                <a:spcPts val="0"/>
              </a:spcBef>
              <a:spcAft>
                <a:spcPts val="400"/>
              </a:spcAft>
              <a:defRPr sz="2300" b="0">
                <a:solidFill>
                  <a:srgbClr val="173B30"/>
                </a:solidFill>
                <a:latin typeface="Arial"/>
              </a:defRPr>
            </a:pPr>
            <a:r>
              <a:t>SQLite persistence and deduplication</a:t>
            </a:r>
          </a:p>
        </p:txBody>
      </p:sp>
      <p:sp>
        <p:nvSpPr>
          <p:cNvPr id="13" name="TextBox 12"/>
          <p:cNvSpPr txBox="1"/>
          <p:nvPr/>
        </p:nvSpPr>
        <p:spPr>
          <a:xfrm>
            <a:off x="822960" y="5513832"/>
            <a:ext cx="4965192" cy="384048"/>
          </a:xfrm>
          <a:prstGeom prst="rect">
            <a:avLst/>
          </a:prstGeom>
          <a:noFill/>
        </p:spPr>
        <p:txBody>
          <a:bodyPr wrap="square" lIns="0" rIns="0" tIns="0" bIns="0">
            <a:noAutofit/>
          </a:bodyPr>
          <a:lstStyle/>
          <a:p>
            <a:pPr algn="l">
              <a:lnSpc>
                <a:spcPct val="106000"/>
              </a:lnSpc>
              <a:spcBef>
                <a:spcPts val="0"/>
              </a:spcBef>
              <a:spcAft>
                <a:spcPts val="400"/>
              </a:spcAft>
              <a:defRPr sz="1600" b="0">
                <a:solidFill>
                  <a:srgbClr val="5C7066"/>
                </a:solidFill>
                <a:latin typeface="Arial"/>
              </a:defRPr>
            </a:pPr>
            <a:r>
              <a:t>Documented passing run: 12 Oct 2026</a:t>
            </a:r>
          </a:p>
        </p:txBody>
      </p:sp>
      <p:sp>
        <p:nvSpPr>
          <p:cNvPr id="14" name="Rounded Rectangle 13"/>
          <p:cNvSpPr/>
          <p:nvPr/>
        </p:nvSpPr>
        <p:spPr>
          <a:xfrm>
            <a:off x="6309360" y="1901952"/>
            <a:ext cx="5330952" cy="4197096"/>
          </a:xfrm>
          <a:prstGeom prst="roundRect">
            <a:avLst>
              <a:gd name="adj" fmla="val 12000"/>
            </a:avLst>
          </a:prstGeom>
          <a:solidFill>
            <a:srgbClr val="EEF3EC"/>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2340864"/>
            <a:ext cx="4782312" cy="758952"/>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Codex + GitHub Copilot</a:t>
            </a:r>
          </a:p>
        </p:txBody>
      </p:sp>
      <p:sp>
        <p:nvSpPr>
          <p:cNvPr id="16" name="TextBox 15"/>
          <p:cNvSpPr txBox="1"/>
          <p:nvPr/>
        </p:nvSpPr>
        <p:spPr>
          <a:xfrm>
            <a:off x="6583680" y="3447288"/>
            <a:ext cx="4782312" cy="11430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73B30"/>
                </a:solidFill>
                <a:latin typeface="Arial"/>
              </a:defRPr>
            </a:pPr>
            <a:r>
              <a:t>Planning · code · explanations</a:t>
            </a:r>
          </a:p>
          <a:p>
            <a:pPr algn="l">
              <a:lnSpc>
                <a:spcPct val="106000"/>
              </a:lnSpc>
              <a:spcBef>
                <a:spcPts val="0"/>
              </a:spcBef>
              <a:spcAft>
                <a:spcPts val="400"/>
              </a:spcAft>
              <a:defRPr sz="2300" b="0">
                <a:solidFill>
                  <a:srgbClr val="173B30"/>
                </a:solidFill>
                <a:latin typeface="Arial"/>
              </a:defRPr>
            </a:pPr>
            <a:r>
              <a:t>Tests and documentation</a:t>
            </a:r>
          </a:p>
        </p:txBody>
      </p:sp>
      <p:sp>
        <p:nvSpPr>
          <p:cNvPr id="17" name="TextBox 16"/>
          <p:cNvSpPr txBox="1"/>
          <p:nvPr/>
        </p:nvSpPr>
        <p:spPr>
          <a:xfrm>
            <a:off x="6583680" y="5010912"/>
            <a:ext cx="4782312" cy="786384"/>
          </a:xfrm>
          <a:prstGeom prst="rect">
            <a:avLst/>
          </a:prstGeom>
          <a:noFill/>
        </p:spPr>
        <p:txBody>
          <a:bodyPr wrap="square" lIns="0" rIns="0" tIns="0" bIns="0">
            <a:noAutofit/>
          </a:bodyPr>
          <a:lstStyle/>
          <a:p>
            <a:pPr algn="l">
              <a:lnSpc>
                <a:spcPct val="106000"/>
              </a:lnSpc>
              <a:spcBef>
                <a:spcPts val="0"/>
              </a:spcBef>
              <a:spcAft>
                <a:spcPts val="400"/>
              </a:spcAft>
              <a:defRPr sz="2300" b="1">
                <a:solidFill>
                  <a:srgbClr val="315C48"/>
                </a:solidFill>
                <a:latin typeface="Arial"/>
              </a:defRPr>
            </a:pPr>
            <a:r>
              <a:t>Read → run → review → refine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3-MINUTE DEMONSTRATION</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Live demo — two players, one match</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08 / 10</a:t>
            </a:r>
          </a:p>
        </p:txBody>
      </p:sp>
      <p:sp>
        <p:nvSpPr>
          <p:cNvPr id="9" name="Rounded Rectangle 8"/>
          <p:cNvSpPr/>
          <p:nvPr/>
        </p:nvSpPr>
        <p:spPr>
          <a:xfrm>
            <a:off x="539496" y="1938528"/>
            <a:ext cx="6281928" cy="4133088"/>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07_online_after_moves.png"/>
          <p:cNvPicPr>
            <a:picLocks noChangeAspect="1"/>
          </p:cNvPicPr>
          <p:nvPr/>
        </p:nvPicPr>
        <p:blipFill>
          <a:blip r:embed="rId2"/>
          <a:stretch>
            <a:fillRect/>
          </a:stretch>
        </p:blipFill>
        <p:spPr>
          <a:xfrm>
            <a:off x="938878" y="1993392"/>
            <a:ext cx="5483163" cy="4023360"/>
          </a:xfrm>
          <a:prstGeom prst="rect">
            <a:avLst/>
          </a:prstGeom>
        </p:spPr>
      </p:pic>
      <p:sp>
        <p:nvSpPr>
          <p:cNvPr id="11" name="Rounded Rectangle 10"/>
          <p:cNvSpPr/>
          <p:nvPr/>
        </p:nvSpPr>
        <p:spPr>
          <a:xfrm>
            <a:off x="7205472" y="1993392"/>
            <a:ext cx="512064" cy="512064"/>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06056" y="2103120"/>
            <a:ext cx="310896" cy="310896"/>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73B30"/>
                </a:solidFill>
                <a:latin typeface="Arial"/>
              </a:defRPr>
            </a:pPr>
            <a:r>
              <a:t>1</a:t>
            </a:r>
          </a:p>
        </p:txBody>
      </p:sp>
      <p:sp>
        <p:nvSpPr>
          <p:cNvPr id="13" name="TextBox 12"/>
          <p:cNvSpPr txBox="1"/>
          <p:nvPr/>
        </p:nvSpPr>
        <p:spPr>
          <a:xfrm>
            <a:off x="7955279" y="1993392"/>
            <a:ext cx="370332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73B30"/>
                </a:solidFill>
                <a:latin typeface="Arial"/>
              </a:defRPr>
            </a:pPr>
            <a:r>
              <a:t>Log in</a:t>
            </a:r>
          </a:p>
        </p:txBody>
      </p:sp>
      <p:sp>
        <p:nvSpPr>
          <p:cNvPr id="14" name="TextBox 13"/>
          <p:cNvSpPr txBox="1"/>
          <p:nvPr/>
        </p:nvSpPr>
        <p:spPr>
          <a:xfrm>
            <a:off x="7955279" y="2459736"/>
            <a:ext cx="3703320" cy="384048"/>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5C7066"/>
                </a:solidFill>
                <a:latin typeface="Arial"/>
              </a:defRPr>
            </a:pPr>
            <a:r>
              <a:t>Two different accounts</a:t>
            </a:r>
          </a:p>
        </p:txBody>
      </p:sp>
      <p:sp>
        <p:nvSpPr>
          <p:cNvPr id="15" name="Rounded Rectangle 14"/>
          <p:cNvSpPr/>
          <p:nvPr/>
        </p:nvSpPr>
        <p:spPr>
          <a:xfrm>
            <a:off x="7205472" y="3017520"/>
            <a:ext cx="512064" cy="512064"/>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6056" y="3127248"/>
            <a:ext cx="310896" cy="310896"/>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73B30"/>
                </a:solidFill>
                <a:latin typeface="Arial"/>
              </a:defRPr>
            </a:pPr>
            <a:r>
              <a:t>2</a:t>
            </a:r>
          </a:p>
        </p:txBody>
      </p:sp>
      <p:sp>
        <p:nvSpPr>
          <p:cNvPr id="17" name="TextBox 16"/>
          <p:cNvSpPr txBox="1"/>
          <p:nvPr/>
        </p:nvSpPr>
        <p:spPr>
          <a:xfrm>
            <a:off x="7955279" y="3017520"/>
            <a:ext cx="370332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73B30"/>
                </a:solidFill>
                <a:latin typeface="Arial"/>
              </a:defRPr>
            </a:pPr>
            <a:r>
              <a:t>Create / join</a:t>
            </a:r>
          </a:p>
        </p:txBody>
      </p:sp>
      <p:sp>
        <p:nvSpPr>
          <p:cNvPr id="18" name="TextBox 17"/>
          <p:cNvSpPr txBox="1"/>
          <p:nvPr/>
        </p:nvSpPr>
        <p:spPr>
          <a:xfrm>
            <a:off x="7955279" y="3483864"/>
            <a:ext cx="3703320" cy="384048"/>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5C7066"/>
                </a:solidFill>
                <a:latin typeface="Arial"/>
              </a:defRPr>
            </a:pPr>
            <a:r>
              <a:t>Share one room code</a:t>
            </a:r>
          </a:p>
        </p:txBody>
      </p:sp>
      <p:sp>
        <p:nvSpPr>
          <p:cNvPr id="19" name="Rounded Rectangle 18"/>
          <p:cNvSpPr/>
          <p:nvPr/>
        </p:nvSpPr>
        <p:spPr>
          <a:xfrm>
            <a:off x="7205472" y="4041648"/>
            <a:ext cx="512064" cy="512064"/>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06056" y="4151376"/>
            <a:ext cx="310896" cy="310896"/>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73B30"/>
                </a:solidFill>
                <a:latin typeface="Arial"/>
              </a:defRPr>
            </a:pPr>
            <a:r>
              <a:t>3</a:t>
            </a:r>
          </a:p>
        </p:txBody>
      </p:sp>
      <p:sp>
        <p:nvSpPr>
          <p:cNvPr id="21" name="TextBox 20"/>
          <p:cNvSpPr txBox="1"/>
          <p:nvPr/>
        </p:nvSpPr>
        <p:spPr>
          <a:xfrm>
            <a:off x="7955279" y="4041648"/>
            <a:ext cx="370332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73B30"/>
                </a:solidFill>
                <a:latin typeface="Arial"/>
              </a:defRPr>
            </a:pPr>
            <a:r>
              <a:t>Move / synchronize</a:t>
            </a:r>
          </a:p>
        </p:txBody>
      </p:sp>
      <p:sp>
        <p:nvSpPr>
          <p:cNvPr id="22" name="TextBox 21"/>
          <p:cNvSpPr txBox="1"/>
          <p:nvPr/>
        </p:nvSpPr>
        <p:spPr>
          <a:xfrm>
            <a:off x="7955279" y="4507992"/>
            <a:ext cx="3703320" cy="384048"/>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5C7066"/>
                </a:solidFill>
                <a:latin typeface="Arial"/>
              </a:defRPr>
            </a:pPr>
            <a:r>
              <a:t>Both clients show the update</a:t>
            </a:r>
          </a:p>
        </p:txBody>
      </p:sp>
      <p:sp>
        <p:nvSpPr>
          <p:cNvPr id="23" name="Rounded Rectangle 22"/>
          <p:cNvSpPr/>
          <p:nvPr/>
        </p:nvSpPr>
        <p:spPr>
          <a:xfrm>
            <a:off x="7205472" y="5065776"/>
            <a:ext cx="512064" cy="512064"/>
          </a:xfrm>
          <a:prstGeom prst="roundRect">
            <a:avLst>
              <a:gd name="adj" fmla="val 12000"/>
            </a:avLst>
          </a:prstGeom>
          <a:solidFill>
            <a:srgbClr val="EE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06056" y="5175504"/>
            <a:ext cx="310896" cy="310896"/>
          </a:xfrm>
          <a:prstGeom prst="rect">
            <a:avLst/>
          </a:prstGeom>
          <a:noFill/>
        </p:spPr>
        <p:txBody>
          <a:bodyPr wrap="square" lIns="0" rIns="0" tIns="0" bIns="0">
            <a:noAutofit/>
          </a:bodyPr>
          <a:lstStyle/>
          <a:p>
            <a:pPr algn="ctr">
              <a:lnSpc>
                <a:spcPct val="106000"/>
              </a:lnSpc>
              <a:spcBef>
                <a:spcPts val="0"/>
              </a:spcBef>
              <a:spcAft>
                <a:spcPts val="400"/>
              </a:spcAft>
              <a:defRPr sz="2100" b="1">
                <a:solidFill>
                  <a:srgbClr val="173B30"/>
                </a:solidFill>
                <a:latin typeface="Arial"/>
              </a:defRPr>
            </a:pPr>
            <a:r>
              <a:t>4</a:t>
            </a:r>
          </a:p>
        </p:txBody>
      </p:sp>
      <p:sp>
        <p:nvSpPr>
          <p:cNvPr id="25" name="TextBox 24"/>
          <p:cNvSpPr txBox="1"/>
          <p:nvPr/>
        </p:nvSpPr>
        <p:spPr>
          <a:xfrm>
            <a:off x="7955279" y="5065776"/>
            <a:ext cx="3703320" cy="411480"/>
          </a:xfrm>
          <a:prstGeom prst="rect">
            <a:avLst/>
          </a:prstGeom>
          <a:noFill/>
        </p:spPr>
        <p:txBody>
          <a:bodyPr wrap="square" lIns="0" rIns="0" tIns="0" bIns="0">
            <a:noAutofit/>
          </a:bodyPr>
          <a:lstStyle/>
          <a:p>
            <a:pPr algn="l">
              <a:lnSpc>
                <a:spcPct val="106000"/>
              </a:lnSpc>
              <a:spcBef>
                <a:spcPts val="0"/>
              </a:spcBef>
              <a:spcAft>
                <a:spcPts val="400"/>
              </a:spcAft>
              <a:defRPr sz="2400" b="1">
                <a:solidFill>
                  <a:srgbClr val="173B30"/>
                </a:solidFill>
                <a:latin typeface="Arial"/>
              </a:defRPr>
            </a:pPr>
            <a:r>
              <a:t>Resign / profile</a:t>
            </a:r>
          </a:p>
        </p:txBody>
      </p:sp>
      <p:sp>
        <p:nvSpPr>
          <p:cNvPr id="26" name="TextBox 25"/>
          <p:cNvSpPr txBox="1"/>
          <p:nvPr/>
        </p:nvSpPr>
        <p:spPr>
          <a:xfrm>
            <a:off x="7955279" y="5532120"/>
            <a:ext cx="3703320" cy="384048"/>
          </a:xfrm>
          <a:prstGeom prst="rect">
            <a:avLst/>
          </a:prstGeom>
          <a:noFill/>
        </p:spPr>
        <p:txBody>
          <a:bodyPr wrap="square" lIns="0" rIns="0" tIns="0" bIns="0">
            <a:noAutofit/>
          </a:bodyPr>
          <a:lstStyle/>
          <a:p>
            <a:pPr algn="l">
              <a:lnSpc>
                <a:spcPct val="106000"/>
              </a:lnSpc>
              <a:spcBef>
                <a:spcPts val="0"/>
              </a:spcBef>
              <a:spcAft>
                <a:spcPts val="400"/>
              </a:spcAft>
              <a:defRPr sz="2000" b="0">
                <a:solidFill>
                  <a:srgbClr val="5C7066"/>
                </a:solidFill>
                <a:latin typeface="Arial"/>
              </a:defRPr>
            </a:pPr>
            <a:r>
              <a:t>One result, saved once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SCOPE</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Current limits and next step</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09 / 10</a:t>
            </a:r>
          </a:p>
        </p:txBody>
      </p:sp>
      <p:sp>
        <p:nvSpPr>
          <p:cNvPr id="9" name="Rounded Rectangle 8"/>
          <p:cNvSpPr/>
          <p:nvPr/>
        </p:nvSpPr>
        <p:spPr>
          <a:xfrm>
            <a:off x="548640" y="1938528"/>
            <a:ext cx="3538728" cy="242316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157984"/>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LAN focus</a:t>
            </a:r>
          </a:p>
        </p:txBody>
      </p:sp>
      <p:sp>
        <p:nvSpPr>
          <p:cNvPr id="11" name="TextBox 10"/>
          <p:cNvSpPr txBox="1"/>
          <p:nvPr/>
        </p:nvSpPr>
        <p:spPr>
          <a:xfrm>
            <a:off x="777240" y="2898648"/>
            <a:ext cx="3081528" cy="130759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5C7066"/>
                </a:solidFill>
                <a:latin typeface="Arial"/>
              </a:defRPr>
            </a:pPr>
            <a:r>
              <a:t>No TLS in this version</a:t>
            </a:r>
          </a:p>
        </p:txBody>
      </p:sp>
      <p:sp>
        <p:nvSpPr>
          <p:cNvPr id="12" name="Rounded Rectangle 11"/>
          <p:cNvSpPr/>
          <p:nvPr/>
        </p:nvSpPr>
        <p:spPr>
          <a:xfrm>
            <a:off x="4325112" y="1938528"/>
            <a:ext cx="3538728" cy="242316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2157984"/>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No match resume</a:t>
            </a:r>
          </a:p>
        </p:txBody>
      </p:sp>
      <p:sp>
        <p:nvSpPr>
          <p:cNvPr id="14" name="TextBox 13"/>
          <p:cNvSpPr txBox="1"/>
          <p:nvPr/>
        </p:nvSpPr>
        <p:spPr>
          <a:xfrm>
            <a:off x="4553712" y="2898648"/>
            <a:ext cx="3081528" cy="130759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5C7066"/>
                </a:solidFill>
                <a:latin typeface="Arial"/>
              </a:defRPr>
            </a:pPr>
            <a:r>
              <a:t>A detected disconnect</a:t>
            </a:r>
          </a:p>
          <a:p>
            <a:pPr algn="l">
              <a:lnSpc>
                <a:spcPct val="106000"/>
              </a:lnSpc>
              <a:spcBef>
                <a:spcPts val="0"/>
              </a:spcBef>
              <a:spcAft>
                <a:spcPts val="400"/>
              </a:spcAft>
              <a:defRPr sz="2300" b="0">
                <a:solidFill>
                  <a:srgbClr val="5C7066"/>
                </a:solidFill>
                <a:latin typeface="Arial"/>
              </a:defRPr>
            </a:pPr>
            <a:r>
              <a:t>ends the active match</a:t>
            </a:r>
          </a:p>
        </p:txBody>
      </p:sp>
      <p:sp>
        <p:nvSpPr>
          <p:cNvPr id="15" name="Rounded Rectangle 14"/>
          <p:cNvSpPr/>
          <p:nvPr/>
        </p:nvSpPr>
        <p:spPr>
          <a:xfrm>
            <a:off x="8110727" y="1938528"/>
            <a:ext cx="3538728" cy="2423160"/>
          </a:xfrm>
          <a:prstGeom prst="roundRect">
            <a:avLst>
              <a:gd name="adj" fmla="val 12000"/>
            </a:avLst>
          </a:prstGeom>
          <a:solidFill>
            <a:srgbClr val="FFFFFF"/>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157984"/>
            <a:ext cx="3081528" cy="594360"/>
          </a:xfrm>
          <a:prstGeom prst="rect">
            <a:avLst/>
          </a:prstGeom>
          <a:noFill/>
        </p:spPr>
        <p:txBody>
          <a:bodyPr wrap="square" lIns="0" rIns="0" tIns="0" bIns="0">
            <a:noAutofit/>
          </a:bodyPr>
          <a:lstStyle/>
          <a:p>
            <a:pPr algn="l">
              <a:lnSpc>
                <a:spcPct val="106000"/>
              </a:lnSpc>
              <a:spcBef>
                <a:spcPts val="0"/>
              </a:spcBef>
              <a:spcAft>
                <a:spcPts val="400"/>
              </a:spcAft>
              <a:defRPr sz="2500" b="1">
                <a:solidFill>
                  <a:srgbClr val="173B30"/>
                </a:solidFill>
                <a:latin typeface="Arial"/>
              </a:defRPr>
            </a:pPr>
            <a:r>
              <a:t>Local BOT results</a:t>
            </a:r>
          </a:p>
        </p:txBody>
      </p:sp>
      <p:sp>
        <p:nvSpPr>
          <p:cNvPr id="17" name="TextBox 16"/>
          <p:cNvSpPr txBox="1"/>
          <p:nvPr/>
        </p:nvSpPr>
        <p:spPr>
          <a:xfrm>
            <a:off x="8339327" y="2898648"/>
            <a:ext cx="3081528" cy="1307592"/>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5C7066"/>
                </a:solidFill>
                <a:latin typeface="Arial"/>
              </a:defRPr>
            </a:pPr>
            <a:r>
              <a:t>Client-reported</a:t>
            </a:r>
          </a:p>
          <a:p>
            <a:pPr algn="l">
              <a:lnSpc>
                <a:spcPct val="106000"/>
              </a:lnSpc>
              <a:spcBef>
                <a:spcPts val="0"/>
              </a:spcBef>
              <a:spcAft>
                <a:spcPts val="400"/>
              </a:spcAft>
              <a:defRPr sz="2300" b="0">
                <a:solidFill>
                  <a:srgbClr val="5C7066"/>
                </a:solidFill>
                <a:latin typeface="Arial"/>
              </a:defRPr>
            </a:pPr>
            <a:r>
              <a:t>No offline upload queue</a:t>
            </a:r>
          </a:p>
        </p:txBody>
      </p:sp>
      <p:sp>
        <p:nvSpPr>
          <p:cNvPr id="18" name="Rounded Rectangle 17"/>
          <p:cNvSpPr/>
          <p:nvPr/>
        </p:nvSpPr>
        <p:spPr>
          <a:xfrm>
            <a:off x="548640" y="4800600"/>
            <a:ext cx="11091672" cy="1234440"/>
          </a:xfrm>
          <a:prstGeom prst="roundRect">
            <a:avLst>
              <a:gd name="adj" fmla="val 12000"/>
            </a:avLst>
          </a:prstGeom>
          <a:solidFill>
            <a:srgbClr val="EEF3EC"/>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120640"/>
            <a:ext cx="1188720" cy="457200"/>
          </a:xfrm>
          <a:prstGeom prst="rect">
            <a:avLst/>
          </a:prstGeom>
          <a:noFill/>
        </p:spPr>
        <p:txBody>
          <a:bodyPr wrap="square" lIns="0" rIns="0" tIns="0" bIns="0">
            <a:noAutofit/>
          </a:bodyPr>
          <a:lstStyle/>
          <a:p>
            <a:pPr algn="l">
              <a:lnSpc>
                <a:spcPct val="106000"/>
              </a:lnSpc>
              <a:spcBef>
                <a:spcPts val="0"/>
              </a:spcBef>
              <a:spcAft>
                <a:spcPts val="400"/>
              </a:spcAft>
              <a:defRPr sz="2100" b="1">
                <a:solidFill>
                  <a:srgbClr val="315C48"/>
                </a:solidFill>
                <a:latin typeface="Arial"/>
              </a:defRPr>
            </a:pPr>
            <a:r>
              <a:t>NEXT</a:t>
            </a:r>
          </a:p>
        </p:txBody>
      </p:sp>
      <p:sp>
        <p:nvSpPr>
          <p:cNvPr id="20" name="TextBox 19"/>
          <p:cNvSpPr txBox="1"/>
          <p:nvPr/>
        </p:nvSpPr>
        <p:spPr>
          <a:xfrm>
            <a:off x="2148840" y="5093208"/>
            <a:ext cx="9144000" cy="694944"/>
          </a:xfrm>
          <a:prstGeom prst="rect">
            <a:avLst/>
          </a:prstGeom>
          <a:noFill/>
        </p:spPr>
        <p:txBody>
          <a:bodyPr wrap="square" lIns="0" rIns="0" tIns="0" bIns="0">
            <a:noAutofit/>
          </a:bodyPr>
          <a:lstStyle/>
          <a:p>
            <a:pPr algn="l">
              <a:lnSpc>
                <a:spcPct val="106000"/>
              </a:lnSpc>
              <a:spcBef>
                <a:spcPts val="0"/>
              </a:spcBef>
              <a:spcAft>
                <a:spcPts val="400"/>
              </a:spcAft>
              <a:defRPr sz="2700" b="1">
                <a:solidFill>
                  <a:srgbClr val="173B30"/>
                </a:solidFill>
                <a:latin typeface="Arial"/>
              </a:defRPr>
            </a:pPr>
            <a:r>
              <a:t>In-room chat over the existing TCP connection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AF7"/>
        </a:solidFill>
        <a:effectLst/>
      </p:bgPr>
    </p:bg>
    <p:spTree>
      <p:nvGrpSpPr>
        <p:cNvPr id="1" name=""/>
        <p:cNvGrpSpPr/>
        <p:nvPr/>
      </p:nvGrpSpPr>
      <p:grpSpPr/>
      <p:sp>
        <p:nvSpPr>
          <p:cNvPr id="2" name="TextBox 1"/>
          <p:cNvSpPr txBox="1"/>
          <p:nvPr/>
        </p:nvSpPr>
        <p:spPr>
          <a:xfrm>
            <a:off x="502920" y="219456"/>
            <a:ext cx="1828800" cy="274320"/>
          </a:xfrm>
          <a:prstGeom prst="rect">
            <a:avLst/>
          </a:prstGeom>
          <a:noFill/>
        </p:spPr>
        <p:txBody>
          <a:bodyPr wrap="square" lIns="0" rIns="0" tIns="0" bIns="0">
            <a:noAutofit/>
          </a:bodyPr>
          <a:lstStyle/>
          <a:p>
            <a:pPr algn="l">
              <a:lnSpc>
                <a:spcPct val="106000"/>
              </a:lnSpc>
              <a:spcBef>
                <a:spcPts val="0"/>
              </a:spcBef>
              <a:spcAft>
                <a:spcPts val="400"/>
              </a:spcAft>
              <a:defRPr sz="1500" b="1">
                <a:solidFill>
                  <a:srgbClr val="315C48"/>
                </a:solidFill>
                <a:latin typeface="Arial"/>
              </a:defRPr>
            </a:pPr>
            <a:r>
              <a:t>DAMKA</a:t>
            </a:r>
          </a:p>
        </p:txBody>
      </p:sp>
      <p:sp>
        <p:nvSpPr>
          <p:cNvPr id="3" name="TextBox 2"/>
          <p:cNvSpPr txBox="1"/>
          <p:nvPr/>
        </p:nvSpPr>
        <p:spPr>
          <a:xfrm>
            <a:off x="7315200" y="219456"/>
            <a:ext cx="4370832" cy="274320"/>
          </a:xfrm>
          <a:prstGeom prst="rect">
            <a:avLst/>
          </a:prstGeom>
          <a:noFill/>
        </p:spPr>
        <p:txBody>
          <a:bodyPr wrap="square" lIns="0" rIns="0" tIns="0" bIns="0">
            <a:noAutofit/>
          </a:bodyPr>
          <a:lstStyle/>
          <a:p>
            <a:pPr algn="r">
              <a:lnSpc>
                <a:spcPct val="106000"/>
              </a:lnSpc>
              <a:spcBef>
                <a:spcPts val="0"/>
              </a:spcBef>
              <a:spcAft>
                <a:spcPts val="400"/>
              </a:spcAft>
              <a:defRPr sz="1300" b="0">
                <a:solidFill>
                  <a:srgbClr val="5C7066"/>
                </a:solidFill>
                <a:latin typeface="Arial"/>
              </a:defRPr>
            </a:pPr>
            <a:r>
              <a:t>CONCLUSIONS</a:t>
            </a:r>
          </a:p>
        </p:txBody>
      </p:sp>
      <p:cxnSp>
        <p:nvCxnSpPr>
          <p:cNvPr id="4" name="Connector 3"/>
          <p:cNvCxnSpPr/>
          <p:nvPr/>
        </p:nvCxnSpPr>
        <p:spPr>
          <a:xfrm>
            <a:off x="502920" y="694944"/>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932688"/>
            <a:ext cx="11183112" cy="777240"/>
          </a:xfrm>
          <a:prstGeom prst="rect">
            <a:avLst/>
          </a:prstGeom>
          <a:noFill/>
        </p:spPr>
        <p:txBody>
          <a:bodyPr wrap="square" lIns="0" rIns="0" tIns="0" bIns="0">
            <a:noAutofit/>
          </a:bodyPr>
          <a:lstStyle/>
          <a:p>
            <a:pPr algn="l">
              <a:lnSpc>
                <a:spcPct val="106000"/>
              </a:lnSpc>
              <a:spcBef>
                <a:spcPts val="0"/>
              </a:spcBef>
              <a:spcAft>
                <a:spcPts val="400"/>
              </a:spcAft>
              <a:defRPr sz="3400" b="1">
                <a:solidFill>
                  <a:srgbClr val="173B30"/>
                </a:solidFill>
                <a:latin typeface="Arial"/>
              </a:defRPr>
            </a:pPr>
            <a:r>
              <a:t>What we built and learned</a:t>
            </a:r>
          </a:p>
        </p:txBody>
      </p:sp>
      <p:cxnSp>
        <p:nvCxnSpPr>
          <p:cNvPr id="6" name="Connector 5"/>
          <p:cNvCxnSpPr/>
          <p:nvPr/>
        </p:nvCxnSpPr>
        <p:spPr>
          <a:xfrm>
            <a:off x="502920" y="6437376"/>
            <a:ext cx="11183112"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6528816"/>
            <a:ext cx="7315200" cy="182880"/>
          </a:xfrm>
          <a:prstGeom prst="rect">
            <a:avLst/>
          </a:prstGeom>
          <a:noFill/>
        </p:spPr>
        <p:txBody>
          <a:bodyPr wrap="square" lIns="0" rIns="0" tIns="0" bIns="0">
            <a:noAutofit/>
          </a:bodyPr>
          <a:lstStyle/>
          <a:p>
            <a:pPr algn="l">
              <a:lnSpc>
                <a:spcPct val="106000"/>
              </a:lnSpc>
              <a:spcBef>
                <a:spcPts val="0"/>
              </a:spcBef>
              <a:spcAft>
                <a:spcPts val="400"/>
              </a:spcAft>
              <a:defRPr sz="1000" b="0">
                <a:solidFill>
                  <a:srgbClr val="5C7066"/>
                </a:solidFill>
                <a:latin typeface="Arial"/>
              </a:defRPr>
            </a:pPr>
            <a:r>
              <a:t>JAVA  /  JAVAFX  /  TCP  /  SQLITE</a:t>
            </a:r>
          </a:p>
        </p:txBody>
      </p:sp>
      <p:sp>
        <p:nvSpPr>
          <p:cNvPr id="8" name="TextBox 7"/>
          <p:cNvSpPr txBox="1"/>
          <p:nvPr/>
        </p:nvSpPr>
        <p:spPr>
          <a:xfrm>
            <a:off x="10698480" y="6510528"/>
            <a:ext cx="987552" cy="228600"/>
          </a:xfrm>
          <a:prstGeom prst="rect">
            <a:avLst/>
          </a:prstGeom>
          <a:noFill/>
        </p:spPr>
        <p:txBody>
          <a:bodyPr wrap="square" lIns="0" rIns="0" tIns="0" bIns="0">
            <a:noAutofit/>
          </a:bodyPr>
          <a:lstStyle/>
          <a:p>
            <a:pPr algn="r">
              <a:lnSpc>
                <a:spcPct val="106000"/>
              </a:lnSpc>
              <a:spcBef>
                <a:spcPts val="0"/>
              </a:spcBef>
              <a:spcAft>
                <a:spcPts val="400"/>
              </a:spcAft>
              <a:defRPr sz="1200" b="0">
                <a:solidFill>
                  <a:srgbClr val="5C7066"/>
                </a:solidFill>
                <a:latin typeface="Arial"/>
              </a:defRPr>
            </a:pPr>
            <a:r>
              <a:t>10 / 10</a:t>
            </a:r>
          </a:p>
        </p:txBody>
      </p:sp>
      <p:sp>
        <p:nvSpPr>
          <p:cNvPr id="9" name="TextBox 8"/>
          <p:cNvSpPr txBox="1"/>
          <p:nvPr/>
        </p:nvSpPr>
        <p:spPr>
          <a:xfrm>
            <a:off x="594360" y="1901952"/>
            <a:ext cx="7040880" cy="2148840"/>
          </a:xfrm>
          <a:prstGeom prst="rect">
            <a:avLst/>
          </a:prstGeom>
          <a:noFill/>
        </p:spPr>
        <p:txBody>
          <a:bodyPr wrap="square" lIns="0" rIns="0" tIns="0" bIns="0">
            <a:noAutofit/>
          </a:bodyPr>
          <a:lstStyle/>
          <a:p>
            <a:pPr algn="l">
              <a:lnSpc>
                <a:spcPct val="106000"/>
              </a:lnSpc>
              <a:spcBef>
                <a:spcPts val="0"/>
              </a:spcBef>
              <a:spcAft>
                <a:spcPts val="400"/>
              </a:spcAft>
              <a:defRPr sz="3300" b="1">
                <a:solidFill>
                  <a:srgbClr val="173B30"/>
                </a:solidFill>
                <a:latin typeface="Arial"/>
              </a:defRPr>
            </a:pPr>
            <a:r>
              <a:t>One authoritative game.</a:t>
            </a:r>
          </a:p>
          <a:p>
            <a:pPr algn="l">
              <a:lnSpc>
                <a:spcPct val="106000"/>
              </a:lnSpc>
              <a:spcBef>
                <a:spcPts val="0"/>
              </a:spcBef>
              <a:spcAft>
                <a:spcPts val="400"/>
              </a:spcAft>
              <a:defRPr sz="3300" b="1">
                <a:solidFill>
                  <a:srgbClr val="173B30"/>
                </a:solidFill>
                <a:latin typeface="Arial"/>
              </a:defRPr>
            </a:pPr>
            <a:r>
              <a:t>Two synchronized clients.</a:t>
            </a:r>
          </a:p>
          <a:p>
            <a:pPr algn="l">
              <a:lnSpc>
                <a:spcPct val="106000"/>
              </a:lnSpc>
              <a:spcBef>
                <a:spcPts val="0"/>
              </a:spcBef>
              <a:spcAft>
                <a:spcPts val="400"/>
              </a:spcAft>
              <a:defRPr sz="3300" b="1">
                <a:solidFill>
                  <a:srgbClr val="173B30"/>
                </a:solidFill>
                <a:latin typeface="Arial"/>
              </a:defRPr>
            </a:pPr>
            <a:r>
              <a:t>Persistent player results.</a:t>
            </a:r>
          </a:p>
        </p:txBody>
      </p:sp>
      <p:sp>
        <p:nvSpPr>
          <p:cNvPr id="10" name="Rounded Rectangle 9"/>
          <p:cNvSpPr/>
          <p:nvPr/>
        </p:nvSpPr>
        <p:spPr>
          <a:xfrm>
            <a:off x="8321040" y="1874519"/>
            <a:ext cx="3291840" cy="2761488"/>
          </a:xfrm>
          <a:prstGeom prst="roundRect">
            <a:avLst>
              <a:gd name="adj" fmla="val 12000"/>
            </a:avLst>
          </a:prstGeom>
          <a:solidFill>
            <a:srgbClr val="EEF3EC"/>
          </a:solidFill>
          <a:ln w="12700">
            <a:solidFill>
              <a:srgbClr val="DCE5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2651760"/>
            <a:ext cx="2834640" cy="640080"/>
          </a:xfrm>
          <a:prstGeom prst="rect">
            <a:avLst/>
          </a:prstGeom>
          <a:noFill/>
        </p:spPr>
        <p:txBody>
          <a:bodyPr wrap="square" lIns="0" rIns="0" tIns="0" bIns="0">
            <a:noAutofit/>
          </a:bodyPr>
          <a:lstStyle/>
          <a:p>
            <a:pPr algn="ctr">
              <a:lnSpc>
                <a:spcPct val="106000"/>
              </a:lnSpc>
              <a:spcBef>
                <a:spcPts val="0"/>
              </a:spcBef>
              <a:spcAft>
                <a:spcPts val="400"/>
              </a:spcAft>
              <a:defRPr sz="3200" b="1">
                <a:solidFill>
                  <a:srgbClr val="173B30"/>
                </a:solidFill>
                <a:latin typeface="Arial"/>
              </a:defRPr>
            </a:pPr>
            <a:r>
              <a:t>Questions?</a:t>
            </a:r>
          </a:p>
        </p:txBody>
      </p:sp>
      <p:sp>
        <p:nvSpPr>
          <p:cNvPr id="12" name="TextBox 11"/>
          <p:cNvSpPr txBox="1"/>
          <p:nvPr/>
        </p:nvSpPr>
        <p:spPr>
          <a:xfrm>
            <a:off x="8549640" y="3639312"/>
            <a:ext cx="2834640" cy="731520"/>
          </a:xfrm>
          <a:prstGeom prst="rect">
            <a:avLst/>
          </a:prstGeom>
          <a:noFill/>
        </p:spPr>
        <p:txBody>
          <a:bodyPr wrap="square" lIns="0" rIns="0" tIns="0" bIns="0">
            <a:noAutofit/>
          </a:bodyPr>
          <a:lstStyle/>
          <a:p>
            <a:pPr algn="ctr">
              <a:lnSpc>
                <a:spcPct val="106000"/>
              </a:lnSpc>
              <a:spcBef>
                <a:spcPts val="0"/>
              </a:spcBef>
              <a:spcAft>
                <a:spcPts val="400"/>
              </a:spcAft>
              <a:defRPr sz="2000" b="0">
                <a:solidFill>
                  <a:srgbClr val="5C7066"/>
                </a:solidFill>
                <a:latin typeface="Arial"/>
              </a:defRPr>
            </a:pPr>
            <a:r>
              <a:t>Game rules · Networking</a:t>
            </a:r>
          </a:p>
          <a:p>
            <a:pPr algn="ctr">
              <a:lnSpc>
                <a:spcPct val="106000"/>
              </a:lnSpc>
              <a:spcBef>
                <a:spcPts val="0"/>
              </a:spcBef>
              <a:spcAft>
                <a:spcPts val="400"/>
              </a:spcAft>
              <a:defRPr sz="2000" b="0">
                <a:solidFill>
                  <a:srgbClr val="5C7066"/>
                </a:solidFill>
                <a:latin typeface="Arial"/>
              </a:defRPr>
            </a:pPr>
            <a:r>
              <a:t>BOT · Data storage</a:t>
            </a:r>
          </a:p>
        </p:txBody>
      </p:sp>
      <p:cxnSp>
        <p:nvCxnSpPr>
          <p:cNvPr id="13" name="Connector 12"/>
          <p:cNvCxnSpPr/>
          <p:nvPr/>
        </p:nvCxnSpPr>
        <p:spPr>
          <a:xfrm>
            <a:off x="594360" y="4507992"/>
            <a:ext cx="6720840" cy="0"/>
          </a:xfrm>
          <a:prstGeom prst="line">
            <a:avLst/>
          </a:prstGeom>
          <a:ln w="17780">
            <a:solidFill>
              <a:srgbClr val="DCE5D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94360" y="4773168"/>
            <a:ext cx="7315200" cy="914400"/>
          </a:xfrm>
          <a:prstGeom prst="rect">
            <a:avLst/>
          </a:prstGeom>
          <a:noFill/>
        </p:spPr>
        <p:txBody>
          <a:bodyPr wrap="square" lIns="0" rIns="0" tIns="0" bIns="0">
            <a:noAutofit/>
          </a:bodyPr>
          <a:lstStyle/>
          <a:p>
            <a:pPr algn="l">
              <a:lnSpc>
                <a:spcPct val="106000"/>
              </a:lnSpc>
              <a:spcBef>
                <a:spcPts val="0"/>
              </a:spcBef>
              <a:spcAft>
                <a:spcPts val="400"/>
              </a:spcAft>
              <a:defRPr sz="2300" b="0">
                <a:solidFill>
                  <a:srgbClr val="173B30"/>
                </a:solidFill>
                <a:latin typeface="Arial"/>
              </a:defRPr>
            </a:pPr>
            <a:r>
              <a:t>Rabie Abu Aad — Game Logic</a:t>
            </a:r>
          </a:p>
          <a:p>
            <a:pPr algn="l">
              <a:lnSpc>
                <a:spcPct val="106000"/>
              </a:lnSpc>
              <a:spcBef>
                <a:spcPts val="0"/>
              </a:spcBef>
              <a:spcAft>
                <a:spcPts val="400"/>
              </a:spcAft>
              <a:defRPr sz="2300" b="0">
                <a:solidFill>
                  <a:srgbClr val="173B30"/>
                </a:solidFill>
                <a:latin typeface="Arial"/>
              </a:defRPr>
            </a:pPr>
            <a:r>
              <a:t>Muthanna Farhat — TCP Communication</a:t>
            </a:r>
          </a:p>
        </p:txBody>
      </p:sp>
      <p:sp>
        <p:nvSpPr>
          <p:cNvPr id="15" name="TextBox 14"/>
          <p:cNvSpPr txBox="1"/>
          <p:nvPr/>
        </p:nvSpPr>
        <p:spPr>
          <a:xfrm>
            <a:off x="594360" y="5888736"/>
            <a:ext cx="9966960" cy="384048"/>
          </a:xfrm>
          <a:prstGeom prst="rect">
            <a:avLst/>
          </a:prstGeom>
          <a:noFill/>
        </p:spPr>
        <p:txBody>
          <a:bodyPr wrap="square" lIns="0" rIns="0" tIns="0" bIns="0">
            <a:noAutofit/>
          </a:bodyPr>
          <a:lstStyle/>
          <a:p>
            <a:pPr algn="l">
              <a:lnSpc>
                <a:spcPct val="106000"/>
              </a:lnSpc>
              <a:spcBef>
                <a:spcPts val="0"/>
              </a:spcBef>
              <a:spcAft>
                <a:spcPts val="400"/>
              </a:spcAft>
              <a:defRPr sz="2200" b="0">
                <a:solidFill>
                  <a:srgbClr val="315C48"/>
                </a:solidFill>
                <a:latin typeface="Arial"/>
              </a:defRPr>
            </a:pPr>
            <a:r>
              <a:rPr>
                <a:hlinkClick r:id="rId2"/>
              </a:rPr>
              <a:t>github.com/MuthannaFrhat/damka-game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Damka — Network Checkers</dc:title>
  <dc:subject>Final project presentation — 15 minutes</dc:subject>
  <dc:creator>Muthanna Farhat; Rabie Abu Aad</dc:creator>
  <cp:keywords>Java, JavaFX, TCP, SQLite, Checkers, Minimax</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