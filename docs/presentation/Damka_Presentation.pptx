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פתיחה</a:t>
            </a:r>
          </a:p>
          <a:p>
            <a:pPr algn="r" rtl="1"/>
            <a:r>
              <a:rPr sz="1200">
                <a:latin typeface="Arial"/>
              </a:rPr>
              <a:t>זמן מומלץ: 20 שניות</a:t>
            </a:r>
          </a:p>
          <a:p>
            <a:pPr algn="r" rtl="1"/>
          </a:p>
          <a:p>
            <a:pPr algn="r" rtl="1"/>
            <a:r>
              <a:rPr sz="1200">
                <a:latin typeface="Arial"/>
              </a:rPr>
              <a:t>להציג את שמות המגישים ואת שם הפרויקט. בנינו משחק דמקה ב־Java וב־JavaFX, הכולל משחק בין שני מחשבים באמצעות שרת TCP, יריב ממוחשב ופרופילים עם היסטוריית משחקים. בהצגה נתמקד בדרך שבה הרכיבים עובדים יחד. ההדגמה תבוצע בנפרד מהשקפים.</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המטרה והיכולות</a:t>
            </a:r>
          </a:p>
          <a:p>
            <a:pPr algn="r" rtl="1"/>
            <a:r>
              <a:rPr sz="1200">
                <a:latin typeface="Arial"/>
              </a:rPr>
              <a:t>זמן מומלץ: 35 שניות</a:t>
            </a:r>
          </a:p>
          <a:p>
            <a:pPr algn="r" rtl="1"/>
          </a:p>
          <a:p>
            <a:pPr algn="r" rtl="1"/>
            <a:r>
              <a:rPr sz="1200">
                <a:latin typeface="Arial"/>
              </a:rPr>
              <a:t>המטרה היא לאפשר למשתמש לבחור בין משחק מול אדם אחר לבין אימון מול BOT, ולקבל חוויית משחק ברורה עם תוצאה שנשמרת בחשבון. במשחק ברשת צריך ששני המשתתפים יראו את אותו לוח ושלא יוכלו לבצע מהלכים מחוץ לתור. חשבונות והיסטוריה מאפשרים לשמור הישגים בין הפעלות. המשחק המקומי מול BOT זמין גם ללא שרת, אך אימון לא מקוון אינו נשמר. כללי הדמקה עצמם מרוכזים ב־Game ומשמשים בשני המצבים. להזכיר בקצרה: תנועה אלכסונית, אכילה מחייבת והכתרה; אין צורך ללמד כאן את כל המשחק.</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טכנולוגיות וכלי פיתוח</a:t>
            </a:r>
          </a:p>
          <a:p>
            <a:pPr algn="r" rtl="1"/>
            <a:r>
              <a:rPr sz="1200">
                <a:latin typeface="Arial"/>
              </a:rPr>
              <a:t>זמן מומלץ: 40 שניות</a:t>
            </a:r>
          </a:p>
          <a:p>
            <a:pPr algn="r" rtl="1"/>
          </a:p>
          <a:p>
            <a:pPr algn="r" rtl="1"/>
            <a:r>
              <a:rPr sz="1200">
                <a:latin typeface="Arial"/>
              </a:rPr>
              <a:t>שפת המימוש היא Java, עם יעד תאימות לגרסה 17. JavaFX משמשת לבניית מסכי ההתחברות, המשחק והפרופיל; CSS מגדיר את העיצוב והאנימציות ממומשות ברכיבי JavaFX. התקשורת משתמשת ב־Socket וב־ServerSocket מתוך java.net, עם הודעות טקסט ב־UTF-8 שמסתיימות בסוף שורה. הנתונים נשמרים ב־SQLite, שאליו השרת ניגש באמצעות JDBC.</a:t>
            </a:r>
          </a:p>
          <a:p>
            <a:pPr algn="r" rtl="1"/>
          </a:p>
          <a:p>
            <a:pPr algn="r" rtl="1"/>
            <a:r>
              <a:rPr sz="1200">
                <a:latin typeface="Arial"/>
              </a:rPr>
              <a:t>JDBC הוא קיצור של Java Database Connectivity. זהו המנגנון שבו קוד Java עובד מול מסד הנתונים. בפרויקט, ProfileDatabase משתמשת בו כדי לפתוח חיבור ל־SQLite, לשלוח שאילתות SQL ולקרוא או לשמור נתונים. למשל, כשנשמר חשבון חדש, הקוד שולח את פעולת ההוספה דרך JDBC אל קובץ מסד הנתונים. זהו חיבור למסד הנתונים, בנפרד מחיבור ה־TCP שבין יישום השחקן לשרת.</a:t>
            </a:r>
          </a:p>
          <a:p>
            <a:pPr algn="r" rtl="1"/>
          </a:p>
          <a:p>
            <a:pPr algn="r" rtl="1"/>
            <a:r>
              <a:rPr sz="1200">
                <a:latin typeface="Arial"/>
              </a:rPr>
              <a:t>כלי הבנייה הוא Gradle, והבדיקות נכתבו באמצעות JUnit 5. Git ו־GitHub שימשו לניהול גרסאות. גרסאות שמופיעות בקובצי הפרויקט: JavaFX 17.0.6, Gradle 8.8, sqlite-jdbc 3.50.3.0 ו־JUnit 5.10.2. אין צורך להקריא את כל המספרים; העיקר הוא להסביר את התפקיד של כל טכנולוגיה.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מבנה המערכת ובחירת TCP</a:t>
            </a:r>
          </a:p>
          <a:p>
            <a:pPr algn="r" rtl="1"/>
            <a:r>
              <a:rPr sz="1200">
                <a:latin typeface="Arial"/>
              </a:rPr>
              <a:t>זמן מומלץ: 55 שניות</a:t>
            </a:r>
          </a:p>
          <a:p>
            <a:pPr algn="r" rtl="1"/>
          </a:p>
          <a:p>
            <a:pPr algn="r" rtl="1"/>
            <a:r>
              <a:rPr sz="1200">
                <a:latin typeface="Arial"/>
              </a:rPr>
              <a:t>להצביע על שני הלקוחות ועל השרת. כל לקוח מחובר לשרת; אין חיבור ישיר בין שני השחקנים. השרת מנהל חדרים, ובכל חדר נמצא אובייקט Game שמחזיק את מצב המשחק המקוון. כך יש מקור מוסמך אחד שמאמת מהלכים ומעדכן את שני המשתתפים. מסד SQLite נמצא בצד השרת ושומר חשבונות ותוצאות.</a:t>
            </a:r>
          </a:p>
          <a:p>
            <a:pPr algn="r" rtl="1"/>
          </a:p>
          <a:p>
            <a:pPr algn="r" rtl="1"/>
            <a:r>
              <a:rPr sz="1200">
                <a:latin typeface="Arial"/>
              </a:rPr>
              <a:t>אפשר היה לבחור HTTP עם בקשות חוזרות לקבלת עדכונים. בחרנו TCP מתמשך כדי להעביר בקשות ועדכונים לשני הכיוונים דרך אותו חיבור. זו בחירה שמתאימה לפרויקט, ולא טענה ש־TCP תמיד עדיף. גם HTTP פועל בדרך כלל מעל TCP; כאן ההשוואה היא בין פרוטוקול ההודעות שלנו על Socket לבין תכנון מבוסס בקשות HTTP.</a:t>
            </a:r>
          </a:p>
          <a:p>
            <a:pPr algn="r" rtl="1"/>
          </a:p>
          <a:p>
            <a:pPr algn="r" rtl="1"/>
            <a:r>
              <a:rPr sz="1200">
                <a:latin typeface="Arial"/>
              </a:rPr>
              <a:t>חיבור TCP נפתח כבר בהרשמה או בהתחברות. לאחר ההזדהות אותו Socket משמש לחדרים, למהלכים ולפרופיל. יצירת חדר משייכת שני חיבורים למשחק אחד.</a:t>
            </a:r>
          </a:p>
          <a:p>
            <a:pPr algn="r" rtl="1"/>
            <a:r>
              <a:rPr sz="1200">
                <a:latin typeface="Arial"/>
              </a:rPr>
              <a:t>מקורות להכנה: https://docs.oracle.com/javase/tutorial/networking/sockets/ ; https://www.sqlite.org/about.html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מבנה המחלקות והקשרים</a:t>
            </a:r>
          </a:p>
          <a:p>
            <a:pPr algn="r" rtl="1"/>
            <a:r>
              <a:rPr sz="1200">
                <a:latin typeface="Arial"/>
              </a:rPr>
              <a:t>זמן מומלץ: 65 שניות</a:t>
            </a:r>
          </a:p>
          <a:p>
            <a:pPr algn="r" rtl="1"/>
          </a:p>
          <a:p>
            <a:pPr algn="r" rtl="1"/>
            <a:r>
              <a:rPr sz="1200">
                <a:latin typeface="Arial"/>
              </a:rPr>
              <a:t>זהו תרשים של המחלקות המרכזיות ושל קשרי שימוש וקריאה, ולא תרשים מלא של כל המשתנים והירושות. מתחילים ב־DamkaFX שמרכזת את התנהגות הממשק. AccountView, BoardView ו־ProfileWindow מציגות את המסכים; אירועים חוזרים ל־DamkaFX באמצעות callbacks. RoomConnection מנהלת את חיבור ה־TCP, קריאת ההודעות וכתיבה לפי סדר.</a:t>
            </a:r>
          </a:p>
          <a:p>
            <a:pPr algn="r" rtl="1"/>
          </a:p>
          <a:p>
            <a:pPr algn="r" rtl="1"/>
            <a:r>
              <a:rPr sz="1200">
                <a:latin typeface="Arial"/>
              </a:rPr>
              <a:t>בשרת, DamkaServer מקבלת חיבורים ומנתבת בקשות מתוך handleClient. Room אחראית לחדר, לשני המשתתפים ולשידור מצב המשחק. handleMove מזהה את ההקשר ואת התור, ואז מעבירה את בדיקת חוקי הדמקה ל־Game.move. Game מחזיקה Board ונתוני שחקנים וכלים ומספקת גם getValidMoves ובדיקת מנצח. ProfileDatabase מטפלת בהרשמה, בהתחברות ובשמירת תוצאות; גם DamkaServer פונה אליה ישירות, למשל בזמן התחברות ובקשת פרופיל, ו־Room שומרת בה את תוצאת המשחק.</a:t>
            </a:r>
          </a:p>
          <a:p>
            <a:pPr algn="r" rtl="1"/>
          </a:p>
          <a:p>
            <a:pPr algn="r" rtl="1"/>
            <a:r>
              <a:rPr sz="1200">
                <a:latin typeface="Arial"/>
              </a:rPr>
              <a:t>במשחק המקומי DamkaFX מחזיקה Game משלה ומשתמשת ב־BotPlayer.findBestMove. החיפוש פועל על עותקים של Game. חשוב להדגיש: המחלקה Game משותפת כמימוש של הכללים, אבל אין אובייקט משחק יחיד שמשותף לכל המצבים. לכל חדר יש משחק נפרד; ל־BOT המקומי משחק נפרד; ובחיפוש נוצרים עותקים זמניים.</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מהלך אחד מקצה לקצה</a:t>
            </a:r>
          </a:p>
          <a:p>
            <a:pPr algn="r" rtl="1"/>
            <a:r>
              <a:rPr sz="1200">
                <a:latin typeface="Arial"/>
              </a:rPr>
              <a:t>זמן מומלץ: 75 שניות</a:t>
            </a:r>
          </a:p>
          <a:p>
            <a:pPr algn="r" rtl="1"/>
          </a:p>
          <a:p>
            <a:pPr algn="r" rtl="1"/>
            <a:r>
              <a:rPr sz="1200">
                <a:latin typeface="Arial"/>
              </a:rPr>
              <a:t>להתחיל מלחיצה על כלי וממשבצת היעד. DamkaFX שולחת דרך RoomConnection הודעת MOVE עם שורת ועמודת מקור ויעד. המספרים בדוגמה הם קואורדינטות שמתחילות באפס. השרת מזהה את השחקן לפי ה־Socket המאומת; Room בודקת את ההקשר ואת התור, ו־Game.move בודקת את חוקי הדמקה. בקשה לא חוקית מקבלת ERROR בלי לשנות את הלוח.</a:t>
            </a:r>
          </a:p>
          <a:p>
            <a:pPr algn="r" rtl="1"/>
          </a:p>
          <a:p>
            <a:pPr algn="r" rtl="1"/>
            <a:r>
              <a:rPr sz="1200">
                <a:latin typeface="Arial"/>
              </a:rPr>
              <a:t>כאשר המהלך מאושר, שני הלקוחות מקבלים בסדר זה MOVE_APPLIED, BOARD ו־TURN. הראשונה מאפשרת להנפיש את המהלך, השנייה מכילה תמונת לוח של 64 סימנים, והשלישית מציינת את התור. הלקוח משהה את הטיפול בהודעות המאוחרות בזמן האנימציה, ואז מציג את המצב המעודכן.</a:t>
            </a:r>
          </a:p>
          <a:p>
            <a:pPr algn="r" rtl="1"/>
          </a:p>
          <a:p>
            <a:pPr algn="r" rtl="1"/>
            <a:r>
              <a:rPr sz="1200">
                <a:latin typeface="Arial"/>
              </a:rPr>
              <a:t>TCP מעבירה זרם בתים ואינה מסמנת לבדה גבולות הודעה. בחרנו שורת טקסט לכל הודעה: println כותבת סוף שורה ו־readLine קוראת עד סוף שורה. הנקודה מייצגת תא ריק, x/o כלי רגיל ו־X/O מלך.</a:t>
            </a:r>
          </a:p>
          <a:p>
            <a:pPr algn="r" rtl="1"/>
          </a:p>
          <a:p>
            <a:pPr algn="r" rtl="1"/>
            <a:r>
              <a:rPr sz="1200">
                <a:latin typeface="Arial"/>
              </a:rPr>
              <a:t>הרשת נקראת בחוט רקע; כתיבה נעשית דרך עובד כתיבה יחיד ששומר סדר. Platform.runLater מעבירה עדכוני מסך לחוט JavaFX. חיפוש BOT במימוש הנוכחי מתבצע מחוט הממשק.</a:t>
            </a:r>
          </a:p>
          <a:p>
            <a:pPr algn="r" rtl="1"/>
            <a:r>
              <a:rPr sz="1200">
                <a:latin typeface="Arial"/>
              </a:rPr>
              <a:t>לקראת שאלה: הלקוח בוחר ומציג; הסמכות לאשר מהלך מקוון נמצאת בשרת.</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כללי המשחק ובחירת מהלך BOT</a:t>
            </a:r>
          </a:p>
          <a:p>
            <a:pPr algn="r" rtl="1"/>
            <a:r>
              <a:rPr sz="1200">
                <a:latin typeface="Arial"/>
              </a:rPr>
              <a:t>זמן מומלץ: 60 שניות</a:t>
            </a:r>
          </a:p>
          <a:p>
            <a:pPr algn="r" rtl="1"/>
          </a:p>
          <a:p>
            <a:pPr algn="r" rtl="1"/>
            <a:r>
              <a:rPr sz="1200">
                <a:latin typeface="Arial"/>
              </a:rPr>
              <a:t>הכללים מרוכזים ב־Game, ולכן השרת והמשחק מול BOT נשענים על אותו מנגנון של תנועה, אכילה, רצף אכילות והכתרה. BotPlayer מחפשת מהלך באמצעות Minimax עם גיזום Alpha-Beta. כל אפשרות נבדקת על עותק עצמאי של Game, כדי לא לשנות את המשחק הפעיל בזמן החיפוש.</a:t>
            </a:r>
          </a:p>
          <a:p>
            <a:pPr algn="r" rtl="1"/>
          </a:p>
          <a:p>
            <a:pPr algn="r" rtl="1"/>
            <a:r>
              <a:rPr sz="1200">
                <a:latin typeface="Arial"/>
              </a:rPr>
              <a:t>להסביר את המספרים מלמטה למעלה. כל ציון הוא מנקודת המבט של ה־BOT. במהלך A, היריב יכול לבחור בין ציון 3 לבין מינוס 3, ולכן MIN מחזירה מינוס 3. במהלך B, היריב יכול לבחור בין 0 לבין 3, ולכן MIN מחזירה 0. בשורש, ה־BOT משווה MAX בין מינוס 3 לבין 0 ובוחר במהלך B. התוצאה המספרית היא 0, והמהלך שנבחר הוא B, המסומן בירוק. 0 הוא ציון הערכה של מצב הלוח בעומק שנבדק; הוא אינו הודעה שהמשחק הסתיים בתיקו. הציונים בשקף הם המחשה קצרה, לא עקבה של משחק מסוים.</a:t>
            </a:r>
          </a:p>
          <a:p>
            <a:pPr algn="r" rtl="1"/>
          </a:p>
          <a:p>
            <a:pPr algn="r" rtl="1"/>
            <a:r>
              <a:rPr sz="1200">
                <a:latin typeface="Arial"/>
              </a:rPr>
              <a:t>ההערכה מבוססת על ערך כלי BOT פחות ערך כלי היריב: כלי רגיל 3, מלך 6. ניצחון או הפסד מקבלים ציון מכריע. רמות הקושי בוחרות עומק 1, 2 או 3; העומק נספר לפי צעד או קפיצה בודדת. ברצף אכילות אותו שחקן יכול להמשיך, ולכן החיפוש בודק מי השחקן הנוכחי ולא מחליף צד אוטומטית.</a:t>
            </a:r>
          </a:p>
          <a:p>
            <a:pPr algn="r" rtl="1"/>
          </a:p>
          <a:p>
            <a:pPr algn="r" rtl="1"/>
            <a:r>
              <a:rPr sz="1200">
                <a:latin typeface="Arial"/>
              </a:rPr>
              <a:t>Alpha-Beta מצמצמת ענפים שאינם יכולים לשפר את הבחירה בתוך החיפוש. אין צורך להיכנס להוכחה או להציג סיבוכיות בשקף.</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חשבונות ושמירת תוצאות</a:t>
            </a:r>
          </a:p>
          <a:p>
            <a:pPr algn="r" rtl="1"/>
            <a:r>
              <a:rPr sz="1200">
                <a:latin typeface="Arial"/>
              </a:rPr>
              <a:t>זמן מומלץ: 45 שניות</a:t>
            </a:r>
          </a:p>
          <a:p>
            <a:pPr algn="r" rtl="1"/>
          </a:p>
          <a:p>
            <a:pPr algn="r" rtl="1"/>
            <a:r>
              <a:rPr sz="1200">
                <a:latin typeface="Arial"/>
              </a:rPr>
              <a:t>השרת מטפל בהרשמה ובהתחברות ושומר את הנתונים בשתי טבלאות SQLite. profiles כוללת שם משתמש, תאריך יצירה, salt וגיבוב סיסמה; הסיסמה עצמה אינה נשמרת. בהתחברות מחשבים שוב גיבוב עם ה־salt השמור ומשווים אותו לערך שבמסד. המימוש משתמש ב־PBKDF2-HMAC-SHA256.</a:t>
            </a:r>
          </a:p>
          <a:p>
            <a:pPr algn="r" rtl="1"/>
          </a:p>
          <a:p>
            <a:pPr algn="r" rtl="1"/>
            <a:r>
              <a:rPr sz="1200">
                <a:latin typeface="Arial"/>
              </a:rPr>
              <a:t>game_results כוללת את פרטי המשחק ואת תוצאתו. אין טבלה נפרדת של מוני ניצחונות: הסטטיסטיקה מחושבת מתוצאות המשחקים. מזהה משחק ייחודי מונע שמירת אותה תוצאה פעמיים. בתצוגה יש הפרדה בין משחקים מקוונים למשחקי BOT, וההיסטוריה מציגה את 100 התוצאות האחרונות.</a:t>
            </a:r>
          </a:p>
          <a:p>
            <a:pPr algn="r" rtl="1"/>
          </a:p>
          <a:p>
            <a:pPr algn="r" rtl="1"/>
            <a:r>
              <a:rPr sz="1200">
                <a:latin typeface="Arial"/>
              </a:rPr>
              <a:t>תוצאה מקוונת נקבעת בשרת. תוצאת BOT מדווחת מהלקוח ונשלחת רק אם אותו חשבון ואותו חיבור נשארו פעילים מתחילת המשחק ועד סופו. גיבוב סיסמה במסד אינו מצפין את התקשורת ברשת.</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בדיקות ואימות המערכת</a:t>
            </a:r>
          </a:p>
          <a:p>
            <a:pPr algn="r" rtl="1"/>
            <a:r>
              <a:rPr sz="1200">
                <a:latin typeface="Arial"/>
              </a:rPr>
              <a:t>זמן מומלץ: 40 שניות</a:t>
            </a:r>
          </a:p>
          <a:p>
            <a:pPr algn="r" rtl="1"/>
          </a:p>
          <a:p>
            <a:pPr algn="r" rtl="1"/>
            <a:r>
              <a:rPr sz="1200">
                <a:latin typeface="Arial"/>
              </a:rPr>
              <a:t>הבדיקות מחולקות לשלוש שכבות: כללי המשחק, התקשורת ושמירת הנתונים. לתת שתי דוגמאות מוחשיות: מהלך מחוץ לתור נדחה והלוח נשאר ללא שינוי; שמירה חוזרת של מזהה תוצאה אינה מכפילה את הסטטיסטיקה. בדיקות TCP משתמשות בחיבורים אמיתיים ל־loopback, ובדיקות SQLite במסדים זמניים.</a:t>
            </a:r>
          </a:p>
          <a:p>
            <a:pPr algn="r" rtl="1"/>
          </a:p>
          <a:p>
            <a:pPr algn="r" rtl="1"/>
            <a:r>
              <a:rPr sz="1200">
                <a:latin typeface="Arial"/>
              </a:rPr>
              <a:t>בנוסף בוצעו הרצות ידניות עם שני חלונות לקוח. במהלך העבודה נבדקו הודעות שגיאה ואנימציות, ודווחו בעיות בתצוגת הודעה אחרי מהלך תקין ובמיקום האנימציה לאחר שינויי גודל. המספר 48 מבוסס על ההרצה המתועדת מ־12 באוקטובר 2026; אין להציג אותו כמדידה חדשה של היום.</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אתגרים ופתרונות</a:t>
            </a:r>
          </a:p>
          <a:p>
            <a:pPr algn="r" rtl="1"/>
            <a:r>
              <a:rPr sz="1200">
                <a:latin typeface="Arial"/>
              </a:rPr>
              <a:t>זמן מומלץ: 50 שניות</a:t>
            </a:r>
          </a:p>
          <a:p>
            <a:pPr algn="r" rtl="1"/>
          </a:p>
          <a:p>
            <a:pPr algn="r" rtl="1"/>
            <a:r>
              <a:rPr sz="1200">
                <a:latin typeface="Arial"/>
              </a:rPr>
              <a:t>האתגרים תואמים לפרק 12.2 בספר הפרויקט. תחילה נדרש ללמוד את כללי הדמקה: תנועה, אכילה מחייבת, רצף אכילות והכתרה, ולהגדיר מצבי משחק לבדיקת המימוש. JavaFX הייתה ספריית ממשק חדשה, ולכן היה צורך ללמוד איך לארגן רכיבים בחלון ואיך לחבר כפתורים ולחיצות על הלוח לפעולות.</a:t>
            </a:r>
          </a:p>
          <a:p>
            <a:pPr algn="r" rtl="1"/>
          </a:p>
          <a:p>
            <a:pPr algn="r" rtl="1"/>
            <a:r>
              <a:rPr sz="1200">
                <a:latin typeface="Arial"/>
              </a:rPr>
              <a:t>ב־TCP יושם לראשונה בפועל הידע התאורטי מקורס רשתות תקשורת, באמצעות חיבורים בין לקוחות לשרת והעברת הודעות משחק. בנוסף, המעבר מהניסיון המוכר בממשקי HTML ל־JavaFX דרש ללמוד דרך שונה לארגון הממשק ולטיפול באירועי המשתמש.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התרומה שלנו והשימוש ב־AI</a:t>
            </a:r>
          </a:p>
          <a:p>
            <a:pPr algn="r" rtl="1"/>
            <a:r>
              <a:rPr sz="1200">
                <a:latin typeface="Arial"/>
              </a:rPr>
              <a:t>זמן מומלץ: 55 שניות</a:t>
            </a:r>
          </a:p>
          <a:p>
            <a:pPr algn="r" rtl="1"/>
          </a:p>
          <a:p>
            <a:pPr algn="r" rtl="1"/>
            <a:r>
              <a:rPr sz="1200">
                <a:latin typeface="Arial"/>
              </a:rPr>
              <a:t>השקף מציג את תחומי האחריות שהוגדרו בפרויקט, בהתאם לפרק 11 בספר. תחום האחריות של רביע הוא לוגיקת המשחק: תנועה ואכילה, ניהול תורות והכתרה, וקביעת סיום המשחק והמנצח. תחום האחריות של מותנא הוא חיבור TCP בין לקוחות JavaFX לשרת: פתיחת חיבורים והעברת בקשות ותשובות לשמירת מצב משחק מסונכרן.</a:t>
            </a:r>
          </a:p>
          <a:p>
            <a:pPr algn="r" rtl="1"/>
          </a:p>
          <a:p>
            <a:pPr algn="r" rtl="1"/>
            <a:r>
              <a:rPr sz="1200">
                <a:latin typeface="Arial"/>
              </a:rPr>
              <a:t>בהתאם לפרק 10, נעשה שימוש נרחב ב־Codex וב־GitHub Copilot ללמידה ולתכנון, לכתיבת הקוד ולשינויו, לעיצוב הממשק ולהכנת בדיקות ותיעוד. תהליך העבודה כלל הגדרת דרישות, קבלת הצעות, קריאת הקוד וההסברים, הרצה ובדיקות והתאמות בהתאם לתוצאות. תחומי האחריות מתארים את חלוקת הנושאים; הם אינם טענה שכל הקוד בתחום נכתב באופן עצמאי ללא סיוע.</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סיכום ומסקנות</a:t>
            </a:r>
          </a:p>
          <a:p>
            <a:pPr algn="r" rtl="1"/>
            <a:r>
              <a:rPr sz="1200">
                <a:latin typeface="Arial"/>
              </a:rPr>
              <a:t>זמן מומלץ: 45 שניות</a:t>
            </a:r>
          </a:p>
          <a:p>
            <a:pPr algn="r" rtl="1"/>
          </a:p>
          <a:p>
            <a:pPr algn="r" rtl="1"/>
            <a:r>
              <a:rPr sz="1200">
                <a:latin typeface="Arial"/>
              </a:rPr>
              <a:t>לסכם בתוצר: שני לקוחות מסונכרנים, שרת שמאמת מהלכים, מנוע כללים משותף ונתונים שנשמרים בפרופיל. הלמידה המרכזית היא חיבור ידע תאורטי ברשתות לתקשורת מעשית, עבודה עם JavaFX והפרדת כללי משחק מהתצוגה.</a:t>
            </a:r>
          </a:p>
          <a:p>
            <a:pPr algn="r" rtl="1"/>
          </a:p>
          <a:p>
            <a:pPr algn="r" rtl="1"/>
            <a:r>
              <a:rPr sz="1200">
                <a:latin typeface="Arial"/>
              </a:rPr>
              <a:t>קישור המאגר מופיע בשקף וניתן ללחיצה. השקף מסכם את התוצר ואת הידע שנרכש; תחומי האחריות ותהליך העבודה עם AI הוצגו בשקף נפרד.</a:t>
            </a:r>
          </a:p>
          <a:p>
            <a:pPr algn="r" rtl="1"/>
          </a:p>
          <a:p>
            <a:pPr algn="r" rtl="1"/>
            <a:r>
              <a:rPr sz="1200">
                <a:latin typeface="Arial"/>
              </a:rPr>
              <a:t>כיוון פיתוח עתידי הוא צ׳אט בתוך החדר, דרך חיבורי TCP הקיימים והשרת. זו הצעה להמשך ולא יכולת קיימת.</a:t>
            </a:r>
          </a:p>
          <a:p>
            <a:pPr algn="r" rtl="1"/>
          </a:p>
          <a:p>
            <a:pPr algn="r" rtl="1"/>
            <a:r>
              <a:rPr sz="1200">
                <a:latin typeface="Arial"/>
              </a:rPr>
              <a:t>תקציב המצגת הוא 10 דקות לשקפים, 3 דקות להדגמה נפרדת ועוד 2 דקות לשאלות. לתרגל מראש תשובות: למה יש שרת? מתי נפתח Socket? מי מאשר מהלך? איך BOT בוחרת? איך נמנעת שמירה כפולה? מה ההבדל בין גיבוב סיסמה להצפנת התקשורת?</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תודה ושאלות</a:t>
            </a:r>
          </a:p>
          <a:p>
            <a:pPr algn="r" rtl="1"/>
            <a:r>
              <a:rPr sz="1200">
                <a:latin typeface="Arial"/>
              </a:rPr>
              <a:t>זמן מומלץ: 15 שניות</a:t>
            </a:r>
          </a:p>
          <a:p>
            <a:pPr algn="r" rtl="1"/>
          </a:p>
          <a:p>
            <a:pPr algn="r" rtl="1"/>
            <a:r>
              <a:rPr sz="1200">
                <a:latin typeface="Arial"/>
              </a:rPr>
              <a:t>להודות למנחה ולקהל ולהזמין שאלות. אפשר להשאיר את השקף מוצג בזמן הדיון. ההדגמה מוכנה בנפרד ואינה שקף במצגת.</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thannaFrhat/damka-game"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thannaFrhat/damka-game" TargetMode="External"/><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FINAL PROJECT PRESENTATION · OCTOBER 2026</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41832"/>
            <a:ext cx="11183112" cy="1051560"/>
          </a:xfrm>
          <a:prstGeom prst="rect">
            <a:avLst/>
          </a:prstGeom>
          <a:noFill/>
        </p:spPr>
        <p:txBody>
          <a:bodyPr wrap="square" lIns="0" rIns="0" tIns="0" bIns="0">
            <a:noAutofit/>
          </a:bodyPr>
          <a:lstStyle/>
          <a:p>
            <a:pPr algn="l">
              <a:lnSpc>
                <a:spcPct val="106000"/>
              </a:lnSpc>
              <a:spcBef>
                <a:spcPts val="0"/>
              </a:spcBef>
              <a:spcAft>
                <a:spcPts val="400"/>
              </a:spcAft>
              <a:defRPr sz="5600" b="1">
                <a:solidFill>
                  <a:srgbClr val="153B2D"/>
                </a:solidFill>
                <a:latin typeface="Arial"/>
              </a:defRPr>
            </a:pPr>
            <a:r>
              <a:t>Damka</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01 / 13</a:t>
            </a:r>
          </a:p>
        </p:txBody>
      </p:sp>
      <p:sp>
        <p:nvSpPr>
          <p:cNvPr id="10" name="TextBox 9"/>
          <p:cNvSpPr txBox="1"/>
          <p:nvPr/>
        </p:nvSpPr>
        <p:spPr>
          <a:xfrm>
            <a:off x="566928" y="2231136"/>
            <a:ext cx="5166360" cy="731520"/>
          </a:xfrm>
          <a:prstGeom prst="rect">
            <a:avLst/>
          </a:prstGeom>
          <a:noFill/>
        </p:spPr>
        <p:txBody>
          <a:bodyPr wrap="square" lIns="0" rIns="0" tIns="0" bIns="0">
            <a:noAutofit/>
          </a:bodyPr>
          <a:lstStyle/>
          <a:p>
            <a:pPr algn="l">
              <a:lnSpc>
                <a:spcPct val="106000"/>
              </a:lnSpc>
              <a:spcBef>
                <a:spcPts val="0"/>
              </a:spcBef>
              <a:spcAft>
                <a:spcPts val="400"/>
              </a:spcAft>
              <a:defRPr sz="3200" b="1">
                <a:solidFill>
                  <a:srgbClr val="153B2D"/>
                </a:solidFill>
                <a:latin typeface="Arial"/>
              </a:defRPr>
            </a:pPr>
            <a:r>
              <a:t>Checkers, connected.</a:t>
            </a:r>
          </a:p>
        </p:txBody>
      </p:sp>
      <p:sp>
        <p:nvSpPr>
          <p:cNvPr id="11" name="TextBox 10"/>
          <p:cNvSpPr txBox="1"/>
          <p:nvPr/>
        </p:nvSpPr>
        <p:spPr>
          <a:xfrm>
            <a:off x="566928" y="3310128"/>
            <a:ext cx="4983480" cy="1143000"/>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TCP multiplayer · Local BOT</a:t>
            </a:r>
          </a:p>
          <a:p>
            <a:pPr algn="l">
              <a:lnSpc>
                <a:spcPct val="106000"/>
              </a:lnSpc>
              <a:spcBef>
                <a:spcPts val="0"/>
              </a:spcBef>
              <a:spcAft>
                <a:spcPts val="400"/>
              </a:spcAft>
              <a:defRPr sz="2400" b="0">
                <a:solidFill>
                  <a:srgbClr val="425D50"/>
                </a:solidFill>
                <a:latin typeface="Arial"/>
              </a:defRPr>
            </a:pPr>
            <a:r>
              <a:t>Accounts, statistics and history</a:t>
            </a:r>
          </a:p>
        </p:txBody>
      </p:sp>
      <p:sp>
        <p:nvSpPr>
          <p:cNvPr id="12" name="Rounded Rectangle 11"/>
          <p:cNvSpPr/>
          <p:nvPr/>
        </p:nvSpPr>
        <p:spPr>
          <a:xfrm>
            <a:off x="5815584" y="1746504"/>
            <a:ext cx="5733288" cy="423367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05_online_game.png"/>
          <p:cNvPicPr>
            <a:picLocks noChangeAspect="1"/>
          </p:cNvPicPr>
          <p:nvPr/>
        </p:nvPicPr>
        <p:blipFill>
          <a:blip r:embed="rId2"/>
          <a:stretch>
            <a:fillRect/>
          </a:stretch>
        </p:blipFill>
        <p:spPr>
          <a:xfrm>
            <a:off x="5872106" y="1801368"/>
            <a:ext cx="5620242" cy="4123944"/>
          </a:xfrm>
          <a:prstGeom prst="rect">
            <a:avLst/>
          </a:prstGeom>
        </p:spPr>
      </p:pic>
      <p:sp>
        <p:nvSpPr>
          <p:cNvPr id="14" name="Rectangle 13"/>
          <p:cNvSpPr/>
          <p:nvPr/>
        </p:nvSpPr>
        <p:spPr>
          <a:xfrm>
            <a:off x="566928" y="4965192"/>
            <a:ext cx="4983480" cy="41148"/>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66928" y="5266944"/>
            <a:ext cx="4983480" cy="713232"/>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153B2D"/>
                </a:solidFill>
                <a:latin typeface="Arial"/>
              </a:defRPr>
            </a:pPr>
            <a:r>
              <a:t>Muthanna Farhat</a:t>
            </a:r>
          </a:p>
          <a:p>
            <a:pPr algn="l">
              <a:lnSpc>
                <a:spcPct val="106000"/>
              </a:lnSpc>
              <a:spcBef>
                <a:spcPts val="0"/>
              </a:spcBef>
              <a:spcAft>
                <a:spcPts val="400"/>
              </a:spcAft>
              <a:defRPr sz="2200" b="1">
                <a:solidFill>
                  <a:srgbClr val="153B2D"/>
                </a:solidFill>
                <a:latin typeface="Arial"/>
              </a:defRPr>
            </a:pPr>
            <a:r>
              <a:t>Rabea Abu Aad</a:t>
            </a:r>
          </a:p>
        </p:txBody>
      </p:sp>
      <p:sp>
        <p:nvSpPr>
          <p:cNvPr id="16" name="TextBox 15"/>
          <p:cNvSpPr txBox="1"/>
          <p:nvPr/>
        </p:nvSpPr>
        <p:spPr>
          <a:xfrm>
            <a:off x="566928" y="6053328"/>
            <a:ext cx="498348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Supervisor: Inbal Ronen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PROBLEM AND GOAL</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One game, two ways to play</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02 / 13</a:t>
            </a:r>
          </a:p>
        </p:txBody>
      </p:sp>
      <p:sp>
        <p:nvSpPr>
          <p:cNvPr id="10" name="TextBox 9"/>
          <p:cNvSpPr txBox="1"/>
          <p:nvPr/>
        </p:nvSpPr>
        <p:spPr>
          <a:xfrm>
            <a:off x="548640" y="1810512"/>
            <a:ext cx="10972800" cy="731520"/>
          </a:xfrm>
          <a:prstGeom prst="rect">
            <a:avLst/>
          </a:prstGeom>
          <a:noFill/>
        </p:spPr>
        <p:txBody>
          <a:bodyPr wrap="square" lIns="0" rIns="0" tIns="0" bIns="0">
            <a:noAutofit/>
          </a:bodyPr>
          <a:lstStyle/>
          <a:p>
            <a:pPr algn="l">
              <a:lnSpc>
                <a:spcPct val="106000"/>
              </a:lnSpc>
              <a:spcBef>
                <a:spcPts val="0"/>
              </a:spcBef>
              <a:spcAft>
                <a:spcPts val="400"/>
              </a:spcAft>
              <a:defRPr sz="2800" b="1">
                <a:solidFill>
                  <a:srgbClr val="153B2D"/>
                </a:solidFill>
                <a:latin typeface="Arial"/>
              </a:defRPr>
            </a:pPr>
            <a:r>
              <a:t>Keep both screens in sync — and remember the result.</a:t>
            </a:r>
          </a:p>
        </p:txBody>
      </p:sp>
      <p:sp>
        <p:nvSpPr>
          <p:cNvPr id="11" name="Rounded Rectangle 10"/>
          <p:cNvSpPr/>
          <p:nvPr/>
        </p:nvSpPr>
        <p:spPr>
          <a:xfrm>
            <a:off x="548640"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566928" y="2990088"/>
            <a:ext cx="41148" cy="188366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77240"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Online matches</a:t>
            </a:r>
          </a:p>
        </p:txBody>
      </p:sp>
      <p:sp>
        <p:nvSpPr>
          <p:cNvPr id="14" name="TextBox 13"/>
          <p:cNvSpPr txBox="1"/>
          <p:nvPr/>
        </p:nvSpPr>
        <p:spPr>
          <a:xfrm>
            <a:off x="777240"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Two computers</a:t>
            </a:r>
          </a:p>
          <a:p>
            <a:pPr algn="l">
              <a:lnSpc>
                <a:spcPct val="106000"/>
              </a:lnSpc>
              <a:spcBef>
                <a:spcPts val="0"/>
              </a:spcBef>
              <a:spcAft>
                <a:spcPts val="400"/>
              </a:spcAft>
              <a:defRPr sz="2400" b="0">
                <a:solidFill>
                  <a:srgbClr val="425D50"/>
                </a:solidFill>
                <a:latin typeface="Arial"/>
              </a:defRPr>
            </a:pPr>
            <a:r>
              <a:t>One room code</a:t>
            </a:r>
          </a:p>
        </p:txBody>
      </p:sp>
      <p:sp>
        <p:nvSpPr>
          <p:cNvPr id="15" name="Rounded Rectangle 14"/>
          <p:cNvSpPr/>
          <p:nvPr/>
        </p:nvSpPr>
        <p:spPr>
          <a:xfrm>
            <a:off x="4325112"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4343400" y="2990088"/>
            <a:ext cx="41148" cy="1883664"/>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553712"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Local BOT</a:t>
            </a:r>
          </a:p>
        </p:txBody>
      </p:sp>
      <p:sp>
        <p:nvSpPr>
          <p:cNvPr id="18" name="TextBox 17"/>
          <p:cNvSpPr txBox="1"/>
          <p:nvPr/>
        </p:nvSpPr>
        <p:spPr>
          <a:xfrm>
            <a:off x="4553712"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Three difficulty levels</a:t>
            </a:r>
          </a:p>
          <a:p>
            <a:pPr algn="l">
              <a:lnSpc>
                <a:spcPct val="106000"/>
              </a:lnSpc>
              <a:spcBef>
                <a:spcPts val="0"/>
              </a:spcBef>
              <a:spcAft>
                <a:spcPts val="400"/>
              </a:spcAft>
              <a:defRPr sz="2400" b="0">
                <a:solidFill>
                  <a:srgbClr val="425D50"/>
                </a:solidFill>
                <a:latin typeface="Arial"/>
              </a:defRPr>
            </a:pPr>
            <a:r>
              <a:t>Offline practice</a:t>
            </a:r>
          </a:p>
        </p:txBody>
      </p:sp>
      <p:sp>
        <p:nvSpPr>
          <p:cNvPr id="19" name="Rounded Rectangle 18"/>
          <p:cNvSpPr/>
          <p:nvPr/>
        </p:nvSpPr>
        <p:spPr>
          <a:xfrm>
            <a:off x="8110727"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8129015" y="2990088"/>
            <a:ext cx="41148" cy="188366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39327"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Personal profiles</a:t>
            </a:r>
          </a:p>
        </p:txBody>
      </p:sp>
      <p:sp>
        <p:nvSpPr>
          <p:cNvPr id="22" name="TextBox 21"/>
          <p:cNvSpPr txBox="1"/>
          <p:nvPr/>
        </p:nvSpPr>
        <p:spPr>
          <a:xfrm>
            <a:off x="8339327"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Statistics</a:t>
            </a:r>
          </a:p>
          <a:p>
            <a:pPr algn="l">
              <a:lnSpc>
                <a:spcPct val="106000"/>
              </a:lnSpc>
              <a:spcBef>
                <a:spcPts val="0"/>
              </a:spcBef>
              <a:spcAft>
                <a:spcPts val="400"/>
              </a:spcAft>
              <a:defRPr sz="2400" b="0">
                <a:solidFill>
                  <a:srgbClr val="425D50"/>
                </a:solidFill>
                <a:latin typeface="Arial"/>
              </a:defRPr>
            </a:pPr>
            <a:r>
              <a:t>Match history</a:t>
            </a:r>
          </a:p>
        </p:txBody>
      </p:sp>
      <p:sp>
        <p:nvSpPr>
          <p:cNvPr id="23" name="Rounded Rectangle 22"/>
          <p:cNvSpPr/>
          <p:nvPr/>
        </p:nvSpPr>
        <p:spPr>
          <a:xfrm>
            <a:off x="3474720" y="5577840"/>
            <a:ext cx="5212080" cy="347472"/>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566160" y="5632703"/>
            <a:ext cx="5029200" cy="228600"/>
          </a:xfrm>
          <a:prstGeom prst="rect">
            <a:avLst/>
          </a:prstGeom>
          <a:noFill/>
        </p:spPr>
        <p:txBody>
          <a:bodyPr wrap="square" lIns="0" rIns="0" tIns="0" bIns="0">
            <a:noAutofit/>
          </a:bodyPr>
          <a:lstStyle/>
          <a:p>
            <a:pPr algn="ctr">
              <a:lnSpc>
                <a:spcPct val="106000"/>
              </a:lnSpc>
              <a:spcBef>
                <a:spcPts val="0"/>
              </a:spcBef>
              <a:spcAft>
                <a:spcPts val="400"/>
              </a:spcAft>
              <a:defRPr sz="1600" b="1">
                <a:solidFill>
                  <a:srgbClr val="285942"/>
                </a:solidFill>
                <a:latin typeface="Arial"/>
              </a:defRPr>
            </a:pPr>
            <a:r>
              <a:t>One shared rules engine: Game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LANGUAGE AND TECHNOLOGIES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Built with Java — from interface to storage</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03 / 13</a:t>
            </a:r>
          </a:p>
        </p:txBody>
      </p:sp>
      <p:sp>
        <p:nvSpPr>
          <p:cNvPr id="10" name="Rounded Rectangle 9"/>
          <p:cNvSpPr/>
          <p:nvPr/>
        </p:nvSpPr>
        <p:spPr>
          <a:xfrm>
            <a:off x="548640" y="1938528"/>
            <a:ext cx="5431536" cy="159105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139696"/>
            <a:ext cx="41148" cy="1188720"/>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157984"/>
            <a:ext cx="4974336"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Java 17</a:t>
            </a:r>
          </a:p>
        </p:txBody>
      </p:sp>
      <p:sp>
        <p:nvSpPr>
          <p:cNvPr id="13" name="TextBox 12"/>
          <p:cNvSpPr txBox="1"/>
          <p:nvPr/>
        </p:nvSpPr>
        <p:spPr>
          <a:xfrm>
            <a:off x="777240" y="2898648"/>
            <a:ext cx="4974336" cy="475488"/>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Object-oriented game and server code</a:t>
            </a:r>
          </a:p>
        </p:txBody>
      </p:sp>
      <p:sp>
        <p:nvSpPr>
          <p:cNvPr id="14" name="Rounded Rectangle 13"/>
          <p:cNvSpPr/>
          <p:nvPr/>
        </p:nvSpPr>
        <p:spPr>
          <a:xfrm>
            <a:off x="6217920" y="1938528"/>
            <a:ext cx="5431536" cy="159105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6236207" y="2139696"/>
            <a:ext cx="41148" cy="1188720"/>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446520" y="2157984"/>
            <a:ext cx="4974336"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JavaFX + CSS</a:t>
            </a:r>
          </a:p>
        </p:txBody>
      </p:sp>
      <p:sp>
        <p:nvSpPr>
          <p:cNvPr id="17" name="TextBox 16"/>
          <p:cNvSpPr txBox="1"/>
          <p:nvPr/>
        </p:nvSpPr>
        <p:spPr>
          <a:xfrm>
            <a:off x="6446520" y="2898648"/>
            <a:ext cx="4974336" cy="475488"/>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Desktop screens, styling and animation</a:t>
            </a:r>
          </a:p>
        </p:txBody>
      </p:sp>
      <p:sp>
        <p:nvSpPr>
          <p:cNvPr id="18" name="Rounded Rectangle 17"/>
          <p:cNvSpPr/>
          <p:nvPr/>
        </p:nvSpPr>
        <p:spPr>
          <a:xfrm>
            <a:off x="548640" y="3813048"/>
            <a:ext cx="5431536" cy="159105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566928" y="4014215"/>
            <a:ext cx="41148" cy="1188720"/>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77240" y="4032504"/>
            <a:ext cx="4974336"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TCP / java.net</a:t>
            </a:r>
          </a:p>
        </p:txBody>
      </p:sp>
      <p:sp>
        <p:nvSpPr>
          <p:cNvPr id="21" name="TextBox 20"/>
          <p:cNvSpPr txBox="1"/>
          <p:nvPr/>
        </p:nvSpPr>
        <p:spPr>
          <a:xfrm>
            <a:off x="777240" y="4773168"/>
            <a:ext cx="4974336" cy="475488"/>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Socket / ServerSocket · UTF-8</a:t>
            </a:r>
          </a:p>
        </p:txBody>
      </p:sp>
      <p:sp>
        <p:nvSpPr>
          <p:cNvPr id="22" name="Rounded Rectangle 21"/>
          <p:cNvSpPr/>
          <p:nvPr/>
        </p:nvSpPr>
        <p:spPr>
          <a:xfrm>
            <a:off x="6217920" y="3813048"/>
            <a:ext cx="5431536" cy="159105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236207" y="4014215"/>
            <a:ext cx="41148" cy="1188720"/>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446520" y="4032504"/>
            <a:ext cx="4974336"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SQLite database</a:t>
            </a:r>
          </a:p>
        </p:txBody>
      </p:sp>
      <p:sp>
        <p:nvSpPr>
          <p:cNvPr id="25" name="TextBox 24"/>
          <p:cNvSpPr txBox="1"/>
          <p:nvPr/>
        </p:nvSpPr>
        <p:spPr>
          <a:xfrm>
            <a:off x="6446520" y="4773168"/>
            <a:ext cx="4974336" cy="475488"/>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Accounts, results and history</a:t>
            </a:r>
          </a:p>
        </p:txBody>
      </p:sp>
      <p:sp>
        <p:nvSpPr>
          <p:cNvPr id="26" name="TextBox 25"/>
          <p:cNvSpPr txBox="1"/>
          <p:nvPr/>
        </p:nvSpPr>
        <p:spPr>
          <a:xfrm>
            <a:off x="594360" y="5522976"/>
            <a:ext cx="10972800" cy="365760"/>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425D50"/>
                </a:solidFill>
                <a:latin typeface="Arial"/>
              </a:defRPr>
            </a:pPr>
            <a:r>
              <a:t>JDBC lets the server’s Java code read and write SQLite.</a:t>
            </a:r>
          </a:p>
        </p:txBody>
      </p:sp>
      <p:sp>
        <p:nvSpPr>
          <p:cNvPr id="27" name="Rounded Rectangle 26"/>
          <p:cNvSpPr/>
          <p:nvPr/>
        </p:nvSpPr>
        <p:spPr>
          <a:xfrm>
            <a:off x="777240" y="6035040"/>
            <a:ext cx="10634472" cy="347472"/>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868680" y="6089903"/>
            <a:ext cx="10451592" cy="228600"/>
          </a:xfrm>
          <a:prstGeom prst="rect">
            <a:avLst/>
          </a:prstGeom>
          <a:noFill/>
        </p:spPr>
        <p:txBody>
          <a:bodyPr wrap="square" lIns="0" rIns="0" tIns="0" bIns="0">
            <a:noAutofit/>
          </a:bodyPr>
          <a:lstStyle/>
          <a:p>
            <a:pPr algn="ctr">
              <a:lnSpc>
                <a:spcPct val="106000"/>
              </a:lnSpc>
              <a:spcBef>
                <a:spcPts val="0"/>
              </a:spcBef>
              <a:spcAft>
                <a:spcPts val="400"/>
              </a:spcAft>
              <a:defRPr sz="1600" b="1">
                <a:solidFill>
                  <a:srgbClr val="285942"/>
                </a:solidFill>
                <a:latin typeface="Arial"/>
              </a:defRPr>
            </a:pPr>
            <a:r>
              <a:t>Build: Gradle 8.8     Tests: JUnit 5     Version control: Git + GitHub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ARCHITECTURE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Why a client–server design?</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04 / 13</a:t>
            </a:r>
          </a:p>
        </p:txBody>
      </p:sp>
      <p:sp>
        <p:nvSpPr>
          <p:cNvPr id="10" name="Rounded Rectangle 9"/>
          <p:cNvSpPr/>
          <p:nvPr/>
        </p:nvSpPr>
        <p:spPr>
          <a:xfrm>
            <a:off x="548640" y="2057400"/>
            <a:ext cx="2880360"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258568"/>
            <a:ext cx="41148" cy="115214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Client A</a:t>
            </a:r>
          </a:p>
        </p:txBody>
      </p:sp>
      <p:sp>
        <p:nvSpPr>
          <p:cNvPr id="13" name="TextBox 12"/>
          <p:cNvSpPr txBox="1"/>
          <p:nvPr/>
        </p:nvSpPr>
        <p:spPr>
          <a:xfrm>
            <a:off x="777240"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JavaFX</a:t>
            </a:r>
          </a:p>
        </p:txBody>
      </p:sp>
      <p:sp>
        <p:nvSpPr>
          <p:cNvPr id="14" name="Rounded Rectangle 13"/>
          <p:cNvSpPr/>
          <p:nvPr/>
        </p:nvSpPr>
        <p:spPr>
          <a:xfrm>
            <a:off x="4599432" y="1874519"/>
            <a:ext cx="2999232" cy="1947672"/>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4617720" y="2075688"/>
            <a:ext cx="41148" cy="1545336"/>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828032" y="2093976"/>
            <a:ext cx="2542032"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Server</a:t>
            </a:r>
          </a:p>
        </p:txBody>
      </p:sp>
      <p:sp>
        <p:nvSpPr>
          <p:cNvPr id="17" name="TextBox 16"/>
          <p:cNvSpPr txBox="1"/>
          <p:nvPr/>
        </p:nvSpPr>
        <p:spPr>
          <a:xfrm>
            <a:off x="4828032" y="2834639"/>
            <a:ext cx="2542032" cy="832103"/>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Room → Game</a:t>
            </a:r>
          </a:p>
          <a:p>
            <a:pPr algn="l">
              <a:lnSpc>
                <a:spcPct val="106000"/>
              </a:lnSpc>
              <a:spcBef>
                <a:spcPts val="0"/>
              </a:spcBef>
              <a:spcAft>
                <a:spcPts val="400"/>
              </a:spcAft>
              <a:defRPr sz="2200" b="0">
                <a:solidFill>
                  <a:srgbClr val="425D50"/>
                </a:solidFill>
                <a:latin typeface="Arial"/>
              </a:defRPr>
            </a:pPr>
            <a:r>
              <a:t>Validate + sync</a:t>
            </a:r>
          </a:p>
        </p:txBody>
      </p:sp>
      <p:sp>
        <p:nvSpPr>
          <p:cNvPr id="18" name="Rounded Rectangle 17"/>
          <p:cNvSpPr/>
          <p:nvPr/>
        </p:nvSpPr>
        <p:spPr>
          <a:xfrm>
            <a:off x="8759952" y="2057400"/>
            <a:ext cx="2880360"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8778240" y="2258568"/>
            <a:ext cx="41148" cy="115214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88552"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Client B</a:t>
            </a:r>
          </a:p>
        </p:txBody>
      </p:sp>
      <p:sp>
        <p:nvSpPr>
          <p:cNvPr id="21" name="TextBox 20"/>
          <p:cNvSpPr txBox="1"/>
          <p:nvPr/>
        </p:nvSpPr>
        <p:spPr>
          <a:xfrm>
            <a:off x="8988552"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JavaFX</a:t>
            </a:r>
          </a:p>
        </p:txBody>
      </p:sp>
      <p:cxnSp>
        <p:nvCxnSpPr>
          <p:cNvPr id="22" name="Connector 21"/>
          <p:cNvCxnSpPr/>
          <p:nvPr/>
        </p:nvCxnSpPr>
        <p:spPr>
          <a:xfrm>
            <a:off x="3438144" y="2788920"/>
            <a:ext cx="1133856"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flipH="1">
            <a:off x="3438144" y="3090672"/>
            <a:ext cx="1133856"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7626096" y="2788920"/>
            <a:ext cx="1106424"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flipH="1">
            <a:off x="7626096" y="3090672"/>
            <a:ext cx="1106424"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3566160"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285942"/>
                </a:solidFill>
                <a:latin typeface="Arial"/>
              </a:defRPr>
            </a:pPr>
            <a:r>
              <a:t>TCP</a:t>
            </a:r>
          </a:p>
        </p:txBody>
      </p:sp>
      <p:sp>
        <p:nvSpPr>
          <p:cNvPr id="27" name="TextBox 26"/>
          <p:cNvSpPr txBox="1"/>
          <p:nvPr/>
        </p:nvSpPr>
        <p:spPr>
          <a:xfrm>
            <a:off x="7726679"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285942"/>
                </a:solidFill>
                <a:latin typeface="Arial"/>
              </a:defRPr>
            </a:pPr>
            <a:r>
              <a:t>TCP</a:t>
            </a:r>
          </a:p>
        </p:txBody>
      </p:sp>
      <p:cxnSp>
        <p:nvCxnSpPr>
          <p:cNvPr id="28" name="Connector 27"/>
          <p:cNvCxnSpPr/>
          <p:nvPr/>
        </p:nvCxnSpPr>
        <p:spPr>
          <a:xfrm>
            <a:off x="6099048" y="3840480"/>
            <a:ext cx="0" cy="54864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9" name="Rounded Rectangle 28"/>
          <p:cNvSpPr/>
          <p:nvPr/>
        </p:nvSpPr>
        <p:spPr>
          <a:xfrm>
            <a:off x="4498848" y="4434840"/>
            <a:ext cx="3200400" cy="822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681728" y="4672584"/>
            <a:ext cx="2834640" cy="45720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SQLite on the server</a:t>
            </a:r>
          </a:p>
        </p:txBody>
      </p:sp>
      <p:sp>
        <p:nvSpPr>
          <p:cNvPr id="31" name="TextBox 30"/>
          <p:cNvSpPr txBox="1"/>
          <p:nvPr/>
        </p:nvSpPr>
        <p:spPr>
          <a:xfrm>
            <a:off x="594360" y="5614416"/>
            <a:ext cx="8046720" cy="4114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Choice: persistent TCP for two-way updates</a:t>
            </a:r>
          </a:p>
        </p:txBody>
      </p:sp>
      <p:sp>
        <p:nvSpPr>
          <p:cNvPr id="32" name="TextBox 31"/>
          <p:cNvSpPr txBox="1"/>
          <p:nvPr/>
        </p:nvSpPr>
        <p:spPr>
          <a:xfrm>
            <a:off x="8366760" y="5650992"/>
            <a:ext cx="3246120" cy="365760"/>
          </a:xfrm>
          <a:prstGeom prst="rect">
            <a:avLst/>
          </a:prstGeom>
          <a:noFill/>
        </p:spPr>
        <p:txBody>
          <a:bodyPr wrap="square" lIns="0" rIns="0" tIns="0" bIns="0">
            <a:noAutofit/>
          </a:bodyPr>
          <a:lstStyle/>
          <a:p>
            <a:pPr algn="r">
              <a:lnSpc>
                <a:spcPct val="106000"/>
              </a:lnSpc>
              <a:spcBef>
                <a:spcPts val="0"/>
              </a:spcBef>
              <a:spcAft>
                <a:spcPts val="400"/>
              </a:spcAft>
              <a:defRPr sz="1700" b="0">
                <a:solidFill>
                  <a:srgbClr val="425D50"/>
                </a:solidFill>
                <a:latin typeface="Arial"/>
              </a:defRPr>
            </a:pPr>
            <a:r>
              <a:t>Alternative: HTTP polling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CODE STRUCTURE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Main classes and their responsibilities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05 / 13</a:t>
            </a:r>
          </a:p>
        </p:txBody>
      </p:sp>
      <p:sp>
        <p:nvSpPr>
          <p:cNvPr id="10" name="TextBox 9"/>
          <p:cNvSpPr txBox="1"/>
          <p:nvPr/>
        </p:nvSpPr>
        <p:spPr>
          <a:xfrm>
            <a:off x="594360" y="1810512"/>
            <a:ext cx="539496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CLIENT</a:t>
            </a:r>
          </a:p>
        </p:txBody>
      </p:sp>
      <p:sp>
        <p:nvSpPr>
          <p:cNvPr id="11" name="TextBox 10"/>
          <p:cNvSpPr txBox="1"/>
          <p:nvPr/>
        </p:nvSpPr>
        <p:spPr>
          <a:xfrm>
            <a:off x="6858000" y="1810512"/>
            <a:ext cx="475488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BD614A"/>
                </a:solidFill>
                <a:latin typeface="Arial"/>
              </a:defRPr>
            </a:pPr>
            <a:r>
              <a:t>SERVER</a:t>
            </a:r>
          </a:p>
        </p:txBody>
      </p:sp>
      <p:cxnSp>
        <p:nvCxnSpPr>
          <p:cNvPr id="12" name="Connector 11"/>
          <p:cNvCxnSpPr/>
          <p:nvPr/>
        </p:nvCxnSpPr>
        <p:spPr>
          <a:xfrm>
            <a:off x="3108960" y="2688336"/>
            <a:ext cx="338328" cy="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6035040" y="2688336"/>
            <a:ext cx="795528" cy="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9418320" y="2688336"/>
            <a:ext cx="338328" cy="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6071616" y="2221992"/>
            <a:ext cx="713232" cy="256032"/>
          </a:xfrm>
          <a:prstGeom prst="rect">
            <a:avLst/>
          </a:prstGeom>
          <a:noFill/>
        </p:spPr>
        <p:txBody>
          <a:bodyPr wrap="square" lIns="0" rIns="0" tIns="0" bIns="0">
            <a:noAutofit/>
          </a:bodyPr>
          <a:lstStyle/>
          <a:p>
            <a:pPr algn="ctr">
              <a:lnSpc>
                <a:spcPct val="106000"/>
              </a:lnSpc>
              <a:spcBef>
                <a:spcPts val="0"/>
              </a:spcBef>
              <a:spcAft>
                <a:spcPts val="400"/>
              </a:spcAft>
              <a:defRPr sz="1400" b="1">
                <a:solidFill>
                  <a:srgbClr val="285942"/>
                </a:solidFill>
                <a:latin typeface="Arial"/>
              </a:defRPr>
            </a:pPr>
            <a:r>
              <a:t>TCP</a:t>
            </a:r>
          </a:p>
        </p:txBody>
      </p:sp>
      <p:cxnSp>
        <p:nvCxnSpPr>
          <p:cNvPr id="16" name="Connector 15"/>
          <p:cNvCxnSpPr/>
          <p:nvPr/>
        </p:nvCxnSpPr>
        <p:spPr>
          <a:xfrm>
            <a:off x="1828800" y="3227832"/>
            <a:ext cx="0" cy="105156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a:off x="2779776" y="3227832"/>
            <a:ext cx="1380744" cy="105156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2788920" y="3602736"/>
            <a:ext cx="1645920" cy="274320"/>
          </a:xfrm>
          <a:prstGeom prst="rect">
            <a:avLst/>
          </a:prstGeom>
          <a:noFill/>
        </p:spPr>
        <p:txBody>
          <a:bodyPr wrap="square" lIns="0" rIns="0" tIns="0" bIns="0">
            <a:noAutofit/>
          </a:bodyPr>
          <a:lstStyle/>
          <a:p>
            <a:pPr algn="l">
              <a:lnSpc>
                <a:spcPct val="106000"/>
              </a:lnSpc>
              <a:spcBef>
                <a:spcPts val="0"/>
              </a:spcBef>
              <a:spcAft>
                <a:spcPts val="400"/>
              </a:spcAft>
              <a:defRPr sz="1400" b="0">
                <a:solidFill>
                  <a:srgbClr val="425D50"/>
                </a:solidFill>
                <a:latin typeface="Arial"/>
              </a:defRPr>
            </a:pPr>
            <a:r>
              <a:t>local BOT</a:t>
            </a:r>
          </a:p>
        </p:txBody>
      </p:sp>
      <p:cxnSp>
        <p:nvCxnSpPr>
          <p:cNvPr id="19" name="Connector 18"/>
          <p:cNvCxnSpPr/>
          <p:nvPr/>
        </p:nvCxnSpPr>
        <p:spPr>
          <a:xfrm>
            <a:off x="4754880" y="5504688"/>
            <a:ext cx="0" cy="13716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flipH="1">
            <a:off x="8851392" y="3227832"/>
            <a:ext cx="1188720" cy="1051560"/>
          </a:xfrm>
          <a:prstGeom prst="line">
            <a:avLst/>
          </a:prstGeom>
          <a:ln w="22860">
            <a:solidFill>
              <a:srgbClr val="BD614A"/>
            </a:solidFill>
            <a:tailEnd type="triangle"/>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8522208" y="3639312"/>
            <a:ext cx="1417320" cy="274320"/>
          </a:xfrm>
          <a:prstGeom prst="rect">
            <a:avLst/>
          </a:prstGeom>
          <a:noFill/>
        </p:spPr>
        <p:txBody>
          <a:bodyPr wrap="square" lIns="0" rIns="0" tIns="0" bIns="0">
            <a:noAutofit/>
          </a:bodyPr>
          <a:lstStyle/>
          <a:p>
            <a:pPr algn="l">
              <a:lnSpc>
                <a:spcPct val="106000"/>
              </a:lnSpc>
              <a:spcBef>
                <a:spcPts val="0"/>
              </a:spcBef>
              <a:spcAft>
                <a:spcPts val="400"/>
              </a:spcAft>
              <a:defRPr sz="1400" b="0">
                <a:solidFill>
                  <a:srgbClr val="425D50"/>
                </a:solidFill>
                <a:latin typeface="Arial"/>
              </a:defRPr>
            </a:pPr>
            <a:r>
              <a:t>save result</a:t>
            </a:r>
          </a:p>
        </p:txBody>
      </p:sp>
      <p:cxnSp>
        <p:nvCxnSpPr>
          <p:cNvPr id="22" name="Connector 21"/>
          <p:cNvCxnSpPr/>
          <p:nvPr/>
        </p:nvCxnSpPr>
        <p:spPr>
          <a:xfrm>
            <a:off x="8138160" y="3310128"/>
            <a:ext cx="0" cy="969264"/>
          </a:xfrm>
          <a:prstGeom prst="line">
            <a:avLst/>
          </a:prstGeom>
          <a:ln w="22860">
            <a:solidFill>
              <a:srgbClr val="BD614A"/>
            </a:solidFill>
            <a:tailEnd type="triangle"/>
          </a:ln>
          <a:effectLst/>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6931152" y="3657600"/>
            <a:ext cx="1051560" cy="274320"/>
          </a:xfrm>
          <a:prstGeom prst="rect">
            <a:avLst/>
          </a:prstGeom>
          <a:noFill/>
        </p:spPr>
        <p:txBody>
          <a:bodyPr wrap="square" lIns="0" rIns="0" tIns="0" bIns="0">
            <a:noAutofit/>
          </a:bodyPr>
          <a:lstStyle/>
          <a:p>
            <a:pPr algn="l">
              <a:lnSpc>
                <a:spcPct val="106000"/>
              </a:lnSpc>
              <a:spcBef>
                <a:spcPts val="0"/>
              </a:spcBef>
              <a:spcAft>
                <a:spcPts val="400"/>
              </a:spcAft>
              <a:defRPr sz="1400" b="0">
                <a:solidFill>
                  <a:srgbClr val="425D50"/>
                </a:solidFill>
                <a:latin typeface="Arial"/>
              </a:defRPr>
            </a:pPr>
            <a:r>
              <a:t>accounts</a:t>
            </a:r>
          </a:p>
        </p:txBody>
      </p:sp>
      <p:cxnSp>
        <p:nvCxnSpPr>
          <p:cNvPr id="24" name="Connector 23"/>
          <p:cNvCxnSpPr/>
          <p:nvPr/>
        </p:nvCxnSpPr>
        <p:spPr>
          <a:xfrm>
            <a:off x="10716768" y="3227832"/>
            <a:ext cx="0" cy="1051560"/>
          </a:xfrm>
          <a:prstGeom prst="line">
            <a:avLst/>
          </a:prstGeom>
          <a:ln w="22860">
            <a:solidFill>
              <a:srgbClr val="BD614A"/>
            </a:solidFill>
            <a:tailEnd type="triangle"/>
          </a:ln>
          <a:effectLst/>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548640" y="212140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667512" y="2267712"/>
            <a:ext cx="2322576"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Consolas"/>
              </a:defRPr>
            </a:pPr>
            <a:r>
              <a:t>DamkaFX</a:t>
            </a:r>
          </a:p>
        </p:txBody>
      </p:sp>
      <p:sp>
        <p:nvSpPr>
          <p:cNvPr id="27" name="TextBox 26"/>
          <p:cNvSpPr txBox="1"/>
          <p:nvPr/>
        </p:nvSpPr>
        <p:spPr>
          <a:xfrm>
            <a:off x="667512" y="277063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Actions + screen state</a:t>
            </a:r>
          </a:p>
        </p:txBody>
      </p:sp>
      <p:sp>
        <p:nvSpPr>
          <p:cNvPr id="28" name="Rounded Rectangle 27"/>
          <p:cNvSpPr/>
          <p:nvPr/>
        </p:nvSpPr>
        <p:spPr>
          <a:xfrm>
            <a:off x="3474720" y="212140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593591" y="2267712"/>
            <a:ext cx="2322576" cy="365760"/>
          </a:xfrm>
          <a:prstGeom prst="rect">
            <a:avLst/>
          </a:prstGeom>
          <a:noFill/>
        </p:spPr>
        <p:txBody>
          <a:bodyPr wrap="square" lIns="0" rIns="0" tIns="0" bIns="0">
            <a:noAutofit/>
          </a:bodyPr>
          <a:lstStyle/>
          <a:p>
            <a:pPr algn="l">
              <a:lnSpc>
                <a:spcPct val="106000"/>
              </a:lnSpc>
              <a:spcBef>
                <a:spcPts val="0"/>
              </a:spcBef>
              <a:spcAft>
                <a:spcPts val="400"/>
              </a:spcAft>
              <a:defRPr sz="2000" b="1">
                <a:solidFill>
                  <a:srgbClr val="285942"/>
                </a:solidFill>
                <a:latin typeface="Consolas"/>
              </a:defRPr>
            </a:pPr>
            <a:r>
              <a:t>RoomConnection</a:t>
            </a:r>
          </a:p>
        </p:txBody>
      </p:sp>
      <p:sp>
        <p:nvSpPr>
          <p:cNvPr id="30" name="TextBox 29"/>
          <p:cNvSpPr txBox="1"/>
          <p:nvPr/>
        </p:nvSpPr>
        <p:spPr>
          <a:xfrm>
            <a:off x="3593591" y="277063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connect() / send()</a:t>
            </a:r>
          </a:p>
        </p:txBody>
      </p:sp>
      <p:sp>
        <p:nvSpPr>
          <p:cNvPr id="31" name="Rounded Rectangle 30"/>
          <p:cNvSpPr/>
          <p:nvPr/>
        </p:nvSpPr>
        <p:spPr>
          <a:xfrm>
            <a:off x="6858000" y="212140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6976872" y="2267712"/>
            <a:ext cx="2322576" cy="365760"/>
          </a:xfrm>
          <a:prstGeom prst="rect">
            <a:avLst/>
          </a:prstGeom>
          <a:noFill/>
        </p:spPr>
        <p:txBody>
          <a:bodyPr wrap="square" lIns="0" rIns="0" tIns="0" bIns="0">
            <a:noAutofit/>
          </a:bodyPr>
          <a:lstStyle/>
          <a:p>
            <a:pPr algn="l">
              <a:lnSpc>
                <a:spcPct val="106000"/>
              </a:lnSpc>
              <a:spcBef>
                <a:spcPts val="0"/>
              </a:spcBef>
              <a:spcAft>
                <a:spcPts val="400"/>
              </a:spcAft>
              <a:defRPr sz="2100" b="1">
                <a:solidFill>
                  <a:srgbClr val="BD614A"/>
                </a:solidFill>
                <a:latin typeface="Consolas"/>
              </a:defRPr>
            </a:pPr>
            <a:r>
              <a:t>DamkaServer</a:t>
            </a:r>
          </a:p>
        </p:txBody>
      </p:sp>
      <p:sp>
        <p:nvSpPr>
          <p:cNvPr id="33" name="TextBox 32"/>
          <p:cNvSpPr txBox="1"/>
          <p:nvPr/>
        </p:nvSpPr>
        <p:spPr>
          <a:xfrm>
            <a:off x="6976872" y="277063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handleClient()</a:t>
            </a:r>
          </a:p>
        </p:txBody>
      </p:sp>
      <p:sp>
        <p:nvSpPr>
          <p:cNvPr id="34" name="Rounded Rectangle 33"/>
          <p:cNvSpPr/>
          <p:nvPr/>
        </p:nvSpPr>
        <p:spPr>
          <a:xfrm>
            <a:off x="9784080" y="2121408"/>
            <a:ext cx="1865376"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9902952" y="2267712"/>
            <a:ext cx="1627632"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BD614A"/>
                </a:solidFill>
                <a:latin typeface="Consolas"/>
              </a:defRPr>
            </a:pPr>
            <a:r>
              <a:t>Room</a:t>
            </a:r>
          </a:p>
        </p:txBody>
      </p:sp>
      <p:sp>
        <p:nvSpPr>
          <p:cNvPr id="36" name="TextBox 35"/>
          <p:cNvSpPr txBox="1"/>
          <p:nvPr/>
        </p:nvSpPr>
        <p:spPr>
          <a:xfrm>
            <a:off x="9902952" y="2770632"/>
            <a:ext cx="1627632"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handleMove()</a:t>
            </a:r>
          </a:p>
        </p:txBody>
      </p:sp>
      <p:sp>
        <p:nvSpPr>
          <p:cNvPr id="37" name="Rounded Rectangle 36"/>
          <p:cNvSpPr/>
          <p:nvPr/>
        </p:nvSpPr>
        <p:spPr>
          <a:xfrm>
            <a:off x="548640" y="431596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67512" y="4462272"/>
            <a:ext cx="2322576"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Consolas"/>
              </a:defRPr>
            </a:pPr>
            <a:r>
              <a:t>Views</a:t>
            </a:r>
          </a:p>
        </p:txBody>
      </p:sp>
      <p:sp>
        <p:nvSpPr>
          <p:cNvPr id="39" name="TextBox 38"/>
          <p:cNvSpPr txBox="1"/>
          <p:nvPr/>
        </p:nvSpPr>
        <p:spPr>
          <a:xfrm>
            <a:off x="667512" y="496519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BoardView / AccountView</a:t>
            </a:r>
          </a:p>
          <a:p>
            <a:pPr algn="l">
              <a:lnSpc>
                <a:spcPct val="106000"/>
              </a:lnSpc>
              <a:spcBef>
                <a:spcPts val="0"/>
              </a:spcBef>
              <a:spcAft>
                <a:spcPts val="400"/>
              </a:spcAft>
              <a:defRPr sz="1600" b="0">
                <a:solidFill>
                  <a:srgbClr val="425D50"/>
                </a:solidFill>
                <a:latin typeface="Arial"/>
              </a:defRPr>
            </a:pPr>
            <a:r>
              <a:t>ProfileWindow</a:t>
            </a:r>
          </a:p>
        </p:txBody>
      </p:sp>
      <p:sp>
        <p:nvSpPr>
          <p:cNvPr id="40" name="Rounded Rectangle 39"/>
          <p:cNvSpPr/>
          <p:nvPr/>
        </p:nvSpPr>
        <p:spPr>
          <a:xfrm>
            <a:off x="3474720" y="431596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3593591" y="4462272"/>
            <a:ext cx="2322576"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Consolas"/>
              </a:defRPr>
            </a:pPr>
            <a:r>
              <a:t>BotPlayer</a:t>
            </a:r>
          </a:p>
        </p:txBody>
      </p:sp>
      <p:sp>
        <p:nvSpPr>
          <p:cNvPr id="42" name="TextBox 41"/>
          <p:cNvSpPr txBox="1"/>
          <p:nvPr/>
        </p:nvSpPr>
        <p:spPr>
          <a:xfrm>
            <a:off x="3593591" y="496519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findBestMove()</a:t>
            </a:r>
          </a:p>
        </p:txBody>
      </p:sp>
      <p:sp>
        <p:nvSpPr>
          <p:cNvPr id="43" name="Rounded Rectangle 42"/>
          <p:cNvSpPr/>
          <p:nvPr/>
        </p:nvSpPr>
        <p:spPr>
          <a:xfrm>
            <a:off x="6858000" y="431596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976872" y="4462272"/>
            <a:ext cx="2322576" cy="365760"/>
          </a:xfrm>
          <a:prstGeom prst="rect">
            <a:avLst/>
          </a:prstGeom>
          <a:noFill/>
        </p:spPr>
        <p:txBody>
          <a:bodyPr wrap="square" lIns="0" rIns="0" tIns="0" bIns="0">
            <a:noAutofit/>
          </a:bodyPr>
          <a:lstStyle/>
          <a:p>
            <a:pPr algn="l">
              <a:lnSpc>
                <a:spcPct val="106000"/>
              </a:lnSpc>
              <a:spcBef>
                <a:spcPts val="0"/>
              </a:spcBef>
              <a:spcAft>
                <a:spcPts val="400"/>
              </a:spcAft>
              <a:defRPr sz="2000" b="1">
                <a:solidFill>
                  <a:srgbClr val="BD614A"/>
                </a:solidFill>
                <a:latin typeface="Consolas"/>
              </a:defRPr>
            </a:pPr>
            <a:r>
              <a:t>ProfileDatabase</a:t>
            </a:r>
          </a:p>
        </p:txBody>
      </p:sp>
      <p:sp>
        <p:nvSpPr>
          <p:cNvPr id="45" name="TextBox 44"/>
          <p:cNvSpPr txBox="1"/>
          <p:nvPr/>
        </p:nvSpPr>
        <p:spPr>
          <a:xfrm>
            <a:off x="6976872" y="496519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Accounts + SQL</a:t>
            </a:r>
          </a:p>
        </p:txBody>
      </p:sp>
      <p:sp>
        <p:nvSpPr>
          <p:cNvPr id="46" name="Rounded Rectangle 45"/>
          <p:cNvSpPr/>
          <p:nvPr/>
        </p:nvSpPr>
        <p:spPr>
          <a:xfrm>
            <a:off x="9784080" y="4315968"/>
            <a:ext cx="1865376"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9902952" y="4462272"/>
            <a:ext cx="1627632" cy="36576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285942"/>
                </a:solidFill>
                <a:latin typeface="Consolas"/>
              </a:defRPr>
            </a:pPr>
            <a:r>
              <a:t>Game · room</a:t>
            </a:r>
          </a:p>
        </p:txBody>
      </p:sp>
      <p:sp>
        <p:nvSpPr>
          <p:cNvPr id="48" name="TextBox 47"/>
          <p:cNvSpPr txBox="1"/>
          <p:nvPr/>
        </p:nvSpPr>
        <p:spPr>
          <a:xfrm>
            <a:off x="9902952" y="4965192"/>
            <a:ext cx="1627632"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move()</a:t>
            </a:r>
          </a:p>
          <a:p>
            <a:pPr algn="l">
              <a:lnSpc>
                <a:spcPct val="106000"/>
              </a:lnSpc>
              <a:spcBef>
                <a:spcPts val="0"/>
              </a:spcBef>
              <a:spcAft>
                <a:spcPts val="400"/>
              </a:spcAft>
              <a:defRPr sz="1600" b="0">
                <a:solidFill>
                  <a:srgbClr val="425D50"/>
                </a:solidFill>
                <a:latin typeface="Arial"/>
              </a:defRPr>
            </a:pPr>
            <a:r>
              <a:t>getValidMoves()</a:t>
            </a:r>
          </a:p>
        </p:txBody>
      </p:sp>
      <p:sp>
        <p:nvSpPr>
          <p:cNvPr id="49" name="Rounded Rectangle 48"/>
          <p:cNvSpPr/>
          <p:nvPr/>
        </p:nvSpPr>
        <p:spPr>
          <a:xfrm>
            <a:off x="3474720" y="5650992"/>
            <a:ext cx="2560320" cy="365760"/>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3566160" y="5724144"/>
            <a:ext cx="2377440" cy="237744"/>
          </a:xfrm>
          <a:prstGeom prst="rect">
            <a:avLst/>
          </a:prstGeom>
          <a:noFill/>
        </p:spPr>
        <p:txBody>
          <a:bodyPr wrap="square" lIns="0" rIns="0" tIns="0" bIns="0">
            <a:noAutofit/>
          </a:bodyPr>
          <a:lstStyle/>
          <a:p>
            <a:pPr algn="l">
              <a:lnSpc>
                <a:spcPct val="106000"/>
              </a:lnSpc>
              <a:spcBef>
                <a:spcPts val="0"/>
              </a:spcBef>
              <a:spcAft>
                <a:spcPts val="400"/>
              </a:spcAft>
              <a:defRPr sz="1600" b="1">
                <a:solidFill>
                  <a:srgbClr val="285942"/>
                </a:solidFill>
                <a:latin typeface="Consolas"/>
              </a:defRPr>
            </a:pPr>
            <a:r>
              <a:t>Game · BOT / copies</a:t>
            </a:r>
          </a:p>
        </p:txBody>
      </p:sp>
      <p:sp>
        <p:nvSpPr>
          <p:cNvPr id="51" name="TextBox 50"/>
          <p:cNvSpPr txBox="1"/>
          <p:nvPr/>
        </p:nvSpPr>
        <p:spPr>
          <a:xfrm>
            <a:off x="6858000" y="5715000"/>
            <a:ext cx="4754880" cy="274320"/>
          </a:xfrm>
          <a:prstGeom prst="rect">
            <a:avLst/>
          </a:prstGeom>
          <a:noFill/>
        </p:spPr>
        <p:txBody>
          <a:bodyPr wrap="square" lIns="0" rIns="0" tIns="0" bIns="0">
            <a:noAutofit/>
          </a:bodyPr>
          <a:lstStyle/>
          <a:p>
            <a:pPr algn="l">
              <a:lnSpc>
                <a:spcPct val="106000"/>
              </a:lnSpc>
              <a:spcBef>
                <a:spcPts val="0"/>
              </a:spcBef>
              <a:spcAft>
                <a:spcPts val="400"/>
              </a:spcAft>
              <a:defRPr sz="1500" b="0">
                <a:solidFill>
                  <a:srgbClr val="425D50"/>
                </a:solidFill>
                <a:latin typeface="Arial"/>
              </a:defRPr>
            </a:pPr>
            <a:r>
              <a:t>State: Board, Piece, Player, Position</a:t>
            </a:r>
          </a:p>
        </p:txBody>
      </p:sp>
      <p:sp>
        <p:nvSpPr>
          <p:cNvPr id="52" name="TextBox 51"/>
          <p:cNvSpPr txBox="1"/>
          <p:nvPr/>
        </p:nvSpPr>
        <p:spPr>
          <a:xfrm>
            <a:off x="594360" y="5724144"/>
            <a:ext cx="2560320" cy="274320"/>
          </a:xfrm>
          <a:prstGeom prst="rect">
            <a:avLst/>
          </a:prstGeom>
          <a:noFill/>
        </p:spPr>
        <p:txBody>
          <a:bodyPr wrap="square" lIns="0" rIns="0" tIns="0" bIns="0">
            <a:noAutofit/>
          </a:bodyPr>
          <a:lstStyle/>
          <a:p>
            <a:pPr algn="l">
              <a:lnSpc>
                <a:spcPct val="106000"/>
              </a:lnSpc>
              <a:spcBef>
                <a:spcPts val="0"/>
              </a:spcBef>
              <a:spcAft>
                <a:spcPts val="400"/>
              </a:spcAft>
              <a:defRPr sz="1400" b="0">
                <a:solidFill>
                  <a:srgbClr val="425D50"/>
                </a:solidFill>
                <a:latin typeface="Arial"/>
              </a:defRPr>
            </a:pPr>
            <a:r>
              <a:t>Arrows: uses / calls</a:t>
            </a:r>
          </a:p>
        </p:txBody>
      </p:sp>
      <p:sp>
        <p:nvSpPr>
          <p:cNvPr id="53" name="Rounded Rectangle 52"/>
          <p:cNvSpPr/>
          <p:nvPr/>
        </p:nvSpPr>
        <p:spPr>
          <a:xfrm>
            <a:off x="594360" y="6062472"/>
            <a:ext cx="11018520" cy="347472"/>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685800" y="6117336"/>
            <a:ext cx="10835640" cy="228600"/>
          </a:xfrm>
          <a:prstGeom prst="rect">
            <a:avLst/>
          </a:prstGeom>
          <a:noFill/>
        </p:spPr>
        <p:txBody>
          <a:bodyPr wrap="square" lIns="0" rIns="0" tIns="0" bIns="0">
            <a:noAutofit/>
          </a:bodyPr>
          <a:lstStyle/>
          <a:p>
            <a:pPr algn="ctr">
              <a:lnSpc>
                <a:spcPct val="106000"/>
              </a:lnSpc>
              <a:spcBef>
                <a:spcPts val="0"/>
              </a:spcBef>
              <a:spcAft>
                <a:spcPts val="400"/>
              </a:spcAft>
              <a:defRPr sz="1600" b="1">
                <a:solidFill>
                  <a:srgbClr val="285942"/>
                </a:solidFill>
                <a:latin typeface="Arial"/>
              </a:defRPr>
            </a:pPr>
            <a:r>
              <a:t>Game rules are reused; rooms, local BOT and search use separate game instances.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TCP MOVE FLOW</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From a click to both screens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06 / 13</a:t>
            </a:r>
          </a:p>
        </p:txBody>
      </p:sp>
      <p:sp>
        <p:nvSpPr>
          <p:cNvPr id="10" name="Rounded Rectangle 9"/>
          <p:cNvSpPr/>
          <p:nvPr/>
        </p:nvSpPr>
        <p:spPr>
          <a:xfrm>
            <a:off x="548640" y="1856231"/>
            <a:ext cx="2788920" cy="35112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77240" y="2112264"/>
            <a:ext cx="233172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Client A</a:t>
            </a:r>
          </a:p>
        </p:txBody>
      </p:sp>
      <p:sp>
        <p:nvSpPr>
          <p:cNvPr id="12" name="TextBox 11"/>
          <p:cNvSpPr txBox="1"/>
          <p:nvPr/>
        </p:nvSpPr>
        <p:spPr>
          <a:xfrm>
            <a:off x="777240" y="2843784"/>
            <a:ext cx="2331720" cy="9418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153B2D"/>
                </a:solidFill>
                <a:latin typeface="Arial"/>
              </a:defRPr>
            </a:pPr>
            <a:r>
              <a:t>Select a piece</a:t>
            </a:r>
          </a:p>
          <a:p>
            <a:pPr algn="l">
              <a:lnSpc>
                <a:spcPct val="106000"/>
              </a:lnSpc>
              <a:spcBef>
                <a:spcPts val="0"/>
              </a:spcBef>
              <a:spcAft>
                <a:spcPts val="400"/>
              </a:spcAft>
              <a:defRPr sz="2400" b="0">
                <a:solidFill>
                  <a:srgbClr val="153B2D"/>
                </a:solidFill>
                <a:latin typeface="Arial"/>
              </a:defRPr>
            </a:pPr>
            <a:r>
              <a:t>and destination</a:t>
            </a:r>
          </a:p>
        </p:txBody>
      </p:sp>
      <p:sp>
        <p:nvSpPr>
          <p:cNvPr id="13" name="Rounded Rectangle 12"/>
          <p:cNvSpPr/>
          <p:nvPr/>
        </p:nvSpPr>
        <p:spPr>
          <a:xfrm>
            <a:off x="777240" y="4206240"/>
            <a:ext cx="2331720" cy="685800"/>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77824" y="4416552"/>
            <a:ext cx="2130552" cy="365760"/>
          </a:xfrm>
          <a:prstGeom prst="rect">
            <a:avLst/>
          </a:prstGeom>
          <a:noFill/>
        </p:spPr>
        <p:txBody>
          <a:bodyPr wrap="square" lIns="0" rIns="0" tIns="0" bIns="0">
            <a:noAutofit/>
          </a:bodyPr>
          <a:lstStyle/>
          <a:p>
            <a:pPr algn="ctr">
              <a:lnSpc>
                <a:spcPct val="106000"/>
              </a:lnSpc>
              <a:spcBef>
                <a:spcPts val="0"/>
              </a:spcBef>
              <a:spcAft>
                <a:spcPts val="400"/>
              </a:spcAft>
              <a:defRPr sz="2100" b="1">
                <a:solidFill>
                  <a:srgbClr val="153B2D"/>
                </a:solidFill>
                <a:latin typeface="Consolas"/>
              </a:defRPr>
            </a:pPr>
            <a:r>
              <a:t>MOVE 5 0 4 1</a:t>
            </a:r>
          </a:p>
        </p:txBody>
      </p:sp>
      <p:cxnSp>
        <p:nvCxnSpPr>
          <p:cNvPr id="15" name="Connector 14"/>
          <p:cNvCxnSpPr/>
          <p:nvPr/>
        </p:nvCxnSpPr>
        <p:spPr>
          <a:xfrm>
            <a:off x="3383280" y="3584448"/>
            <a:ext cx="621792" cy="0"/>
          </a:xfrm>
          <a:prstGeom prst="line">
            <a:avLst/>
          </a:prstGeom>
          <a:ln w="3048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ounded Rectangle 15"/>
          <p:cNvSpPr/>
          <p:nvPr/>
        </p:nvSpPr>
        <p:spPr>
          <a:xfrm>
            <a:off x="4069080" y="1856231"/>
            <a:ext cx="3611880" cy="3511296"/>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315968" y="2112264"/>
            <a:ext cx="310896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Server</a:t>
            </a:r>
          </a:p>
        </p:txBody>
      </p:sp>
      <p:sp>
        <p:nvSpPr>
          <p:cNvPr id="18" name="TextBox 17"/>
          <p:cNvSpPr txBox="1"/>
          <p:nvPr/>
        </p:nvSpPr>
        <p:spPr>
          <a:xfrm>
            <a:off x="4315968" y="2880360"/>
            <a:ext cx="3108960" cy="1024128"/>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Room: identity + turn</a:t>
            </a:r>
          </a:p>
          <a:p>
            <a:pPr algn="l">
              <a:lnSpc>
                <a:spcPct val="106000"/>
              </a:lnSpc>
              <a:spcBef>
                <a:spcPts val="0"/>
              </a:spcBef>
              <a:spcAft>
                <a:spcPts val="400"/>
              </a:spcAft>
              <a:defRPr sz="2300" b="0">
                <a:solidFill>
                  <a:srgbClr val="153B2D"/>
                </a:solidFill>
                <a:latin typeface="Arial"/>
              </a:defRPr>
            </a:pPr>
            <a:r>
              <a:t>Game: check move rules</a:t>
            </a:r>
          </a:p>
        </p:txBody>
      </p:sp>
      <p:sp>
        <p:nvSpPr>
          <p:cNvPr id="19" name="Rounded Rectangle 18"/>
          <p:cNvSpPr/>
          <p:nvPr/>
        </p:nvSpPr>
        <p:spPr>
          <a:xfrm>
            <a:off x="4315968" y="4224528"/>
            <a:ext cx="3127248" cy="685800"/>
          </a:xfrm>
          <a:prstGeom prst="roundRect">
            <a:avLst>
              <a:gd name="adj" fmla="val 12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4434840" y="4443984"/>
            <a:ext cx="2889504" cy="365760"/>
          </a:xfrm>
          <a:prstGeom prst="rect">
            <a:avLst/>
          </a:prstGeom>
          <a:noFill/>
        </p:spPr>
        <p:txBody>
          <a:bodyPr wrap="square" lIns="0" rIns="0" tIns="0" bIns="0">
            <a:noAutofit/>
          </a:bodyPr>
          <a:lstStyle/>
          <a:p>
            <a:pPr algn="ctr">
              <a:lnSpc>
                <a:spcPct val="106000"/>
              </a:lnSpc>
              <a:spcBef>
                <a:spcPts val="0"/>
              </a:spcBef>
              <a:spcAft>
                <a:spcPts val="400"/>
              </a:spcAft>
              <a:defRPr sz="1800" b="1">
                <a:solidFill>
                  <a:srgbClr val="153B2D"/>
                </a:solidFill>
                <a:latin typeface="Consolas"/>
              </a:defRPr>
            </a:pPr>
            <a:r>
              <a:t>game.move(from, to)</a:t>
            </a:r>
          </a:p>
        </p:txBody>
      </p:sp>
      <p:cxnSp>
        <p:nvCxnSpPr>
          <p:cNvPr id="21" name="Connector 20"/>
          <p:cNvCxnSpPr/>
          <p:nvPr/>
        </p:nvCxnSpPr>
        <p:spPr>
          <a:xfrm>
            <a:off x="7726679" y="3584448"/>
            <a:ext cx="612648" cy="0"/>
          </a:xfrm>
          <a:prstGeom prst="line">
            <a:avLst/>
          </a:prstGeom>
          <a:ln w="3048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2" name="Rounded Rectangle 21"/>
          <p:cNvSpPr/>
          <p:nvPr/>
        </p:nvSpPr>
        <p:spPr>
          <a:xfrm>
            <a:off x="8412480" y="1856231"/>
            <a:ext cx="3227832" cy="35112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50224" y="2112264"/>
            <a:ext cx="274320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Both clients</a:t>
            </a:r>
          </a:p>
        </p:txBody>
      </p:sp>
      <p:sp>
        <p:nvSpPr>
          <p:cNvPr id="24" name="TextBox 23"/>
          <p:cNvSpPr txBox="1"/>
          <p:nvPr/>
        </p:nvSpPr>
        <p:spPr>
          <a:xfrm>
            <a:off x="8650224" y="2697480"/>
            <a:ext cx="274320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Accepted move</a:t>
            </a:r>
          </a:p>
        </p:txBody>
      </p:sp>
      <p:sp>
        <p:nvSpPr>
          <p:cNvPr id="25" name="TextBox 24"/>
          <p:cNvSpPr txBox="1"/>
          <p:nvPr/>
        </p:nvSpPr>
        <p:spPr>
          <a:xfrm>
            <a:off x="8650224" y="3200400"/>
            <a:ext cx="2743200" cy="13258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285942"/>
                </a:solidFill>
                <a:latin typeface="Consolas"/>
              </a:defRPr>
            </a:pPr>
            <a:r>
              <a:t>1  MOVE_APPLIED</a:t>
            </a:r>
          </a:p>
          <a:p>
            <a:pPr algn="l">
              <a:lnSpc>
                <a:spcPct val="106000"/>
              </a:lnSpc>
              <a:spcBef>
                <a:spcPts val="0"/>
              </a:spcBef>
              <a:spcAft>
                <a:spcPts val="400"/>
              </a:spcAft>
              <a:defRPr sz="2300" b="1">
                <a:solidFill>
                  <a:srgbClr val="285942"/>
                </a:solidFill>
                <a:latin typeface="Consolas"/>
              </a:defRPr>
            </a:pPr>
            <a:r>
              <a:t>2  BOARD</a:t>
            </a:r>
          </a:p>
          <a:p>
            <a:pPr algn="l">
              <a:lnSpc>
                <a:spcPct val="106000"/>
              </a:lnSpc>
              <a:spcBef>
                <a:spcPts val="0"/>
              </a:spcBef>
              <a:spcAft>
                <a:spcPts val="400"/>
              </a:spcAft>
              <a:defRPr sz="2300" b="1">
                <a:solidFill>
                  <a:srgbClr val="285942"/>
                </a:solidFill>
                <a:latin typeface="Consolas"/>
              </a:defRPr>
            </a:pPr>
            <a:r>
              <a:t>3  TURN</a:t>
            </a:r>
          </a:p>
        </p:txBody>
      </p:sp>
      <p:sp>
        <p:nvSpPr>
          <p:cNvPr id="26" name="TextBox 25"/>
          <p:cNvSpPr txBox="1"/>
          <p:nvPr/>
        </p:nvSpPr>
        <p:spPr>
          <a:xfrm>
            <a:off x="8650224" y="4645152"/>
            <a:ext cx="2743200" cy="676656"/>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425D50"/>
                </a:solidFill>
                <a:latin typeface="Arial"/>
              </a:defRPr>
            </a:pPr>
            <a:r>
              <a:t>Animate → display</a:t>
            </a:r>
          </a:p>
          <a:p>
            <a:pPr algn="l">
              <a:lnSpc>
                <a:spcPct val="106000"/>
              </a:lnSpc>
              <a:spcBef>
                <a:spcPts val="0"/>
              </a:spcBef>
              <a:spcAft>
                <a:spcPts val="400"/>
              </a:spcAft>
              <a:defRPr sz="2000" b="0">
                <a:solidFill>
                  <a:srgbClr val="425D50"/>
                </a:solidFill>
                <a:latin typeface="Arial"/>
              </a:defRPr>
            </a:pPr>
            <a:r>
              <a:t>the accepted state</a:t>
            </a:r>
          </a:p>
        </p:txBody>
      </p:sp>
      <p:sp>
        <p:nvSpPr>
          <p:cNvPr id="27" name="TextBox 26"/>
          <p:cNvSpPr txBox="1"/>
          <p:nvPr/>
        </p:nvSpPr>
        <p:spPr>
          <a:xfrm>
            <a:off x="594360" y="5687568"/>
            <a:ext cx="10972800" cy="43891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UTF-8 · one message per line · network work off the UI thread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BOT DECISION</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Minimax: how the BOT chooses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07 / 13</a:t>
            </a:r>
          </a:p>
        </p:txBody>
      </p:sp>
      <p:sp>
        <p:nvSpPr>
          <p:cNvPr id="10" name="Rounded Rectangle 9"/>
          <p:cNvSpPr/>
          <p:nvPr/>
        </p:nvSpPr>
        <p:spPr>
          <a:xfrm>
            <a:off x="548640" y="1874519"/>
            <a:ext cx="4114800" cy="409651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04672" y="2157984"/>
            <a:ext cx="3611880" cy="8229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Shared game rules</a:t>
            </a:r>
          </a:p>
        </p:txBody>
      </p:sp>
      <p:sp>
        <p:nvSpPr>
          <p:cNvPr id="12" name="TextBox 11"/>
          <p:cNvSpPr txBox="1"/>
          <p:nvPr/>
        </p:nvSpPr>
        <p:spPr>
          <a:xfrm>
            <a:off x="804672" y="2971800"/>
            <a:ext cx="3611880" cy="22860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Legal moves on copies</a:t>
            </a:r>
          </a:p>
          <a:p>
            <a:pPr algn="l">
              <a:lnSpc>
                <a:spcPct val="106000"/>
              </a:lnSpc>
              <a:spcBef>
                <a:spcPts val="0"/>
              </a:spcBef>
              <a:spcAft>
                <a:spcPts val="400"/>
              </a:spcAft>
              <a:defRPr sz="2300" b="0">
                <a:solidFill>
                  <a:srgbClr val="153B2D"/>
                </a:solidFill>
                <a:latin typeface="Arial"/>
              </a:defRPr>
            </a:pPr>
          </a:p>
          <a:p>
            <a:pPr algn="l">
              <a:lnSpc>
                <a:spcPct val="106000"/>
              </a:lnSpc>
              <a:spcBef>
                <a:spcPts val="0"/>
              </a:spcBef>
              <a:spcAft>
                <a:spcPts val="400"/>
              </a:spcAft>
              <a:defRPr sz="2300" b="0">
                <a:solidFill>
                  <a:srgbClr val="153B2D"/>
                </a:solidFill>
                <a:latin typeface="Arial"/>
              </a:defRPr>
            </a:pPr>
            <a:r>
              <a:t>Piece = 3    King = 6</a:t>
            </a:r>
          </a:p>
          <a:p>
            <a:pPr algn="l">
              <a:lnSpc>
                <a:spcPct val="106000"/>
              </a:lnSpc>
              <a:spcBef>
                <a:spcPts val="0"/>
              </a:spcBef>
              <a:spcAft>
                <a:spcPts val="400"/>
              </a:spcAft>
              <a:defRPr sz="2300" b="0">
                <a:solidFill>
                  <a:srgbClr val="153B2D"/>
                </a:solidFill>
                <a:latin typeface="Arial"/>
              </a:defRPr>
            </a:pPr>
          </a:p>
          <a:p>
            <a:pPr algn="l">
              <a:lnSpc>
                <a:spcPct val="106000"/>
              </a:lnSpc>
              <a:spcBef>
                <a:spcPts val="0"/>
              </a:spcBef>
              <a:spcAft>
                <a:spcPts val="400"/>
              </a:spcAft>
              <a:defRPr sz="2300" b="0">
                <a:solidFill>
                  <a:srgbClr val="153B2D"/>
                </a:solidFill>
                <a:latin typeface="Arial"/>
              </a:defRPr>
            </a:pPr>
            <a:r>
              <a:t>Depth: 1 / 2 / 3</a:t>
            </a:r>
          </a:p>
        </p:txBody>
      </p:sp>
      <p:sp>
        <p:nvSpPr>
          <p:cNvPr id="13" name="TextBox 12"/>
          <p:cNvSpPr txBox="1"/>
          <p:nvPr/>
        </p:nvSpPr>
        <p:spPr>
          <a:xfrm>
            <a:off x="804672" y="5285232"/>
            <a:ext cx="3611880" cy="594360"/>
          </a:xfrm>
          <a:prstGeom prst="rect">
            <a:avLst/>
          </a:prstGeom>
          <a:noFill/>
        </p:spPr>
        <p:txBody>
          <a:bodyPr wrap="square" lIns="0" rIns="0" tIns="0" bIns="0">
            <a:noAutofit/>
          </a:bodyPr>
          <a:lstStyle/>
          <a:p>
            <a:pPr algn="l">
              <a:lnSpc>
                <a:spcPct val="106000"/>
              </a:lnSpc>
              <a:spcBef>
                <a:spcPts val="0"/>
              </a:spcBef>
              <a:spcAft>
                <a:spcPts val="400"/>
              </a:spcAft>
              <a:defRPr sz="1700" b="0">
                <a:solidFill>
                  <a:srgbClr val="425D50"/>
                </a:solidFill>
                <a:latin typeface="Arial"/>
              </a:defRPr>
            </a:pPr>
            <a:r>
              <a:t>Alpha–Beta reduces</a:t>
            </a:r>
          </a:p>
          <a:p>
            <a:pPr algn="l">
              <a:lnSpc>
                <a:spcPct val="106000"/>
              </a:lnSpc>
              <a:spcBef>
                <a:spcPts val="0"/>
              </a:spcBef>
              <a:spcAft>
                <a:spcPts val="400"/>
              </a:spcAft>
              <a:defRPr sz="1700" b="0">
                <a:solidFill>
                  <a:srgbClr val="425D50"/>
                </a:solidFill>
                <a:latin typeface="Arial"/>
              </a:defRPr>
            </a:pPr>
            <a:r>
              <a:t>unnecessary search.</a:t>
            </a:r>
          </a:p>
        </p:txBody>
      </p:sp>
      <p:cxnSp>
        <p:nvCxnSpPr>
          <p:cNvPr id="14" name="Connector 13"/>
          <p:cNvCxnSpPr/>
          <p:nvPr/>
        </p:nvCxnSpPr>
        <p:spPr>
          <a:xfrm flipH="1">
            <a:off x="6446520" y="2606040"/>
            <a:ext cx="1691640" cy="914400"/>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8138160" y="2606040"/>
            <a:ext cx="1691640" cy="914400"/>
          </a:xfrm>
          <a:prstGeom prst="line">
            <a:avLst/>
          </a:prstGeom>
          <a:ln w="38100">
            <a:solidFill>
              <a:srgbClr val="28594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flipH="1">
            <a:off x="571500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a:off x="644652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flipH="1">
            <a:off x="9098280" y="4041648"/>
            <a:ext cx="731520" cy="850392"/>
          </a:xfrm>
          <a:prstGeom prst="line">
            <a:avLst/>
          </a:prstGeom>
          <a:ln w="38100">
            <a:solidFill>
              <a:srgbClr val="285942"/>
            </a:solidFill>
          </a:ln>
          <a:effectLst/>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a:off x="982980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20" name="Rounded Rectangle 19"/>
          <p:cNvSpPr/>
          <p:nvPr/>
        </p:nvSpPr>
        <p:spPr>
          <a:xfrm>
            <a:off x="7040880" y="1965960"/>
            <a:ext cx="2194560" cy="731520"/>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132320" y="2212848"/>
            <a:ext cx="2011680"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BOT · MAX = 0</a:t>
            </a:r>
          </a:p>
        </p:txBody>
      </p:sp>
      <p:sp>
        <p:nvSpPr>
          <p:cNvPr id="22" name="Rounded Rectangle 21"/>
          <p:cNvSpPr/>
          <p:nvPr/>
        </p:nvSpPr>
        <p:spPr>
          <a:xfrm>
            <a:off x="5120640" y="3364992"/>
            <a:ext cx="2651760" cy="7315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193792" y="3621024"/>
            <a:ext cx="2505456" cy="365760"/>
          </a:xfrm>
          <a:prstGeom prst="rect">
            <a:avLst/>
          </a:prstGeom>
          <a:noFill/>
        </p:spPr>
        <p:txBody>
          <a:bodyPr wrap="square" lIns="0" rIns="0" tIns="0" bIns="0">
            <a:noAutofit/>
          </a:bodyPr>
          <a:lstStyle/>
          <a:p>
            <a:pPr algn="ctr">
              <a:lnSpc>
                <a:spcPct val="106000"/>
              </a:lnSpc>
              <a:spcBef>
                <a:spcPts val="0"/>
              </a:spcBef>
              <a:spcAft>
                <a:spcPts val="400"/>
              </a:spcAft>
              <a:defRPr sz="1800" b="1">
                <a:solidFill>
                  <a:srgbClr val="153B2D"/>
                </a:solidFill>
                <a:latin typeface="Arial"/>
              </a:defRPr>
            </a:pPr>
            <a:r>
              <a:t>Move A · MIN = −3</a:t>
            </a:r>
          </a:p>
        </p:txBody>
      </p:sp>
      <p:sp>
        <p:nvSpPr>
          <p:cNvPr id="24" name="Rounded Rectangle 23"/>
          <p:cNvSpPr/>
          <p:nvPr/>
        </p:nvSpPr>
        <p:spPr>
          <a:xfrm>
            <a:off x="8503920" y="3364992"/>
            <a:ext cx="2651760" cy="731520"/>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577072" y="3621024"/>
            <a:ext cx="2505456" cy="365760"/>
          </a:xfrm>
          <a:prstGeom prst="rect">
            <a:avLst/>
          </a:prstGeom>
          <a:noFill/>
        </p:spPr>
        <p:txBody>
          <a:bodyPr wrap="square" lIns="0" rIns="0" tIns="0" bIns="0">
            <a:noAutofit/>
          </a:bodyPr>
          <a:lstStyle/>
          <a:p>
            <a:pPr algn="ctr">
              <a:lnSpc>
                <a:spcPct val="106000"/>
              </a:lnSpc>
              <a:spcBef>
                <a:spcPts val="0"/>
              </a:spcBef>
              <a:spcAft>
                <a:spcPts val="400"/>
              </a:spcAft>
              <a:defRPr sz="1800" b="1">
                <a:solidFill>
                  <a:srgbClr val="153B2D"/>
                </a:solidFill>
                <a:latin typeface="Arial"/>
              </a:defRPr>
            </a:pPr>
            <a:r>
              <a:t>Move B · MIN = 0</a:t>
            </a:r>
          </a:p>
        </p:txBody>
      </p:sp>
      <p:sp>
        <p:nvSpPr>
          <p:cNvPr id="26" name="Rounded Rectangle 25"/>
          <p:cNvSpPr/>
          <p:nvPr/>
        </p:nvSpPr>
        <p:spPr>
          <a:xfrm>
            <a:off x="521208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528523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28" name="Rounded Rectangle 27"/>
          <p:cNvSpPr/>
          <p:nvPr/>
        </p:nvSpPr>
        <p:spPr>
          <a:xfrm>
            <a:off x="667512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74827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30" name="Rounded Rectangle 29"/>
          <p:cNvSpPr/>
          <p:nvPr/>
        </p:nvSpPr>
        <p:spPr>
          <a:xfrm>
            <a:off x="8595360" y="4773168"/>
            <a:ext cx="1005840" cy="658368"/>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66851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0</a:t>
            </a:r>
          </a:p>
        </p:txBody>
      </p:sp>
      <p:sp>
        <p:nvSpPr>
          <p:cNvPr id="32" name="Rounded Rectangle 31"/>
          <p:cNvSpPr/>
          <p:nvPr/>
        </p:nvSpPr>
        <p:spPr>
          <a:xfrm>
            <a:off x="1005840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1013155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34" name="TextBox 33"/>
          <p:cNvSpPr txBox="1"/>
          <p:nvPr/>
        </p:nvSpPr>
        <p:spPr>
          <a:xfrm>
            <a:off x="5029200" y="5532120"/>
            <a:ext cx="6537960" cy="274320"/>
          </a:xfrm>
          <a:prstGeom prst="rect">
            <a:avLst/>
          </a:prstGeom>
          <a:noFill/>
        </p:spPr>
        <p:txBody>
          <a:bodyPr wrap="square" lIns="0" rIns="0" tIns="0" bIns="0">
            <a:noAutofit/>
          </a:bodyPr>
          <a:lstStyle/>
          <a:p>
            <a:pPr algn="ctr">
              <a:lnSpc>
                <a:spcPct val="106000"/>
              </a:lnSpc>
              <a:spcBef>
                <a:spcPts val="0"/>
              </a:spcBef>
              <a:spcAft>
                <a:spcPts val="400"/>
              </a:spcAft>
              <a:defRPr sz="1500" b="0">
                <a:solidFill>
                  <a:srgbClr val="425D50"/>
                </a:solidFill>
                <a:latin typeface="Arial"/>
              </a:defRPr>
            </a:pPr>
            <a:r>
              <a:t>Illustrative search · 0 is a board score, not a match result.</a:t>
            </a:r>
          </a:p>
        </p:txBody>
      </p:sp>
      <p:sp>
        <p:nvSpPr>
          <p:cNvPr id="35" name="Rounded Rectangle 34"/>
          <p:cNvSpPr/>
          <p:nvPr/>
        </p:nvSpPr>
        <p:spPr>
          <a:xfrm>
            <a:off x="594360" y="5934456"/>
            <a:ext cx="11018520" cy="429768"/>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58952" y="6025896"/>
            <a:ext cx="10698480" cy="292608"/>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Arial"/>
              </a:defRPr>
            </a:pPr>
            <a:r>
              <a:t>Final choice: move B — MAX(−3, 0) =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PERSISTENCE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Accounts that remember results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08 / 13</a:t>
            </a:r>
          </a:p>
        </p:txBody>
      </p:sp>
      <p:sp>
        <p:nvSpPr>
          <p:cNvPr id="10" name="Rounded Rectangle 9"/>
          <p:cNvSpPr/>
          <p:nvPr/>
        </p:nvSpPr>
        <p:spPr>
          <a:xfrm>
            <a:off x="594360" y="1938528"/>
            <a:ext cx="6126480" cy="42976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68680" y="2203704"/>
            <a:ext cx="5440680" cy="457200"/>
          </a:xfrm>
          <a:prstGeom prst="rect">
            <a:avLst/>
          </a:prstGeom>
          <a:noFill/>
        </p:spPr>
        <p:txBody>
          <a:bodyPr wrap="square" lIns="0" rIns="0" tIns="0" bIns="0">
            <a:noAutofit/>
          </a:bodyPr>
          <a:lstStyle/>
          <a:p>
            <a:pPr algn="l">
              <a:lnSpc>
                <a:spcPct val="106000"/>
              </a:lnSpc>
              <a:spcBef>
                <a:spcPts val="0"/>
              </a:spcBef>
              <a:spcAft>
                <a:spcPts val="400"/>
              </a:spcAft>
              <a:defRPr sz="2800" b="1">
                <a:solidFill>
                  <a:srgbClr val="153B2D"/>
                </a:solidFill>
                <a:latin typeface="Arial"/>
              </a:defRPr>
            </a:pPr>
            <a:r>
              <a:t>Player profile</a:t>
            </a:r>
          </a:p>
        </p:txBody>
      </p:sp>
      <p:sp>
        <p:nvSpPr>
          <p:cNvPr id="12" name="TextBox 11"/>
          <p:cNvSpPr txBox="1"/>
          <p:nvPr/>
        </p:nvSpPr>
        <p:spPr>
          <a:xfrm>
            <a:off x="868680" y="2761488"/>
            <a:ext cx="5440680" cy="320040"/>
          </a:xfrm>
          <a:prstGeom prst="rect">
            <a:avLst/>
          </a:prstGeom>
          <a:noFill/>
        </p:spPr>
        <p:txBody>
          <a:bodyPr wrap="square" lIns="0" rIns="0" tIns="0" bIns="0">
            <a:noAutofit/>
          </a:bodyPr>
          <a:lstStyle/>
          <a:p>
            <a:pPr algn="l">
              <a:lnSpc>
                <a:spcPct val="106000"/>
              </a:lnSpc>
              <a:spcBef>
                <a:spcPts val="0"/>
              </a:spcBef>
              <a:spcAft>
                <a:spcPts val="400"/>
              </a:spcAft>
              <a:defRPr sz="1700" b="0">
                <a:solidFill>
                  <a:srgbClr val="425D50"/>
                </a:solidFill>
                <a:latin typeface="Arial"/>
              </a:defRPr>
            </a:pPr>
            <a:r>
              <a:t>Illustrative account</a:t>
            </a:r>
          </a:p>
        </p:txBody>
      </p:sp>
      <p:sp>
        <p:nvSpPr>
          <p:cNvPr id="13" name="Rounded Rectangle 12"/>
          <p:cNvSpPr/>
          <p:nvPr/>
        </p:nvSpPr>
        <p:spPr>
          <a:xfrm>
            <a:off x="868680" y="3291840"/>
            <a:ext cx="2651760" cy="1234440"/>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ounded Rectangle 13"/>
          <p:cNvSpPr/>
          <p:nvPr/>
        </p:nvSpPr>
        <p:spPr>
          <a:xfrm>
            <a:off x="3749039" y="3291840"/>
            <a:ext cx="2651760" cy="1234440"/>
          </a:xfrm>
          <a:prstGeom prst="roundRect">
            <a:avLst>
              <a:gd name="adj" fmla="val 12000"/>
            </a:avLst>
          </a:prstGeom>
          <a:solidFill>
            <a:srgbClr val="F8E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60704" y="3474720"/>
            <a:ext cx="2258568" cy="32004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285942"/>
                </a:solidFill>
                <a:latin typeface="Arial"/>
              </a:defRPr>
            </a:pPr>
            <a:r>
              <a:t>ONLINE</a:t>
            </a:r>
          </a:p>
        </p:txBody>
      </p:sp>
      <p:sp>
        <p:nvSpPr>
          <p:cNvPr id="16" name="TextBox 15"/>
          <p:cNvSpPr txBox="1"/>
          <p:nvPr/>
        </p:nvSpPr>
        <p:spPr>
          <a:xfrm>
            <a:off x="1060704" y="3941063"/>
            <a:ext cx="2258568" cy="384048"/>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1 win / 1 match</a:t>
            </a:r>
          </a:p>
        </p:txBody>
      </p:sp>
      <p:sp>
        <p:nvSpPr>
          <p:cNvPr id="17" name="TextBox 16"/>
          <p:cNvSpPr txBox="1"/>
          <p:nvPr/>
        </p:nvSpPr>
        <p:spPr>
          <a:xfrm>
            <a:off x="3941063" y="3474720"/>
            <a:ext cx="2258568" cy="32004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BD614A"/>
                </a:solidFill>
                <a:latin typeface="Arial"/>
              </a:defRPr>
            </a:pPr>
            <a:r>
              <a:t>BOT</a:t>
            </a:r>
          </a:p>
        </p:txBody>
      </p:sp>
      <p:sp>
        <p:nvSpPr>
          <p:cNvPr id="18" name="TextBox 17"/>
          <p:cNvSpPr txBox="1"/>
          <p:nvPr/>
        </p:nvSpPr>
        <p:spPr>
          <a:xfrm>
            <a:off x="3941063" y="3941063"/>
            <a:ext cx="2258568" cy="384048"/>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0 matches</a:t>
            </a:r>
          </a:p>
        </p:txBody>
      </p:sp>
      <p:sp>
        <p:nvSpPr>
          <p:cNvPr id="19" name="TextBox 18"/>
          <p:cNvSpPr txBox="1"/>
          <p:nvPr/>
        </p:nvSpPr>
        <p:spPr>
          <a:xfrm>
            <a:off x="868680" y="4882896"/>
            <a:ext cx="5440680" cy="41148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53B2D"/>
                </a:solidFill>
                <a:latin typeface="Arial"/>
              </a:defRPr>
            </a:pPr>
            <a:r>
              <a:t>Match history</a:t>
            </a:r>
          </a:p>
        </p:txBody>
      </p:sp>
      <p:cxnSp>
        <p:nvCxnSpPr>
          <p:cNvPr id="20" name="Connector 19"/>
          <p:cNvCxnSpPr/>
          <p:nvPr/>
        </p:nvCxnSpPr>
        <p:spPr>
          <a:xfrm>
            <a:off x="868680" y="5468112"/>
            <a:ext cx="5532120"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868680" y="5669280"/>
            <a:ext cx="1280160" cy="36576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153B2D"/>
                </a:solidFill>
                <a:latin typeface="Arial"/>
              </a:defRPr>
            </a:pPr>
            <a:r>
              <a:t>Online</a:t>
            </a:r>
          </a:p>
        </p:txBody>
      </p:sp>
      <p:sp>
        <p:nvSpPr>
          <p:cNvPr id="22" name="TextBox 21"/>
          <p:cNvSpPr txBox="1"/>
          <p:nvPr/>
        </p:nvSpPr>
        <p:spPr>
          <a:xfrm>
            <a:off x="2770632" y="5669280"/>
            <a:ext cx="1005840"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Arial"/>
              </a:defRPr>
            </a:pPr>
            <a:r>
              <a:t>WIN</a:t>
            </a:r>
          </a:p>
        </p:txBody>
      </p:sp>
      <p:sp>
        <p:nvSpPr>
          <p:cNvPr id="23" name="TextBox 22"/>
          <p:cNvSpPr txBox="1"/>
          <p:nvPr/>
        </p:nvSpPr>
        <p:spPr>
          <a:xfrm>
            <a:off x="4169663" y="5669280"/>
            <a:ext cx="2212848" cy="36576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153B2D"/>
                </a:solidFill>
                <a:latin typeface="Arial"/>
              </a:defRPr>
            </a:pPr>
            <a:r>
              <a:t>Resignation</a:t>
            </a:r>
          </a:p>
        </p:txBody>
      </p:sp>
      <p:sp>
        <p:nvSpPr>
          <p:cNvPr id="24" name="Rounded Rectangle 23"/>
          <p:cNvSpPr/>
          <p:nvPr/>
        </p:nvSpPr>
        <p:spPr>
          <a:xfrm>
            <a:off x="7114032" y="1938528"/>
            <a:ext cx="4489704"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370064" y="2194560"/>
            <a:ext cx="3968496" cy="43891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Consolas"/>
              </a:defRPr>
            </a:pPr>
            <a:r>
              <a:t>profiles</a:t>
            </a:r>
          </a:p>
        </p:txBody>
      </p:sp>
      <p:sp>
        <p:nvSpPr>
          <p:cNvPr id="26" name="TextBox 25"/>
          <p:cNvSpPr txBox="1"/>
          <p:nvPr/>
        </p:nvSpPr>
        <p:spPr>
          <a:xfrm>
            <a:off x="7370064" y="2871216"/>
            <a:ext cx="3968496" cy="4572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425D50"/>
                </a:solidFill>
                <a:latin typeface="Arial"/>
              </a:defRPr>
            </a:pPr>
            <a:r>
              <a:t>Username · salt · hash</a:t>
            </a:r>
          </a:p>
        </p:txBody>
      </p:sp>
      <p:sp>
        <p:nvSpPr>
          <p:cNvPr id="27" name="Rounded Rectangle 26"/>
          <p:cNvSpPr/>
          <p:nvPr/>
        </p:nvSpPr>
        <p:spPr>
          <a:xfrm>
            <a:off x="7114032" y="3721608"/>
            <a:ext cx="4489704"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370064" y="3977639"/>
            <a:ext cx="3968496" cy="43891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Consolas"/>
              </a:defRPr>
            </a:pPr>
            <a:r>
              <a:t>game_results</a:t>
            </a:r>
          </a:p>
        </p:txBody>
      </p:sp>
      <p:sp>
        <p:nvSpPr>
          <p:cNvPr id="29" name="TextBox 28"/>
          <p:cNvSpPr txBox="1"/>
          <p:nvPr/>
        </p:nvSpPr>
        <p:spPr>
          <a:xfrm>
            <a:off x="7370064" y="4626864"/>
            <a:ext cx="3968496" cy="45720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Players · result · mode · time</a:t>
            </a:r>
          </a:p>
        </p:txBody>
      </p:sp>
      <p:sp>
        <p:nvSpPr>
          <p:cNvPr id="30" name="TextBox 29"/>
          <p:cNvSpPr txBox="1"/>
          <p:nvPr/>
        </p:nvSpPr>
        <p:spPr>
          <a:xfrm>
            <a:off x="7114032" y="5705856"/>
            <a:ext cx="4489704" cy="45720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53B2D"/>
                </a:solidFill>
                <a:latin typeface="Arial"/>
              </a:defRPr>
            </a:pPr>
            <a:r>
              <a:t>Saved results → statistics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VERIFICATION</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How we checked the system</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09 / 13</a:t>
            </a:r>
          </a:p>
        </p:txBody>
      </p:sp>
      <p:sp>
        <p:nvSpPr>
          <p:cNvPr id="10" name="TextBox 9"/>
          <p:cNvSpPr txBox="1"/>
          <p:nvPr/>
        </p:nvSpPr>
        <p:spPr>
          <a:xfrm>
            <a:off x="594360" y="1856231"/>
            <a:ext cx="1828800" cy="960120"/>
          </a:xfrm>
          <a:prstGeom prst="rect">
            <a:avLst/>
          </a:prstGeom>
          <a:noFill/>
        </p:spPr>
        <p:txBody>
          <a:bodyPr wrap="square" lIns="0" rIns="0" tIns="0" bIns="0">
            <a:noAutofit/>
          </a:bodyPr>
          <a:lstStyle/>
          <a:p>
            <a:pPr algn="l">
              <a:lnSpc>
                <a:spcPct val="106000"/>
              </a:lnSpc>
              <a:spcBef>
                <a:spcPts val="0"/>
              </a:spcBef>
              <a:spcAft>
                <a:spcPts val="400"/>
              </a:spcAft>
              <a:defRPr sz="6200" b="1">
                <a:solidFill>
                  <a:srgbClr val="285942"/>
                </a:solidFill>
                <a:latin typeface="Arial"/>
              </a:defRPr>
            </a:pPr>
            <a:r>
              <a:t>48</a:t>
            </a:r>
          </a:p>
        </p:txBody>
      </p:sp>
      <p:sp>
        <p:nvSpPr>
          <p:cNvPr id="11" name="TextBox 10"/>
          <p:cNvSpPr txBox="1"/>
          <p:nvPr/>
        </p:nvSpPr>
        <p:spPr>
          <a:xfrm>
            <a:off x="2560320" y="2286000"/>
            <a:ext cx="7589520" cy="457200"/>
          </a:xfrm>
          <a:prstGeom prst="rect">
            <a:avLst/>
          </a:prstGeom>
          <a:noFill/>
        </p:spPr>
        <p:txBody>
          <a:bodyPr wrap="square" lIns="0" rIns="0" tIns="0" bIns="0">
            <a:noAutofit/>
          </a:bodyPr>
          <a:lstStyle/>
          <a:p>
            <a:pPr algn="l">
              <a:lnSpc>
                <a:spcPct val="106000"/>
              </a:lnSpc>
              <a:spcBef>
                <a:spcPts val="0"/>
              </a:spcBef>
              <a:spcAft>
                <a:spcPts val="400"/>
              </a:spcAft>
              <a:defRPr sz="2900" b="1">
                <a:solidFill>
                  <a:srgbClr val="153B2D"/>
                </a:solidFill>
                <a:latin typeface="Arial"/>
              </a:defRPr>
            </a:pPr>
            <a:r>
              <a:t>automated tests</a:t>
            </a:r>
          </a:p>
        </p:txBody>
      </p:sp>
      <p:sp>
        <p:nvSpPr>
          <p:cNvPr id="12" name="Rounded Rectangle 11"/>
          <p:cNvSpPr/>
          <p:nvPr/>
        </p:nvSpPr>
        <p:spPr>
          <a:xfrm>
            <a:off x="548640" y="3291840"/>
            <a:ext cx="3538728" cy="1965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66928" y="3493008"/>
            <a:ext cx="41148" cy="156362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77240" y="351129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Game rules</a:t>
            </a:r>
          </a:p>
        </p:txBody>
      </p:sp>
      <p:sp>
        <p:nvSpPr>
          <p:cNvPr id="15" name="TextBox 14"/>
          <p:cNvSpPr txBox="1"/>
          <p:nvPr/>
        </p:nvSpPr>
        <p:spPr>
          <a:xfrm>
            <a:off x="777240" y="4251960"/>
            <a:ext cx="3081528" cy="85039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Invalid moves, turns</a:t>
            </a:r>
          </a:p>
          <a:p>
            <a:pPr algn="l">
              <a:lnSpc>
                <a:spcPct val="106000"/>
              </a:lnSpc>
              <a:spcBef>
                <a:spcPts val="0"/>
              </a:spcBef>
              <a:spcAft>
                <a:spcPts val="400"/>
              </a:spcAft>
              <a:defRPr sz="2200" b="0">
                <a:solidFill>
                  <a:srgbClr val="425D50"/>
                </a:solidFill>
                <a:latin typeface="Arial"/>
              </a:defRPr>
            </a:pPr>
            <a:r>
              <a:t>and capture chains</a:t>
            </a:r>
          </a:p>
        </p:txBody>
      </p:sp>
      <p:sp>
        <p:nvSpPr>
          <p:cNvPr id="16" name="Rounded Rectangle 15"/>
          <p:cNvSpPr/>
          <p:nvPr/>
        </p:nvSpPr>
        <p:spPr>
          <a:xfrm>
            <a:off x="4325112" y="3291840"/>
            <a:ext cx="3538728" cy="1965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343400" y="3493008"/>
            <a:ext cx="41148" cy="1563624"/>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553712" y="351129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TCP behavior</a:t>
            </a:r>
          </a:p>
        </p:txBody>
      </p:sp>
      <p:sp>
        <p:nvSpPr>
          <p:cNvPr id="19" name="TextBox 18"/>
          <p:cNvSpPr txBox="1"/>
          <p:nvPr/>
        </p:nvSpPr>
        <p:spPr>
          <a:xfrm>
            <a:off x="4553712" y="4251960"/>
            <a:ext cx="3081528" cy="85039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Two real connections</a:t>
            </a:r>
          </a:p>
          <a:p>
            <a:pPr algn="l">
              <a:lnSpc>
                <a:spcPct val="106000"/>
              </a:lnSpc>
              <a:spcBef>
                <a:spcPts val="0"/>
              </a:spcBef>
              <a:spcAft>
                <a:spcPts val="400"/>
              </a:spcAft>
              <a:defRPr sz="2200" b="0">
                <a:solidFill>
                  <a:srgbClr val="425D50"/>
                </a:solidFill>
                <a:latin typeface="Arial"/>
              </a:defRPr>
            </a:pPr>
            <a:r>
              <a:t>Matching board updates</a:t>
            </a:r>
          </a:p>
        </p:txBody>
      </p:sp>
      <p:sp>
        <p:nvSpPr>
          <p:cNvPr id="20" name="Rounded Rectangle 19"/>
          <p:cNvSpPr/>
          <p:nvPr/>
        </p:nvSpPr>
        <p:spPr>
          <a:xfrm>
            <a:off x="8110727" y="3291840"/>
            <a:ext cx="3538728" cy="1965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8129015" y="3493008"/>
            <a:ext cx="41148" cy="156362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339327" y="351129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Stored results</a:t>
            </a:r>
          </a:p>
        </p:txBody>
      </p:sp>
      <p:sp>
        <p:nvSpPr>
          <p:cNvPr id="23" name="TextBox 22"/>
          <p:cNvSpPr txBox="1"/>
          <p:nvPr/>
        </p:nvSpPr>
        <p:spPr>
          <a:xfrm>
            <a:off x="8339327" y="4251960"/>
            <a:ext cx="3081528" cy="850392"/>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Authentication</a:t>
            </a:r>
          </a:p>
          <a:p>
            <a:pPr algn="l">
              <a:lnSpc>
                <a:spcPct val="106000"/>
              </a:lnSpc>
              <a:spcBef>
                <a:spcPts val="0"/>
              </a:spcBef>
              <a:spcAft>
                <a:spcPts val="400"/>
              </a:spcAft>
              <a:defRPr sz="2100" b="0">
                <a:solidFill>
                  <a:srgbClr val="425D50"/>
                </a:solidFill>
                <a:latin typeface="Arial"/>
              </a:defRPr>
            </a:pPr>
            <a:r>
              <a:t>Persistence + deduplication</a:t>
            </a:r>
          </a:p>
        </p:txBody>
      </p:sp>
      <p:sp>
        <p:nvSpPr>
          <p:cNvPr id="24" name="TextBox 23"/>
          <p:cNvSpPr txBox="1"/>
          <p:nvPr/>
        </p:nvSpPr>
        <p:spPr>
          <a:xfrm>
            <a:off x="594360" y="5632704"/>
            <a:ext cx="10972800" cy="411480"/>
          </a:xfrm>
          <a:prstGeom prst="rect">
            <a:avLst/>
          </a:prstGeom>
          <a:noFill/>
        </p:spPr>
        <p:txBody>
          <a:bodyPr wrap="square" lIns="0" rIns="0" tIns="0" bIns="0">
            <a:noAutofit/>
          </a:bodyPr>
          <a:lstStyle/>
          <a:p>
            <a:pPr algn="l">
              <a:lnSpc>
                <a:spcPct val="106000"/>
              </a:lnSpc>
              <a:spcBef>
                <a:spcPts val="0"/>
              </a:spcBef>
              <a:spcAft>
                <a:spcPts val="400"/>
              </a:spcAft>
              <a:defRPr sz="2100" b="1">
                <a:solidFill>
                  <a:srgbClr val="153B2D"/>
                </a:solidFill>
                <a:latin typeface="Arial"/>
              </a:defRPr>
            </a:pPr>
            <a:r>
              <a:t>Manual UI checks: two windows, error messages and movement animation</a:t>
            </a:r>
          </a:p>
        </p:txBody>
      </p:sp>
      <p:sp>
        <p:nvSpPr>
          <p:cNvPr id="25" name="TextBox 24"/>
          <p:cNvSpPr txBox="1"/>
          <p:nvPr/>
        </p:nvSpPr>
        <p:spPr>
          <a:xfrm>
            <a:off x="594360" y="6135624"/>
            <a:ext cx="10972800" cy="256032"/>
          </a:xfrm>
          <a:prstGeom prst="rect">
            <a:avLst/>
          </a:prstGeom>
          <a:noFill/>
        </p:spPr>
        <p:txBody>
          <a:bodyPr wrap="square" lIns="0" rIns="0" tIns="0" bIns="0">
            <a:noAutofit/>
          </a:bodyPr>
          <a:lstStyle/>
          <a:p>
            <a:pPr algn="l">
              <a:lnSpc>
                <a:spcPct val="106000"/>
              </a:lnSpc>
              <a:spcBef>
                <a:spcPts val="0"/>
              </a:spcBef>
              <a:spcAft>
                <a:spcPts val="400"/>
              </a:spcAft>
              <a:defRPr sz="1500" b="0">
                <a:solidFill>
                  <a:srgbClr val="425D50"/>
                </a:solidFill>
                <a:latin typeface="Arial"/>
              </a:defRPr>
            </a:pPr>
            <a:r>
              <a:t>Automated count: documented passing run, 12 Oct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CHALLENGES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Challenges and what we learned</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10 / 13</a:t>
            </a:r>
          </a:p>
        </p:txBody>
      </p:sp>
      <p:sp>
        <p:nvSpPr>
          <p:cNvPr id="10" name="Rounded Rectangle 9"/>
          <p:cNvSpPr/>
          <p:nvPr/>
        </p:nvSpPr>
        <p:spPr>
          <a:xfrm>
            <a:off x="548640" y="1938528"/>
            <a:ext cx="5431536" cy="1874519"/>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139696"/>
            <a:ext cx="41148" cy="147218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157984"/>
            <a:ext cx="4974336"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Learning checkers rules</a:t>
            </a:r>
          </a:p>
        </p:txBody>
      </p:sp>
      <p:sp>
        <p:nvSpPr>
          <p:cNvPr id="13" name="TextBox 12"/>
          <p:cNvSpPr txBox="1"/>
          <p:nvPr/>
        </p:nvSpPr>
        <p:spPr>
          <a:xfrm>
            <a:off x="777240" y="2898648"/>
            <a:ext cx="4974336" cy="758951"/>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Movement, mandatory captures,</a:t>
            </a:r>
          </a:p>
          <a:p>
            <a:pPr algn="l">
              <a:lnSpc>
                <a:spcPct val="106000"/>
              </a:lnSpc>
              <a:spcBef>
                <a:spcPts val="0"/>
              </a:spcBef>
              <a:spcAft>
                <a:spcPts val="400"/>
              </a:spcAft>
              <a:defRPr sz="2100" b="0">
                <a:solidFill>
                  <a:srgbClr val="425D50"/>
                </a:solidFill>
                <a:latin typeface="Arial"/>
              </a:defRPr>
            </a:pPr>
            <a:r>
              <a:t>capture chains and promotion.</a:t>
            </a:r>
          </a:p>
        </p:txBody>
      </p:sp>
      <p:sp>
        <p:nvSpPr>
          <p:cNvPr id="14" name="Rounded Rectangle 13"/>
          <p:cNvSpPr/>
          <p:nvPr/>
        </p:nvSpPr>
        <p:spPr>
          <a:xfrm>
            <a:off x="6217920" y="1938528"/>
            <a:ext cx="5431536" cy="1874519"/>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6236207" y="2139696"/>
            <a:ext cx="41148" cy="1472184"/>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446520" y="2157984"/>
            <a:ext cx="4974336"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Learning JavaFX</a:t>
            </a:r>
          </a:p>
        </p:txBody>
      </p:sp>
      <p:sp>
        <p:nvSpPr>
          <p:cNvPr id="17" name="TextBox 16"/>
          <p:cNvSpPr txBox="1"/>
          <p:nvPr/>
        </p:nvSpPr>
        <p:spPr>
          <a:xfrm>
            <a:off x="6446520" y="2898648"/>
            <a:ext cx="4974336" cy="758951"/>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Learn a new UI library and connect</a:t>
            </a:r>
          </a:p>
          <a:p>
            <a:pPr algn="l">
              <a:lnSpc>
                <a:spcPct val="106000"/>
              </a:lnSpc>
              <a:spcBef>
                <a:spcPts val="0"/>
              </a:spcBef>
              <a:spcAft>
                <a:spcPts val="400"/>
              </a:spcAft>
              <a:defRPr sz="2100" b="0">
                <a:solidFill>
                  <a:srgbClr val="425D50"/>
                </a:solidFill>
                <a:latin typeface="Arial"/>
              </a:defRPr>
            </a:pPr>
            <a:r>
              <a:t>buttons and board clicks to actions.</a:t>
            </a:r>
          </a:p>
        </p:txBody>
      </p:sp>
      <p:sp>
        <p:nvSpPr>
          <p:cNvPr id="18" name="Rounded Rectangle 17"/>
          <p:cNvSpPr/>
          <p:nvPr/>
        </p:nvSpPr>
        <p:spPr>
          <a:xfrm>
            <a:off x="548640" y="4023360"/>
            <a:ext cx="5431536" cy="1874519"/>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566928" y="4224528"/>
            <a:ext cx="41148" cy="147218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77240" y="4242816"/>
            <a:ext cx="4974336"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TCP in practice</a:t>
            </a:r>
          </a:p>
        </p:txBody>
      </p:sp>
      <p:sp>
        <p:nvSpPr>
          <p:cNvPr id="21" name="TextBox 20"/>
          <p:cNvSpPr txBox="1"/>
          <p:nvPr/>
        </p:nvSpPr>
        <p:spPr>
          <a:xfrm>
            <a:off x="777240" y="4983480"/>
            <a:ext cx="4974336" cy="758951"/>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Apply course theory to real</a:t>
            </a:r>
          </a:p>
          <a:p>
            <a:pPr algn="l">
              <a:lnSpc>
                <a:spcPct val="106000"/>
              </a:lnSpc>
              <a:spcBef>
                <a:spcPts val="0"/>
              </a:spcBef>
              <a:spcAft>
                <a:spcPts val="400"/>
              </a:spcAft>
              <a:defRPr sz="2100" b="0">
                <a:solidFill>
                  <a:srgbClr val="425D50"/>
                </a:solidFill>
                <a:latin typeface="Arial"/>
              </a:defRPr>
            </a:pPr>
            <a:r>
              <a:t>client–server connections and messages.</a:t>
            </a:r>
          </a:p>
        </p:txBody>
      </p:sp>
      <p:sp>
        <p:nvSpPr>
          <p:cNvPr id="22" name="Rounded Rectangle 21"/>
          <p:cNvSpPr/>
          <p:nvPr/>
        </p:nvSpPr>
        <p:spPr>
          <a:xfrm>
            <a:off x="6217920" y="4023360"/>
            <a:ext cx="5431536" cy="1874519"/>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236207" y="4224528"/>
            <a:ext cx="41148" cy="147218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446520" y="4242816"/>
            <a:ext cx="4974336"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From HTML to JavaFX</a:t>
            </a:r>
          </a:p>
        </p:txBody>
      </p:sp>
      <p:sp>
        <p:nvSpPr>
          <p:cNvPr id="25" name="TextBox 24"/>
          <p:cNvSpPr txBox="1"/>
          <p:nvPr/>
        </p:nvSpPr>
        <p:spPr>
          <a:xfrm>
            <a:off x="6446520" y="4983480"/>
            <a:ext cx="4974336" cy="758951"/>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Adapt familiar web layouts to</a:t>
            </a:r>
          </a:p>
          <a:p>
            <a:pPr algn="l">
              <a:lnSpc>
                <a:spcPct val="106000"/>
              </a:lnSpc>
              <a:spcBef>
                <a:spcPts val="0"/>
              </a:spcBef>
              <a:spcAft>
                <a:spcPts val="400"/>
              </a:spcAft>
              <a:defRPr sz="2100" b="0">
                <a:solidFill>
                  <a:srgbClr val="425D50"/>
                </a:solidFill>
                <a:latin typeface="Arial"/>
              </a:defRPr>
            </a:pPr>
            <a:r>
              <a:t>JavaFX components and user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DEFINED RESPONSIBILITY AREAS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Responsibilities and AI support</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11 / 13</a:t>
            </a:r>
          </a:p>
        </p:txBody>
      </p:sp>
      <p:sp>
        <p:nvSpPr>
          <p:cNvPr id="10" name="Rounded Rectangle 9"/>
          <p:cNvSpPr/>
          <p:nvPr/>
        </p:nvSpPr>
        <p:spPr>
          <a:xfrm>
            <a:off x="548640" y="1901952"/>
            <a:ext cx="5431536" cy="254203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77240" y="2139696"/>
            <a:ext cx="4974336"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285942"/>
                </a:solidFill>
                <a:latin typeface="Arial"/>
              </a:defRPr>
            </a:pPr>
            <a:r>
              <a:t>Rabea Abu Aad</a:t>
            </a:r>
          </a:p>
        </p:txBody>
      </p:sp>
      <p:sp>
        <p:nvSpPr>
          <p:cNvPr id="12" name="TextBox 11"/>
          <p:cNvSpPr txBox="1"/>
          <p:nvPr/>
        </p:nvSpPr>
        <p:spPr>
          <a:xfrm>
            <a:off x="777240" y="2743200"/>
            <a:ext cx="4974336"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153B2D"/>
                </a:solidFill>
                <a:latin typeface="Arial"/>
              </a:defRPr>
            </a:pPr>
            <a:r>
              <a:t>Game logic</a:t>
            </a:r>
          </a:p>
        </p:txBody>
      </p:sp>
      <p:sp>
        <p:nvSpPr>
          <p:cNvPr id="13" name="TextBox 12"/>
          <p:cNvSpPr txBox="1"/>
          <p:nvPr/>
        </p:nvSpPr>
        <p:spPr>
          <a:xfrm>
            <a:off x="777240" y="3182112"/>
            <a:ext cx="4974336" cy="1042415"/>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Movement and captures,</a:t>
            </a:r>
          </a:p>
          <a:p>
            <a:pPr algn="l">
              <a:lnSpc>
                <a:spcPct val="106000"/>
              </a:lnSpc>
              <a:spcBef>
                <a:spcPts val="0"/>
              </a:spcBef>
              <a:spcAft>
                <a:spcPts val="400"/>
              </a:spcAft>
              <a:defRPr sz="2200" b="0">
                <a:solidFill>
                  <a:srgbClr val="425D50"/>
                </a:solidFill>
                <a:latin typeface="Arial"/>
              </a:defRPr>
            </a:pPr>
            <a:r>
              <a:t>turns and promotion,</a:t>
            </a:r>
          </a:p>
          <a:p>
            <a:pPr algn="l">
              <a:lnSpc>
                <a:spcPct val="106000"/>
              </a:lnSpc>
              <a:spcBef>
                <a:spcPts val="0"/>
              </a:spcBef>
              <a:spcAft>
                <a:spcPts val="400"/>
              </a:spcAft>
              <a:defRPr sz="2200" b="0">
                <a:solidFill>
                  <a:srgbClr val="425D50"/>
                </a:solidFill>
                <a:latin typeface="Arial"/>
              </a:defRPr>
            </a:pPr>
            <a:r>
              <a:t>game ending and winner.</a:t>
            </a:r>
          </a:p>
        </p:txBody>
      </p:sp>
      <p:sp>
        <p:nvSpPr>
          <p:cNvPr id="14" name="Rounded Rectangle 13"/>
          <p:cNvSpPr/>
          <p:nvPr/>
        </p:nvSpPr>
        <p:spPr>
          <a:xfrm>
            <a:off x="6217920" y="1901952"/>
            <a:ext cx="5431536" cy="254203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446520" y="2139696"/>
            <a:ext cx="4974336"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BD614A"/>
                </a:solidFill>
                <a:latin typeface="Arial"/>
              </a:defRPr>
            </a:pPr>
            <a:r>
              <a:t>Muthanna Farhat</a:t>
            </a:r>
          </a:p>
        </p:txBody>
      </p:sp>
      <p:sp>
        <p:nvSpPr>
          <p:cNvPr id="16" name="TextBox 15"/>
          <p:cNvSpPr txBox="1"/>
          <p:nvPr/>
        </p:nvSpPr>
        <p:spPr>
          <a:xfrm>
            <a:off x="6446520" y="2743200"/>
            <a:ext cx="4974336"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153B2D"/>
                </a:solidFill>
                <a:latin typeface="Arial"/>
              </a:defRPr>
            </a:pPr>
            <a:r>
              <a:t>TCP communication</a:t>
            </a:r>
          </a:p>
        </p:txBody>
      </p:sp>
      <p:sp>
        <p:nvSpPr>
          <p:cNvPr id="17" name="TextBox 16"/>
          <p:cNvSpPr txBox="1"/>
          <p:nvPr/>
        </p:nvSpPr>
        <p:spPr>
          <a:xfrm>
            <a:off x="6446520" y="3182112"/>
            <a:ext cx="4974336" cy="1042415"/>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Client–server connections,</a:t>
            </a:r>
          </a:p>
          <a:p>
            <a:pPr algn="l">
              <a:lnSpc>
                <a:spcPct val="106000"/>
              </a:lnSpc>
              <a:spcBef>
                <a:spcPts val="0"/>
              </a:spcBef>
              <a:spcAft>
                <a:spcPts val="400"/>
              </a:spcAft>
              <a:defRPr sz="2200" b="0">
                <a:solidFill>
                  <a:srgbClr val="425D50"/>
                </a:solidFill>
                <a:latin typeface="Arial"/>
              </a:defRPr>
            </a:pPr>
            <a:r>
              <a:t>requests and replies,</a:t>
            </a:r>
          </a:p>
          <a:p>
            <a:pPr algn="l">
              <a:lnSpc>
                <a:spcPct val="106000"/>
              </a:lnSpc>
              <a:spcBef>
                <a:spcPts val="0"/>
              </a:spcBef>
              <a:spcAft>
                <a:spcPts val="400"/>
              </a:spcAft>
              <a:defRPr sz="2200" b="0">
                <a:solidFill>
                  <a:srgbClr val="425D50"/>
                </a:solidFill>
                <a:latin typeface="Arial"/>
              </a:defRPr>
            </a:pPr>
            <a:r>
              <a:t>synchronized game state.</a:t>
            </a:r>
          </a:p>
        </p:txBody>
      </p:sp>
      <p:sp>
        <p:nvSpPr>
          <p:cNvPr id="18" name="Rounded Rectangle 17"/>
          <p:cNvSpPr/>
          <p:nvPr/>
        </p:nvSpPr>
        <p:spPr>
          <a:xfrm>
            <a:off x="548640" y="4700016"/>
            <a:ext cx="11100816" cy="1444752"/>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77240" y="4892040"/>
            <a:ext cx="10643616" cy="393192"/>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285942"/>
                </a:solidFill>
                <a:latin typeface="Arial"/>
              </a:defRPr>
            </a:pPr>
            <a:r>
              <a:t>Extensive AI support: Codex + GitHub Copilot</a:t>
            </a:r>
          </a:p>
        </p:txBody>
      </p:sp>
      <p:sp>
        <p:nvSpPr>
          <p:cNvPr id="20" name="TextBox 19"/>
          <p:cNvSpPr txBox="1"/>
          <p:nvPr/>
        </p:nvSpPr>
        <p:spPr>
          <a:xfrm>
            <a:off x="777240" y="5413248"/>
            <a:ext cx="10643616" cy="365760"/>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425D50"/>
                </a:solidFill>
                <a:latin typeface="Arial"/>
              </a:defRPr>
            </a:pPr>
            <a:r>
              <a:t>Learning, planning, writing and revising code, UI, tests and documentation.</a:t>
            </a:r>
          </a:p>
        </p:txBody>
      </p:sp>
      <p:sp>
        <p:nvSpPr>
          <p:cNvPr id="21" name="TextBox 20"/>
          <p:cNvSpPr txBox="1"/>
          <p:nvPr/>
        </p:nvSpPr>
        <p:spPr>
          <a:xfrm>
            <a:off x="777240" y="5806440"/>
            <a:ext cx="10643616" cy="256032"/>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285942"/>
                </a:solidFill>
                <a:latin typeface="Arial"/>
              </a:defRPr>
            </a:pPr>
            <a:r>
              <a:t>Define requirements → review suggestions → run and test → adjust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CONCLUSIONS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What we built and learned</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12 / 13</a:t>
            </a:r>
          </a:p>
        </p:txBody>
      </p:sp>
      <p:sp>
        <p:nvSpPr>
          <p:cNvPr id="10" name="TextBox 9"/>
          <p:cNvSpPr txBox="1"/>
          <p:nvPr/>
        </p:nvSpPr>
        <p:spPr>
          <a:xfrm>
            <a:off x="594360" y="1901952"/>
            <a:ext cx="7040880" cy="2148840"/>
          </a:xfrm>
          <a:prstGeom prst="rect">
            <a:avLst/>
          </a:prstGeom>
          <a:noFill/>
        </p:spPr>
        <p:txBody>
          <a:bodyPr wrap="square" lIns="0" rIns="0" tIns="0" bIns="0">
            <a:noAutofit/>
          </a:bodyPr>
          <a:lstStyle/>
          <a:p>
            <a:pPr algn="l">
              <a:lnSpc>
                <a:spcPct val="106000"/>
              </a:lnSpc>
              <a:spcBef>
                <a:spcPts val="0"/>
              </a:spcBef>
              <a:spcAft>
                <a:spcPts val="400"/>
              </a:spcAft>
              <a:defRPr sz="3300" b="1">
                <a:solidFill>
                  <a:srgbClr val="153B2D"/>
                </a:solidFill>
                <a:latin typeface="Arial"/>
              </a:defRPr>
            </a:pPr>
            <a:r>
              <a:t>One authoritative game.</a:t>
            </a:r>
          </a:p>
          <a:p>
            <a:pPr algn="l">
              <a:lnSpc>
                <a:spcPct val="106000"/>
              </a:lnSpc>
              <a:spcBef>
                <a:spcPts val="0"/>
              </a:spcBef>
              <a:spcAft>
                <a:spcPts val="400"/>
              </a:spcAft>
              <a:defRPr sz="3300" b="1">
                <a:solidFill>
                  <a:srgbClr val="153B2D"/>
                </a:solidFill>
                <a:latin typeface="Arial"/>
              </a:defRPr>
            </a:pPr>
            <a:r>
              <a:t>Two synchronized clients.</a:t>
            </a:r>
          </a:p>
          <a:p>
            <a:pPr algn="l">
              <a:lnSpc>
                <a:spcPct val="106000"/>
              </a:lnSpc>
              <a:spcBef>
                <a:spcPts val="0"/>
              </a:spcBef>
              <a:spcAft>
                <a:spcPts val="400"/>
              </a:spcAft>
              <a:defRPr sz="3300" b="1">
                <a:solidFill>
                  <a:srgbClr val="153B2D"/>
                </a:solidFill>
                <a:latin typeface="Arial"/>
              </a:defRPr>
            </a:pPr>
            <a:r>
              <a:t>Persistent player results.</a:t>
            </a:r>
          </a:p>
        </p:txBody>
      </p:sp>
      <p:sp>
        <p:nvSpPr>
          <p:cNvPr id="11" name="Rounded Rectangle 10"/>
          <p:cNvSpPr/>
          <p:nvPr/>
        </p:nvSpPr>
        <p:spPr>
          <a:xfrm>
            <a:off x="8321040" y="1874519"/>
            <a:ext cx="3291840" cy="2761488"/>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549640" y="2523744"/>
            <a:ext cx="2834640" cy="640080"/>
          </a:xfrm>
          <a:prstGeom prst="rect">
            <a:avLst/>
          </a:prstGeom>
          <a:noFill/>
        </p:spPr>
        <p:txBody>
          <a:bodyPr wrap="square" lIns="0" rIns="0" tIns="0" bIns="0">
            <a:noAutofit/>
          </a:bodyPr>
          <a:lstStyle/>
          <a:p>
            <a:pPr algn="ctr">
              <a:lnSpc>
                <a:spcPct val="106000"/>
              </a:lnSpc>
              <a:spcBef>
                <a:spcPts val="0"/>
              </a:spcBef>
              <a:spcAft>
                <a:spcPts val="400"/>
              </a:spcAft>
              <a:defRPr sz="2900" b="1">
                <a:solidFill>
                  <a:srgbClr val="153B2D"/>
                </a:solidFill>
                <a:latin typeface="Arial"/>
              </a:defRPr>
            </a:pPr>
            <a:r>
              <a:t>Next: chat</a:t>
            </a:r>
          </a:p>
        </p:txBody>
      </p:sp>
      <p:sp>
        <p:nvSpPr>
          <p:cNvPr id="13" name="TextBox 12"/>
          <p:cNvSpPr txBox="1"/>
          <p:nvPr/>
        </p:nvSpPr>
        <p:spPr>
          <a:xfrm>
            <a:off x="8549640" y="3429000"/>
            <a:ext cx="2834640" cy="932688"/>
          </a:xfrm>
          <a:prstGeom prst="rect">
            <a:avLst/>
          </a:prstGeom>
          <a:noFill/>
        </p:spPr>
        <p:txBody>
          <a:bodyPr wrap="square" lIns="0" rIns="0" tIns="0" bIns="0">
            <a:noAutofit/>
          </a:bodyPr>
          <a:lstStyle/>
          <a:p>
            <a:pPr algn="ctr">
              <a:lnSpc>
                <a:spcPct val="106000"/>
              </a:lnSpc>
              <a:spcBef>
                <a:spcPts val="0"/>
              </a:spcBef>
              <a:spcAft>
                <a:spcPts val="400"/>
              </a:spcAft>
              <a:defRPr sz="2200" b="0">
                <a:solidFill>
                  <a:srgbClr val="425D50"/>
                </a:solidFill>
                <a:latin typeface="Arial"/>
              </a:defRPr>
            </a:pPr>
            <a:r>
              <a:t>Inside the room</a:t>
            </a:r>
          </a:p>
          <a:p>
            <a:pPr algn="ctr">
              <a:lnSpc>
                <a:spcPct val="106000"/>
              </a:lnSpc>
              <a:spcBef>
                <a:spcPts val="0"/>
              </a:spcBef>
              <a:spcAft>
                <a:spcPts val="400"/>
              </a:spcAft>
              <a:defRPr sz="2200" b="0">
                <a:solidFill>
                  <a:srgbClr val="425D50"/>
                </a:solidFill>
                <a:latin typeface="Arial"/>
              </a:defRPr>
            </a:pPr>
            <a:r>
              <a:t>Over existing TCP</a:t>
            </a:r>
          </a:p>
        </p:txBody>
      </p:sp>
      <p:cxnSp>
        <p:nvCxnSpPr>
          <p:cNvPr id="14" name="Connector 13"/>
          <p:cNvCxnSpPr/>
          <p:nvPr/>
        </p:nvCxnSpPr>
        <p:spPr>
          <a:xfrm>
            <a:off x="594360" y="4507992"/>
            <a:ext cx="6720840" cy="0"/>
          </a:xfrm>
          <a:prstGeom prst="line">
            <a:avLst/>
          </a:prstGeom>
          <a:ln w="1778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594360" y="4773168"/>
            <a:ext cx="7315200" cy="9144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Learning: JavaFX, practical networking,</a:t>
            </a:r>
          </a:p>
          <a:p>
            <a:pPr algn="l">
              <a:lnSpc>
                <a:spcPct val="106000"/>
              </a:lnSpc>
              <a:spcBef>
                <a:spcPts val="0"/>
              </a:spcBef>
              <a:spcAft>
                <a:spcPts val="400"/>
              </a:spcAft>
              <a:defRPr sz="2300" b="0">
                <a:solidFill>
                  <a:srgbClr val="153B2D"/>
                </a:solidFill>
                <a:latin typeface="Arial"/>
              </a:defRPr>
            </a:pPr>
            <a:r>
              <a:t>and integration across UI, rules and storage.</a:t>
            </a:r>
          </a:p>
        </p:txBody>
      </p:sp>
      <p:sp>
        <p:nvSpPr>
          <p:cNvPr id="16" name="TextBox 15"/>
          <p:cNvSpPr txBox="1"/>
          <p:nvPr/>
        </p:nvSpPr>
        <p:spPr>
          <a:xfrm>
            <a:off x="594360" y="5888736"/>
            <a:ext cx="9966960" cy="384048"/>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285942"/>
                </a:solidFill>
                <a:latin typeface="Arial"/>
              </a:defRPr>
            </a:pPr>
            <a:r>
              <a:rPr>
                <a:hlinkClick r:id="rId2"/>
              </a:rPr>
              <a:t>github.com/MuthannaFrhat/damka-game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THANK YOU</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13 / 13</a:t>
            </a:r>
          </a:p>
        </p:txBody>
      </p:sp>
      <p:sp>
        <p:nvSpPr>
          <p:cNvPr id="10" name="Rectangle 9"/>
          <p:cNvSpPr/>
          <p:nvPr/>
        </p:nvSpPr>
        <p:spPr>
          <a:xfrm>
            <a:off x="9034272" y="2423160"/>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509760" y="2423160"/>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9985248" y="2423160"/>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10460736" y="2423160"/>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9034272" y="2898648"/>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9509760" y="2898648"/>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9985248" y="2898648"/>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10460736" y="2898648"/>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9034272" y="3374136"/>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9509760" y="3374136"/>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9985248" y="3374136"/>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10460736" y="3374136"/>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9034272" y="3849624"/>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9509760" y="3849624"/>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9985248" y="3849624"/>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ectangle 24"/>
          <p:cNvSpPr/>
          <p:nvPr/>
        </p:nvSpPr>
        <p:spPr>
          <a:xfrm>
            <a:off x="10460736" y="3849624"/>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9134856" y="2999232"/>
            <a:ext cx="274320" cy="274320"/>
          </a:xfrm>
          <a:prstGeom prst="ellipse">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0085832" y="2999232"/>
            <a:ext cx="274320" cy="274320"/>
          </a:xfrm>
          <a:prstGeom prst="ellipse">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9134856" y="3950207"/>
            <a:ext cx="274320" cy="274320"/>
          </a:xfrm>
          <a:prstGeom prst="ellipse">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85800" y="2148840"/>
            <a:ext cx="7955279" cy="1051560"/>
          </a:xfrm>
          <a:prstGeom prst="rect">
            <a:avLst/>
          </a:prstGeom>
          <a:noFill/>
        </p:spPr>
        <p:txBody>
          <a:bodyPr wrap="square" lIns="0" rIns="0" tIns="0" bIns="0">
            <a:noAutofit/>
          </a:bodyPr>
          <a:lstStyle/>
          <a:p>
            <a:pPr algn="l">
              <a:lnSpc>
                <a:spcPct val="106000"/>
              </a:lnSpc>
              <a:spcBef>
                <a:spcPts val="0"/>
              </a:spcBef>
              <a:spcAft>
                <a:spcPts val="400"/>
              </a:spcAft>
              <a:defRPr sz="6100" b="1">
                <a:solidFill>
                  <a:srgbClr val="153B2D"/>
                </a:solidFill>
                <a:latin typeface="Arial"/>
              </a:defRPr>
            </a:pPr>
            <a:r>
              <a:t>THANK YOU</a:t>
            </a:r>
          </a:p>
        </p:txBody>
      </p:sp>
      <p:sp>
        <p:nvSpPr>
          <p:cNvPr id="30" name="Rectangle 29"/>
          <p:cNvSpPr/>
          <p:nvPr/>
        </p:nvSpPr>
        <p:spPr>
          <a:xfrm>
            <a:off x="713232" y="3557016"/>
            <a:ext cx="1143000" cy="59436"/>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13232" y="3931920"/>
            <a:ext cx="7772400" cy="658368"/>
          </a:xfrm>
          <a:prstGeom prst="rect">
            <a:avLst/>
          </a:prstGeom>
          <a:noFill/>
        </p:spPr>
        <p:txBody>
          <a:bodyPr wrap="square" lIns="0" rIns="0" tIns="0" bIns="0">
            <a:noAutofit/>
          </a:bodyPr>
          <a:lstStyle/>
          <a:p>
            <a:pPr algn="l">
              <a:lnSpc>
                <a:spcPct val="106000"/>
              </a:lnSpc>
              <a:spcBef>
                <a:spcPts val="0"/>
              </a:spcBef>
              <a:spcAft>
                <a:spcPts val="400"/>
              </a:spcAft>
              <a:defRPr sz="2900" b="0">
                <a:solidFill>
                  <a:srgbClr val="425D50"/>
                </a:solidFill>
                <a:latin typeface="Arial"/>
              </a:defRPr>
            </a:pPr>
            <a:r>
              <a:t>Questions &amp; discussion</a:t>
            </a:r>
          </a:p>
        </p:txBody>
      </p:sp>
      <p:sp>
        <p:nvSpPr>
          <p:cNvPr id="32" name="TextBox 31"/>
          <p:cNvSpPr txBox="1"/>
          <p:nvPr/>
        </p:nvSpPr>
        <p:spPr>
          <a:xfrm>
            <a:off x="713232" y="5715000"/>
            <a:ext cx="10789920" cy="43891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285942"/>
                </a:solidFill>
                <a:latin typeface="Arial"/>
              </a:defRPr>
            </a:pPr>
            <a:r>
              <a:rPr>
                <a:hlinkClick r:id="rId2"/>
              </a:rPr>
              <a:t>github.com/MuthannaFrhat/damka-game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Damka — Network Checkers</dc:title>
  <dc:subject>Final project presentation — 15 minutes</dc:subject>
  <dc:creator>Muthanna Farhat; Rabea Abu Aad</dc:creator>
  <cp:keywords>Java, JavaFX, TCP, SQLite, Checkers, Minimax</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