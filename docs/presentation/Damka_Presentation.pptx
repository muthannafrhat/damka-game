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a:latin typeface="Arial"/>
              </a:rPr>
              <a:t>פתיחה</a:t>
            </a:r>
          </a:p>
          <a:p>
            <a:pPr algn="r" rtl="1"/>
            <a:r>
              <a:rPr sz="1200">
                <a:latin typeface="Arial"/>
              </a:rPr>
              <a:t>זמן מומלץ: 30 שניות</a:t>
            </a:r>
          </a:p>
          <a:p>
            <a:pPr algn="r" rtl="1"/>
          </a:p>
          <a:p>
            <a:pPr algn="r" rtl="1"/>
            <a:r>
              <a:rPr sz="1200">
                <a:latin typeface="Arial"/>
              </a:rPr>
              <a:t>להציג את שמות המגישים ואת שם הפרויקט. בנינו משחק דמקה ב־Java וב־JavaFX, הכולל משחק בין שני מחשבים באמצעות שרת TCP, יריב ממוחשב ופרופילים עם היסטוריית משחקים. בהצגה נתמקד בדרך שבה הרכיבים עובדים יחד. ההדגמה תבוצע בנפרד מהשקפים.</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a:latin typeface="Arial"/>
              </a:rPr>
              <a:t>המטרה והיכולות</a:t>
            </a:r>
          </a:p>
          <a:p>
            <a:pPr algn="r" rtl="1"/>
            <a:r>
              <a:rPr sz="1200">
                <a:latin typeface="Arial"/>
              </a:rPr>
              <a:t>זמן מומלץ: 60 שניות</a:t>
            </a:r>
          </a:p>
          <a:p>
            <a:pPr algn="r" rtl="1"/>
          </a:p>
          <a:p>
            <a:pPr algn="r" rtl="1"/>
            <a:r>
              <a:rPr sz="1200">
                <a:latin typeface="Arial"/>
              </a:rPr>
              <a:t>המטרה היא לאפשר למשתמש לבחור בין משחק מול אדם אחר לבין אימון מול BOT, ולקבל חוויית משחק ברורה עם תוצאה שנשמרת בחשבון. במשחק ברשת צריך ששני המשתתפים יראו את אותו לוח ושלא יוכלו לבצע מהלכים מחוץ לתור. חשבונות והיסטוריה מאפשרים לשמור הישגים בין הפעלות. המשחק המקומי מול BOT זמין גם ללא שרת, אך אימון לא מקוון אינו נשמר. כללי הדמקה עצמם מרוכזים ב־Game ומשמשים בשני המצבים. להזכיר בקצרה: תנועה אלכסונית, אכילה מחייבת והכתרה; אין צורך ללמד כאן את כל המשחק.</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a:latin typeface="Arial"/>
              </a:rPr>
              <a:t>מבנה המערכת ובחירת TCP</a:t>
            </a:r>
          </a:p>
          <a:p>
            <a:pPr algn="r" rtl="1"/>
            <a:r>
              <a:rPr sz="1200">
                <a:latin typeface="Arial"/>
              </a:rPr>
              <a:t>זמן מומלץ: 90 שניות</a:t>
            </a:r>
          </a:p>
          <a:p>
            <a:pPr algn="r" rtl="1"/>
          </a:p>
          <a:p>
            <a:pPr algn="r" rtl="1"/>
            <a:r>
              <a:rPr sz="1200">
                <a:latin typeface="Arial"/>
              </a:rPr>
              <a:t>להצביע על שני הלקוחות ועל השרת. כל לקוח מחובר לשרת; אין חיבור ישיר בין שני השחקנים. השרת מנהל חדרים, ובכל חדר נמצא אובייקט Game שמחזיק את מצב המשחק המקוון. כך יש מקור מוסמך אחד שמאמת מהלכים ומעדכן את שני המשתתפים. מסד SQLite נמצא בצד השרת ושומר חשבונות ותוצאות.</a:t>
            </a:r>
          </a:p>
          <a:p>
            <a:pPr algn="r" rtl="1"/>
          </a:p>
          <a:p>
            <a:pPr algn="r" rtl="1"/>
            <a:r>
              <a:rPr sz="1200">
                <a:latin typeface="Arial"/>
              </a:rPr>
              <a:t>אפשר היה לבחור HTTP עם בקשות חוזרות לקבלת עדכונים. בחרנו TCP מתמשך כדי להעביר בקשות ועדכונים לשני הכיוונים דרך אותו חיבור. זו בחירה שמתאימה לפרויקט, ולא טענה ש־TCP תמיד עדיף. גם HTTP פועל בדרך כלל מעל TCP; כאן ההשוואה היא בין פרוטוקול ההודעות שלנו על Socket לבין תכנון מבוסס בקשות HTTP.</a:t>
            </a:r>
          </a:p>
          <a:p>
            <a:pPr algn="r" rtl="1"/>
          </a:p>
          <a:p>
            <a:pPr algn="r" rtl="1"/>
            <a:r>
              <a:rPr sz="1200">
                <a:latin typeface="Arial"/>
              </a:rPr>
              <a:t>חיבור TCP נפתח כבר בהרשמה או בהתחברות. לאחר ההזדהות אותו Socket משמש לחדרים, למהלכים ולפרופיל. יצירת חדר משייכת שני חיבורים למשחק אחד.</a:t>
            </a:r>
          </a:p>
          <a:p>
            <a:pPr algn="r" rtl="1"/>
            <a:r>
              <a:rPr sz="1200">
                <a:latin typeface="Arial"/>
              </a:rPr>
              <a:t>מקורות להכנה: https://docs.oracle.com/javase/tutorial/networking/sockets/ ; https://www.sqlite.org/about.html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a:latin typeface="Arial"/>
              </a:rPr>
              <a:t>מהלך אחד מקצה לקצה</a:t>
            </a:r>
          </a:p>
          <a:p>
            <a:pPr algn="r" rtl="1"/>
            <a:r>
              <a:rPr sz="1200">
                <a:latin typeface="Arial"/>
              </a:rPr>
              <a:t>זמן מומלץ: 120 שניות</a:t>
            </a:r>
          </a:p>
          <a:p>
            <a:pPr algn="r" rtl="1"/>
          </a:p>
          <a:p>
            <a:pPr algn="r" rtl="1"/>
            <a:r>
              <a:rPr sz="1200">
                <a:latin typeface="Arial"/>
              </a:rPr>
              <a:t>להתחיל מלחיצה על כלי וממשבצת היעד. DamkaFX שולחת דרך RoomConnection הודעת MOVE עם שורת ועמודת מקור ויעד. המספרים בדוגמה הם קואורדינטות שמתחילות באפס. השרת מזהה את השחקן לפי ה־Socket המאומת; Room בודקת את ההקשר ואת התור, ו־Game.move בודקת את חוקי הדמקה. בקשה לא חוקית מקבלת ERROR בלי לשנות את הלוח.</a:t>
            </a:r>
          </a:p>
          <a:p>
            <a:pPr algn="r" rtl="1"/>
          </a:p>
          <a:p>
            <a:pPr algn="r" rtl="1"/>
            <a:r>
              <a:rPr sz="1200">
                <a:latin typeface="Arial"/>
              </a:rPr>
              <a:t>כאשר המהלך מאושר, שני הלקוחות מקבלים בסדר זה MOVE_APPLIED, BOARD ו־TURN. הראשונה מאפשרת להנפיש את המהלך, השנייה מכילה תמונת לוח של 64 סימנים, והשלישית מציינת את התור. הלקוח משהה את הטיפול בהודעות המאוחרות בזמן האנימציה, ואז מציג את המצב המעודכן.</a:t>
            </a:r>
          </a:p>
          <a:p>
            <a:pPr algn="r" rtl="1"/>
          </a:p>
          <a:p>
            <a:pPr algn="r" rtl="1"/>
            <a:r>
              <a:rPr sz="1200">
                <a:latin typeface="Arial"/>
              </a:rPr>
              <a:t>TCP מעבירה זרם בתים ואינה מסמנת לבדה גבולות הודעה. בחרנו שורת טקסט לכל הודעה: println כותבת סוף שורה ו־readLine קוראת עד סוף שורה. הנקודה מייצגת תא ריק, x/o כלי רגיל ו־X/O מלך.</a:t>
            </a:r>
          </a:p>
          <a:p>
            <a:pPr algn="r" rtl="1"/>
          </a:p>
          <a:p>
            <a:pPr algn="r" rtl="1"/>
            <a:r>
              <a:rPr sz="1200">
                <a:latin typeface="Arial"/>
              </a:rPr>
              <a:t>הרשת נקראת בחוט רקע; כתיבה נעשית דרך עובד כתיבה יחיד ששומר סדר. Platform.runLater מעבירה עדכוני מסך לחוט JavaFX. חיפוש BOT במימוש הנוכחי מתבצע מחוט הממשק.</a:t>
            </a:r>
          </a:p>
          <a:p>
            <a:pPr algn="r" rtl="1"/>
            <a:r>
              <a:rPr sz="1200">
                <a:latin typeface="Arial"/>
              </a:rPr>
              <a:t>לקראת שאלה: הלקוח בוחר ומציג; הסמכות לאשר מהלך מקוון נמצאת בשרת.</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a:latin typeface="Arial"/>
              </a:rPr>
              <a:t>כללי המשחק ובחירת מהלך BOT</a:t>
            </a:r>
          </a:p>
          <a:p>
            <a:pPr algn="r" rtl="1"/>
            <a:r>
              <a:rPr sz="1200">
                <a:latin typeface="Arial"/>
              </a:rPr>
              <a:t>זמן מומלץ: 90 שניות</a:t>
            </a:r>
          </a:p>
          <a:p>
            <a:pPr algn="r" rtl="1"/>
          </a:p>
          <a:p>
            <a:pPr algn="r" rtl="1"/>
            <a:r>
              <a:rPr sz="1200">
                <a:latin typeface="Arial"/>
              </a:rPr>
              <a:t>הכללים מרוכזים ב־Game, ולכן השרת והמשחק מול BOT נשענים על אותו מנגנון של תנועה, אכילה, רצף אכילות והכתרה. BotPlayer מחפשת מהלך באמצעות Minimax עם גיזום Alpha-Beta. כל אפשרות נבדקת על עותק עצמאי של Game, כדי לא לשנות את המשחק הפעיל בזמן החיפוש.</a:t>
            </a:r>
          </a:p>
          <a:p>
            <a:pPr algn="r" rtl="1"/>
          </a:p>
          <a:p>
            <a:pPr algn="r" rtl="1"/>
            <a:r>
              <a:rPr sz="1200">
                <a:latin typeface="Arial"/>
              </a:rPr>
              <a:t>להצביע על העץ: בתור ה־BOT מחפשים ציון גבוה; בתור היריב מניחים שהוא יבחר ציון נמוך מבחינת ה־BOT. בענף השמאלי היריב יכול לכפות מינוס 3, ובימני 0, ולכן ה־BOT מעדיף את הימני. הציונים בשקף הם המחשה, לא עקבה של משחק מסוים.</a:t>
            </a:r>
          </a:p>
          <a:p>
            <a:pPr algn="r" rtl="1"/>
          </a:p>
          <a:p>
            <a:pPr algn="r" rtl="1"/>
            <a:r>
              <a:rPr sz="1200">
                <a:latin typeface="Arial"/>
              </a:rPr>
              <a:t>ההערכה מבוססת על ערך כלי BOT פחות ערך כלי היריב: כלי רגיל 3, מלך 6. ניצחון או הפסד מקבלים ציון מכריע. רמות הקושי בוחרות עומק 1, 2 או 3; העומק נספר לפי צעד או קפיצה בודדת. ברצף אכילות אותו שחקן יכול להמשיך, ולכן החיפוש בודק מי השחקן הנוכחי ולא מחליף צד אוטומטית.</a:t>
            </a:r>
          </a:p>
          <a:p>
            <a:pPr algn="r" rtl="1"/>
          </a:p>
          <a:p>
            <a:pPr algn="r" rtl="1"/>
            <a:r>
              <a:rPr sz="1200">
                <a:latin typeface="Arial"/>
              </a:rPr>
              <a:t>Alpha-Beta מצמצמת ענפים שאינם יכולים לשפר את הבחירה בתוך החיפוש. אין צורך להיכנס להוכחה או להציג סיבוכיות בשקף.</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a:latin typeface="Arial"/>
              </a:rPr>
              <a:t>חשבונות ושמירת תוצאות</a:t>
            </a:r>
          </a:p>
          <a:p>
            <a:pPr algn="r" rtl="1"/>
            <a:r>
              <a:rPr sz="1200">
                <a:latin typeface="Arial"/>
              </a:rPr>
              <a:t>זמן מומלץ: 60 שניות</a:t>
            </a:r>
          </a:p>
          <a:p>
            <a:pPr algn="r" rtl="1"/>
          </a:p>
          <a:p>
            <a:pPr algn="r" rtl="1"/>
            <a:r>
              <a:rPr sz="1200">
                <a:latin typeface="Arial"/>
              </a:rPr>
              <a:t>השרת מטפל בהרשמה ובהתחברות ושומר את הנתונים בשתי טבלאות SQLite. profiles כוללת שם משתמש, תאריך יצירה, salt וגיבוב סיסמה; הסיסמה עצמה אינה נשמרת. בהתחברות מחשבים שוב גיבוב עם ה־salt השמור ומשווים אותו לערך שבמסד. המימוש משתמש ב־PBKDF2-HMAC-SHA256.</a:t>
            </a:r>
          </a:p>
          <a:p>
            <a:pPr algn="r" rtl="1"/>
          </a:p>
          <a:p>
            <a:pPr algn="r" rtl="1"/>
            <a:r>
              <a:rPr sz="1200">
                <a:latin typeface="Arial"/>
              </a:rPr>
              <a:t>game_results כוללת את פרטי המשחק ואת תוצאתו. אין טבלה נפרדת של מוני ניצחונות: הסטטיסטיקה מחושבת מתוצאות המשחקים. מזהה משחק ייחודי מונע שמירת אותה תוצאה פעמיים. בתצוגה יש הפרדה בין משחקים מקוונים למשחקי BOT, וההיסטוריה מציגה את 100 התוצאות האחרונות.</a:t>
            </a:r>
          </a:p>
          <a:p>
            <a:pPr algn="r" rtl="1"/>
          </a:p>
          <a:p>
            <a:pPr algn="r" rtl="1"/>
            <a:r>
              <a:rPr sz="1200">
                <a:latin typeface="Arial"/>
              </a:rPr>
              <a:t>תוצאה מקוונת נקבעת בשרת. תוצאת BOT מדווחת מהלקוח ונשלחת רק אם אותו חשבון ואותו חיבור נשארו פעילים מתחילת המשחק ועד סופו. גיבוב סיסמה במסד אינו מצפין את התקשורת ברשת.</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a:latin typeface="Arial"/>
              </a:rPr>
              <a:t>בדיקות ושימוש ב־AI</a:t>
            </a:r>
          </a:p>
          <a:p>
            <a:pPr algn="r" rtl="1"/>
            <a:r>
              <a:rPr sz="1200">
                <a:latin typeface="Arial"/>
              </a:rPr>
              <a:t>זמן מומלץ: 75 שניות</a:t>
            </a:r>
          </a:p>
          <a:p>
            <a:pPr algn="r" rtl="1"/>
          </a:p>
          <a:p>
            <a:pPr algn="r" rtl="1"/>
            <a:r>
              <a:rPr sz="1200">
                <a:latin typeface="Arial"/>
              </a:rPr>
              <a:t>הבדיקות האוטומטיות מכסות שלוש שכבות: כללי המשחק, תקשורת TCP ושמירת נתונים. בדיקות התקשורת משתמשות בחיבורים אמיתיים לכתובת loopback, ובדיקות הנתונים משתמשות במסדי SQLite זמניים. בין התרחישים: מהלך לא חוקי או מחוץ לתור נדחה בלי לשנות לוח, רצף אכילות נשמר, ושמירה חוזרת של אותה תוצאה אינה מכפילה את הסטטיסטיקה. נבדקו גם הרשמה, כניסה והתמדה לאחר פתיחה מחדש של המסד. הממשק נבדק ידנית עם שני חלונות לקוח.</a:t>
            </a:r>
          </a:p>
          <a:p>
            <a:pPr algn="r" rtl="1"/>
          </a:p>
          <a:p>
            <a:pPr algn="r" rtl="1"/>
            <a:r>
              <a:rPr sz="1200">
                <a:latin typeface="Arial"/>
              </a:rPr>
              <a:t>המספר 48 מבוסס על ההרצה המתועדת מ־12 באוקטובר 2026.</a:t>
            </a:r>
          </a:p>
          <a:p>
            <a:pPr algn="r" rtl="1"/>
          </a:p>
          <a:p>
            <a:pPr algn="r" rtl="1"/>
            <a:r>
              <a:rPr sz="1200">
                <a:latin typeface="Arial"/>
              </a:rPr>
              <a:t>בפרויקט נעשה שימוש נרחב ב־Codex וב־GitHub Copilot לתכנון, ליצירת קוד ולשינויו, להסברים, לבדיקות ולתיעוד. תהליך העבודה כלל הגדרת דרישות, קריאה, הרצה, בדיקה והתאמות.</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a:latin typeface="Arial"/>
              </a:rPr>
              <a:t>מגבלות והמשך פיתוח</a:t>
            </a:r>
          </a:p>
          <a:p>
            <a:pPr algn="r" rtl="1"/>
            <a:r>
              <a:rPr sz="1200">
                <a:latin typeface="Arial"/>
              </a:rPr>
              <a:t>זמן מומלץ: 45 שניות</a:t>
            </a:r>
          </a:p>
          <a:p>
            <a:pPr algn="r" rtl="1"/>
          </a:p>
          <a:p>
            <a:pPr algn="r" rtl="1"/>
            <a:r>
              <a:rPr sz="1200">
                <a:latin typeface="Arial"/>
              </a:rPr>
              <a:t>המימוש הנוכחי מיועד לרשת מקומית. כתובת ופורט ניתנים להגדרה, אך אין TLS ולכן ההודעות אינן מוצפנות. לאחר זיהוי ניתוק במשחק פעיל המשחק מסתיים לטובת היריב; אין שחזור של אותו משחק לאחר התחברות מחדש. תוצאות BOT מדווחות מהלקוח, ומשחק לא מקוון או משחק שאיבד את חיבור החשבון אינו נשמר או מועלה מאוחר יותר.</a:t>
            </a:r>
          </a:p>
          <a:p>
            <a:pPr algn="r" rtl="1"/>
          </a:p>
          <a:p>
            <a:pPr algn="r" rtl="1"/>
            <a:r>
              <a:rPr sz="1200">
                <a:latin typeface="Arial"/>
              </a:rPr>
              <a:t>אלה גבולות ההיקף הנוכחי. כיוון המשך טבעי הוא צ׳אט בתוך החדר, דרך החיבורים הקיימים והשרת. זו תוספת עתידית, לא יכולת שכבר קיימת. אפשר להזכיר בעל פה גם שחיפוש BOT מוגבל לעומק שנבחר ולפונקציית הערכה פשוטה.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a:latin typeface="Arial"/>
              </a:rPr>
              <a:t>סיכום ותרומה אישית</a:t>
            </a:r>
          </a:p>
          <a:p>
            <a:pPr algn="r" rtl="1"/>
            <a:r>
              <a:rPr sz="1200">
                <a:latin typeface="Arial"/>
              </a:rPr>
              <a:t>זמן מומלץ: 45 שניות</a:t>
            </a:r>
          </a:p>
          <a:p>
            <a:pPr algn="r" rtl="1"/>
          </a:p>
          <a:p>
            <a:pPr algn="r" rtl="1"/>
            <a:r>
              <a:rPr sz="1200">
                <a:latin typeface="Arial"/>
              </a:rPr>
              <a:t>לסכם בתוצר: שני לקוחות מסונכרנים, שרת שמאמת מהלכים, מנוע כללים משותף ונתונים שנשמרים בפרופיל. הלמידה המרכזית היא חיבור ידע תאורטי ברשתות לתקשורת מעשית, עבודה עם JavaFX והפרדת כללי משחק מהתצוגה.</a:t>
            </a:r>
          </a:p>
          <a:p>
            <a:pPr algn="r" rtl="1"/>
          </a:p>
          <a:p>
            <a:pPr algn="r" rtl="1"/>
            <a:r>
              <a:rPr sz="1200">
                <a:latin typeface="Arial"/>
              </a:rPr>
              <a:t>חלוקת תחומי האחריות שהוגדרה בפרויקט: רביע — לוגיקת המשחק; מותנא — חיבור TCP. קישור המאגר מופיע בשקף וניתן ללחיצה.</a:t>
            </a:r>
          </a:p>
          <a:p>
            <a:pPr algn="r" rtl="1"/>
          </a:p>
          <a:p>
            <a:pPr algn="r" rtl="1"/>
            <a:r>
              <a:rPr sz="1200">
                <a:latin typeface="Arial"/>
              </a:rPr>
              <a:t>תקציב המצגת הוא 10:30 דקות לשקפים, 3 דקות להדגמה נפרדת ועוד 1:30 לשאלות. לתרגל מראש תשובות: למה יש שרת? מתי נפתח Socket? מי מאשר מהלך? איך BOT בוחרת? איך נמנעת שמירה כפולה? מה ההבדל בין גיבוב סיסמה להצפנת התקשורת?</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sz="1200">
                <a:latin typeface="Arial"/>
              </a:rPr>
              <a:t>תודה ושאלות</a:t>
            </a:r>
          </a:p>
          <a:p>
            <a:pPr algn="r" rtl="1"/>
            <a:r>
              <a:rPr sz="1200">
                <a:latin typeface="Arial"/>
              </a:rPr>
              <a:t>זמן מומלץ: 15 שניות</a:t>
            </a:r>
          </a:p>
          <a:p>
            <a:pPr algn="r" rtl="1"/>
          </a:p>
          <a:p>
            <a:pPr algn="r" rtl="1"/>
            <a:r>
              <a:rPr sz="1200">
                <a:latin typeface="Arial"/>
              </a:rPr>
              <a:t>להודות למנחה ולקהל ולהזמין שאלות. אפשר להשאיר את השקף מוצג בזמן הדיון. ההדגמה מוכנה בנפרד ואינה שקף במצגת.</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uthannaFrhat/damka-game"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uthannaFrhat/damka-game" TargetMode="External"/><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4"/>
        </a:solidFill>
        <a:effectLst/>
      </p:bgPr>
    </p:bg>
    <p:spTree>
      <p:nvGrpSpPr>
        <p:cNvPr id="1" name=""/>
        <p:cNvGrpSpPr/>
        <p:nvPr/>
      </p:nvGrpSpPr>
      <p:grpSpPr/>
      <p:sp>
        <p:nvSpPr>
          <p:cNvPr id="2" name="TextBox 1"/>
          <p:cNvSpPr txBox="1"/>
          <p:nvPr/>
        </p:nvSpPr>
        <p:spPr>
          <a:xfrm>
            <a:off x="502920" y="219456"/>
            <a:ext cx="1828800" cy="274320"/>
          </a:xfrm>
          <a:prstGeom prst="rect">
            <a:avLst/>
          </a:prstGeom>
          <a:noFill/>
        </p:spPr>
        <p:txBody>
          <a:bodyPr wrap="square" lIns="0" rIns="0" tIns="0" bIns="0">
            <a:noAutofit/>
          </a:bodyPr>
          <a:lstStyle/>
          <a:p>
            <a:pPr algn="l">
              <a:lnSpc>
                <a:spcPct val="106000"/>
              </a:lnSpc>
              <a:spcBef>
                <a:spcPts val="0"/>
              </a:spcBef>
              <a:spcAft>
                <a:spcPts val="400"/>
              </a:spcAft>
              <a:defRPr sz="1500" b="1">
                <a:solidFill>
                  <a:srgbClr val="285942"/>
                </a:solidFill>
                <a:latin typeface="Arial"/>
              </a:defRPr>
            </a:pPr>
            <a:r>
              <a:t>DAMKA</a:t>
            </a:r>
          </a:p>
        </p:txBody>
      </p:sp>
      <p:sp>
        <p:nvSpPr>
          <p:cNvPr id="3" name="TextBox 2"/>
          <p:cNvSpPr txBox="1"/>
          <p:nvPr/>
        </p:nvSpPr>
        <p:spPr>
          <a:xfrm>
            <a:off x="7315200" y="219456"/>
            <a:ext cx="4370832" cy="274320"/>
          </a:xfrm>
          <a:prstGeom prst="rect">
            <a:avLst/>
          </a:prstGeom>
          <a:noFill/>
        </p:spPr>
        <p:txBody>
          <a:bodyPr wrap="square" lIns="0" rIns="0" tIns="0" bIns="0">
            <a:noAutofit/>
          </a:bodyPr>
          <a:lstStyle/>
          <a:p>
            <a:pPr algn="r">
              <a:lnSpc>
                <a:spcPct val="106000"/>
              </a:lnSpc>
              <a:spcBef>
                <a:spcPts val="0"/>
              </a:spcBef>
              <a:spcAft>
                <a:spcPts val="400"/>
              </a:spcAft>
              <a:defRPr sz="1300" b="0">
                <a:solidFill>
                  <a:srgbClr val="425D50"/>
                </a:solidFill>
                <a:latin typeface="Arial"/>
              </a:defRPr>
            </a:pPr>
            <a:r>
              <a:t>FINAL PROJECT PRESENTATION · OCTOBER 2026</a:t>
            </a:r>
          </a:p>
        </p:txBody>
      </p:sp>
      <p:cxnSp>
        <p:nvCxnSpPr>
          <p:cNvPr id="4" name="Connector 3"/>
          <p:cNvCxnSpPr/>
          <p:nvPr/>
        </p:nvCxnSpPr>
        <p:spPr>
          <a:xfrm>
            <a:off x="502920" y="694944"/>
            <a:ext cx="11183112"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502920" y="667512"/>
            <a:ext cx="1005840" cy="50292"/>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941832"/>
            <a:ext cx="11183112" cy="1051560"/>
          </a:xfrm>
          <a:prstGeom prst="rect">
            <a:avLst/>
          </a:prstGeom>
          <a:noFill/>
        </p:spPr>
        <p:txBody>
          <a:bodyPr wrap="square" lIns="0" rIns="0" tIns="0" bIns="0">
            <a:noAutofit/>
          </a:bodyPr>
          <a:lstStyle/>
          <a:p>
            <a:pPr algn="l">
              <a:lnSpc>
                <a:spcPct val="106000"/>
              </a:lnSpc>
              <a:spcBef>
                <a:spcPts val="0"/>
              </a:spcBef>
              <a:spcAft>
                <a:spcPts val="400"/>
              </a:spcAft>
              <a:defRPr sz="5600" b="1">
                <a:solidFill>
                  <a:srgbClr val="153B2D"/>
                </a:solidFill>
                <a:latin typeface="Arial"/>
              </a:defRPr>
            </a:pPr>
            <a:r>
              <a:t>Damka</a:t>
            </a:r>
          </a:p>
        </p:txBody>
      </p:sp>
      <p:cxnSp>
        <p:nvCxnSpPr>
          <p:cNvPr id="7" name="Connector 6"/>
          <p:cNvCxnSpPr/>
          <p:nvPr/>
        </p:nvCxnSpPr>
        <p:spPr>
          <a:xfrm>
            <a:off x="502920" y="6437376"/>
            <a:ext cx="11183112" cy="0"/>
          </a:xfrm>
          <a:prstGeom prst="line">
            <a:avLst/>
          </a:prstGeom>
          <a:ln w="1016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02920" y="6528816"/>
            <a:ext cx="7315200" cy="182880"/>
          </a:xfrm>
          <a:prstGeom prst="rect">
            <a:avLst/>
          </a:prstGeom>
          <a:noFill/>
        </p:spPr>
        <p:txBody>
          <a:bodyPr wrap="square" lIns="0" rIns="0" tIns="0" bIns="0">
            <a:noAutofit/>
          </a:bodyPr>
          <a:lstStyle/>
          <a:p>
            <a:pPr algn="l">
              <a:lnSpc>
                <a:spcPct val="106000"/>
              </a:lnSpc>
              <a:spcBef>
                <a:spcPts val="0"/>
              </a:spcBef>
              <a:spcAft>
                <a:spcPts val="400"/>
              </a:spcAft>
              <a:defRPr sz="1000" b="0">
                <a:solidFill>
                  <a:srgbClr val="425D50"/>
                </a:solidFill>
                <a:latin typeface="Arial"/>
              </a:defRPr>
            </a:pPr>
            <a:r>
              <a:t>DAMKA  /  FINAL PROJECT</a:t>
            </a:r>
          </a:p>
        </p:txBody>
      </p:sp>
      <p:sp>
        <p:nvSpPr>
          <p:cNvPr id="9" name="TextBox 8"/>
          <p:cNvSpPr txBox="1"/>
          <p:nvPr/>
        </p:nvSpPr>
        <p:spPr>
          <a:xfrm>
            <a:off x="10698480" y="6510528"/>
            <a:ext cx="987552" cy="228600"/>
          </a:xfrm>
          <a:prstGeom prst="rect">
            <a:avLst/>
          </a:prstGeom>
          <a:noFill/>
        </p:spPr>
        <p:txBody>
          <a:bodyPr wrap="square" lIns="0" rIns="0" tIns="0" bIns="0">
            <a:noAutofit/>
          </a:bodyPr>
          <a:lstStyle/>
          <a:p>
            <a:pPr algn="r">
              <a:lnSpc>
                <a:spcPct val="106000"/>
              </a:lnSpc>
              <a:spcBef>
                <a:spcPts val="0"/>
              </a:spcBef>
              <a:spcAft>
                <a:spcPts val="400"/>
              </a:spcAft>
              <a:defRPr sz="1200" b="0">
                <a:solidFill>
                  <a:srgbClr val="425D50"/>
                </a:solidFill>
                <a:latin typeface="Arial"/>
              </a:defRPr>
            </a:pPr>
            <a:r>
              <a:t>01 / 10</a:t>
            </a:r>
          </a:p>
        </p:txBody>
      </p:sp>
      <p:sp>
        <p:nvSpPr>
          <p:cNvPr id="10" name="TextBox 9"/>
          <p:cNvSpPr txBox="1"/>
          <p:nvPr/>
        </p:nvSpPr>
        <p:spPr>
          <a:xfrm>
            <a:off x="566928" y="2231136"/>
            <a:ext cx="5166360" cy="731520"/>
          </a:xfrm>
          <a:prstGeom prst="rect">
            <a:avLst/>
          </a:prstGeom>
          <a:noFill/>
        </p:spPr>
        <p:txBody>
          <a:bodyPr wrap="square" lIns="0" rIns="0" tIns="0" bIns="0">
            <a:noAutofit/>
          </a:bodyPr>
          <a:lstStyle/>
          <a:p>
            <a:pPr algn="l">
              <a:lnSpc>
                <a:spcPct val="106000"/>
              </a:lnSpc>
              <a:spcBef>
                <a:spcPts val="0"/>
              </a:spcBef>
              <a:spcAft>
                <a:spcPts val="400"/>
              </a:spcAft>
              <a:defRPr sz="3200" b="1">
                <a:solidFill>
                  <a:srgbClr val="153B2D"/>
                </a:solidFill>
                <a:latin typeface="Arial"/>
              </a:defRPr>
            </a:pPr>
            <a:r>
              <a:t>Checkers, connected.</a:t>
            </a:r>
          </a:p>
        </p:txBody>
      </p:sp>
      <p:sp>
        <p:nvSpPr>
          <p:cNvPr id="11" name="TextBox 10"/>
          <p:cNvSpPr txBox="1"/>
          <p:nvPr/>
        </p:nvSpPr>
        <p:spPr>
          <a:xfrm>
            <a:off x="566928" y="3310128"/>
            <a:ext cx="4983480" cy="1143000"/>
          </a:xfrm>
          <a:prstGeom prst="rect">
            <a:avLst/>
          </a:prstGeom>
          <a:noFill/>
        </p:spPr>
        <p:txBody>
          <a:bodyPr wrap="square" lIns="0" rIns="0" tIns="0" bIns="0">
            <a:noAutofit/>
          </a:bodyPr>
          <a:lstStyle/>
          <a:p>
            <a:pPr algn="l">
              <a:lnSpc>
                <a:spcPct val="106000"/>
              </a:lnSpc>
              <a:spcBef>
                <a:spcPts val="0"/>
              </a:spcBef>
              <a:spcAft>
                <a:spcPts val="400"/>
              </a:spcAft>
              <a:defRPr sz="2400" b="0">
                <a:solidFill>
                  <a:srgbClr val="425D50"/>
                </a:solidFill>
                <a:latin typeface="Arial"/>
              </a:defRPr>
            </a:pPr>
            <a:r>
              <a:t>TCP multiplayer · Local BOT</a:t>
            </a:r>
          </a:p>
          <a:p>
            <a:pPr algn="l">
              <a:lnSpc>
                <a:spcPct val="106000"/>
              </a:lnSpc>
              <a:spcBef>
                <a:spcPts val="0"/>
              </a:spcBef>
              <a:spcAft>
                <a:spcPts val="400"/>
              </a:spcAft>
              <a:defRPr sz="2400" b="0">
                <a:solidFill>
                  <a:srgbClr val="425D50"/>
                </a:solidFill>
                <a:latin typeface="Arial"/>
              </a:defRPr>
            </a:pPr>
            <a:r>
              <a:t>Accounts, statistics and history</a:t>
            </a:r>
          </a:p>
        </p:txBody>
      </p:sp>
      <p:sp>
        <p:nvSpPr>
          <p:cNvPr id="12" name="Rounded Rectangle 11"/>
          <p:cNvSpPr/>
          <p:nvPr/>
        </p:nvSpPr>
        <p:spPr>
          <a:xfrm>
            <a:off x="5815584" y="1746504"/>
            <a:ext cx="5733288" cy="4233672"/>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05_online_game.png"/>
          <p:cNvPicPr>
            <a:picLocks noChangeAspect="1"/>
          </p:cNvPicPr>
          <p:nvPr/>
        </p:nvPicPr>
        <p:blipFill>
          <a:blip r:embed="rId2"/>
          <a:stretch>
            <a:fillRect/>
          </a:stretch>
        </p:blipFill>
        <p:spPr>
          <a:xfrm>
            <a:off x="5872106" y="1801368"/>
            <a:ext cx="5620242" cy="4123944"/>
          </a:xfrm>
          <a:prstGeom prst="rect">
            <a:avLst/>
          </a:prstGeom>
        </p:spPr>
      </p:pic>
      <p:sp>
        <p:nvSpPr>
          <p:cNvPr id="14" name="Rectangle 13"/>
          <p:cNvSpPr/>
          <p:nvPr/>
        </p:nvSpPr>
        <p:spPr>
          <a:xfrm>
            <a:off x="566928" y="4965192"/>
            <a:ext cx="4983480" cy="41148"/>
          </a:xfrm>
          <a:prstGeom prst="rect">
            <a:avLst/>
          </a:prstGeom>
          <a:solidFill>
            <a:srgbClr val="9F762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66928" y="5266944"/>
            <a:ext cx="4983480" cy="713232"/>
          </a:xfrm>
          <a:prstGeom prst="rect">
            <a:avLst/>
          </a:prstGeom>
          <a:noFill/>
        </p:spPr>
        <p:txBody>
          <a:bodyPr wrap="square" lIns="0" rIns="0" tIns="0" bIns="0">
            <a:noAutofit/>
          </a:bodyPr>
          <a:lstStyle/>
          <a:p>
            <a:pPr algn="l">
              <a:lnSpc>
                <a:spcPct val="106000"/>
              </a:lnSpc>
              <a:spcBef>
                <a:spcPts val="0"/>
              </a:spcBef>
              <a:spcAft>
                <a:spcPts val="400"/>
              </a:spcAft>
              <a:defRPr sz="2200" b="1">
                <a:solidFill>
                  <a:srgbClr val="153B2D"/>
                </a:solidFill>
                <a:latin typeface="Arial"/>
              </a:defRPr>
            </a:pPr>
            <a:r>
              <a:t>Muthanna Farhat</a:t>
            </a:r>
          </a:p>
          <a:p>
            <a:pPr algn="l">
              <a:lnSpc>
                <a:spcPct val="106000"/>
              </a:lnSpc>
              <a:spcBef>
                <a:spcPts val="0"/>
              </a:spcBef>
              <a:spcAft>
                <a:spcPts val="400"/>
              </a:spcAft>
              <a:defRPr sz="2200" b="1">
                <a:solidFill>
                  <a:srgbClr val="153B2D"/>
                </a:solidFill>
                <a:latin typeface="Arial"/>
              </a:defRPr>
            </a:pPr>
            <a:r>
              <a:t>Rabea Abu Aad</a:t>
            </a:r>
          </a:p>
        </p:txBody>
      </p:sp>
      <p:sp>
        <p:nvSpPr>
          <p:cNvPr id="16" name="TextBox 15"/>
          <p:cNvSpPr txBox="1"/>
          <p:nvPr/>
        </p:nvSpPr>
        <p:spPr>
          <a:xfrm>
            <a:off x="566928" y="6053328"/>
            <a:ext cx="4983480" cy="274320"/>
          </a:xfrm>
          <a:prstGeom prst="rect">
            <a:avLst/>
          </a:prstGeom>
          <a:noFill/>
        </p:spPr>
        <p:txBody>
          <a:bodyPr wrap="square" lIns="0" rIns="0" tIns="0" bIns="0">
            <a:noAutofit/>
          </a:bodyPr>
          <a:lstStyle/>
          <a:p>
            <a:pPr algn="l">
              <a:lnSpc>
                <a:spcPct val="106000"/>
              </a:lnSpc>
              <a:spcBef>
                <a:spcPts val="0"/>
              </a:spcBef>
              <a:spcAft>
                <a:spcPts val="400"/>
              </a:spcAft>
              <a:defRPr sz="1600" b="0">
                <a:solidFill>
                  <a:srgbClr val="425D50"/>
                </a:solidFill>
                <a:latin typeface="Arial"/>
              </a:defRPr>
            </a:pPr>
            <a:r>
              <a:t>Supervisor: Inbal Ronen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4"/>
        </a:solidFill>
        <a:effectLst/>
      </p:bgPr>
    </p:bg>
    <p:spTree>
      <p:nvGrpSpPr>
        <p:cNvPr id="1" name=""/>
        <p:cNvGrpSpPr/>
        <p:nvPr/>
      </p:nvGrpSpPr>
      <p:grpSpPr/>
      <p:sp>
        <p:nvSpPr>
          <p:cNvPr id="2" name="TextBox 1"/>
          <p:cNvSpPr txBox="1"/>
          <p:nvPr/>
        </p:nvSpPr>
        <p:spPr>
          <a:xfrm>
            <a:off x="502920" y="219456"/>
            <a:ext cx="1828800" cy="274320"/>
          </a:xfrm>
          <a:prstGeom prst="rect">
            <a:avLst/>
          </a:prstGeom>
          <a:noFill/>
        </p:spPr>
        <p:txBody>
          <a:bodyPr wrap="square" lIns="0" rIns="0" tIns="0" bIns="0">
            <a:noAutofit/>
          </a:bodyPr>
          <a:lstStyle/>
          <a:p>
            <a:pPr algn="l">
              <a:lnSpc>
                <a:spcPct val="106000"/>
              </a:lnSpc>
              <a:spcBef>
                <a:spcPts val="0"/>
              </a:spcBef>
              <a:spcAft>
                <a:spcPts val="400"/>
              </a:spcAft>
              <a:defRPr sz="1500" b="1">
                <a:solidFill>
                  <a:srgbClr val="285942"/>
                </a:solidFill>
                <a:latin typeface="Arial"/>
              </a:defRPr>
            </a:pPr>
            <a:r>
              <a:t>DAMKA</a:t>
            </a:r>
          </a:p>
        </p:txBody>
      </p:sp>
      <p:sp>
        <p:nvSpPr>
          <p:cNvPr id="3" name="TextBox 2"/>
          <p:cNvSpPr txBox="1"/>
          <p:nvPr/>
        </p:nvSpPr>
        <p:spPr>
          <a:xfrm>
            <a:off x="7315200" y="219456"/>
            <a:ext cx="4370832" cy="274320"/>
          </a:xfrm>
          <a:prstGeom prst="rect">
            <a:avLst/>
          </a:prstGeom>
          <a:noFill/>
        </p:spPr>
        <p:txBody>
          <a:bodyPr wrap="square" lIns="0" rIns="0" tIns="0" bIns="0">
            <a:noAutofit/>
          </a:bodyPr>
          <a:lstStyle/>
          <a:p>
            <a:pPr algn="r">
              <a:lnSpc>
                <a:spcPct val="106000"/>
              </a:lnSpc>
              <a:spcBef>
                <a:spcPts val="0"/>
              </a:spcBef>
              <a:spcAft>
                <a:spcPts val="400"/>
              </a:spcAft>
              <a:defRPr sz="1300" b="0">
                <a:solidFill>
                  <a:srgbClr val="425D50"/>
                </a:solidFill>
                <a:latin typeface="Arial"/>
              </a:defRPr>
            </a:pPr>
            <a:r>
              <a:t>PROBLEM AND GOAL</a:t>
            </a:r>
          </a:p>
        </p:txBody>
      </p:sp>
      <p:cxnSp>
        <p:nvCxnSpPr>
          <p:cNvPr id="4" name="Connector 3"/>
          <p:cNvCxnSpPr/>
          <p:nvPr/>
        </p:nvCxnSpPr>
        <p:spPr>
          <a:xfrm>
            <a:off x="502920" y="694944"/>
            <a:ext cx="11183112"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502920" y="667512"/>
            <a:ext cx="1005840" cy="50292"/>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932688"/>
            <a:ext cx="11183112" cy="777240"/>
          </a:xfrm>
          <a:prstGeom prst="rect">
            <a:avLst/>
          </a:prstGeom>
          <a:noFill/>
        </p:spPr>
        <p:txBody>
          <a:bodyPr wrap="square" lIns="0" rIns="0" tIns="0" bIns="0">
            <a:noAutofit/>
          </a:bodyPr>
          <a:lstStyle/>
          <a:p>
            <a:pPr algn="l">
              <a:lnSpc>
                <a:spcPct val="106000"/>
              </a:lnSpc>
              <a:spcBef>
                <a:spcPts val="0"/>
              </a:spcBef>
              <a:spcAft>
                <a:spcPts val="400"/>
              </a:spcAft>
              <a:defRPr sz="3700" b="1">
                <a:solidFill>
                  <a:srgbClr val="153B2D"/>
                </a:solidFill>
                <a:latin typeface="Arial"/>
              </a:defRPr>
            </a:pPr>
            <a:r>
              <a:t>One game, two ways to play</a:t>
            </a:r>
          </a:p>
        </p:txBody>
      </p:sp>
      <p:cxnSp>
        <p:nvCxnSpPr>
          <p:cNvPr id="7" name="Connector 6"/>
          <p:cNvCxnSpPr/>
          <p:nvPr/>
        </p:nvCxnSpPr>
        <p:spPr>
          <a:xfrm>
            <a:off x="502920" y="6437376"/>
            <a:ext cx="11183112" cy="0"/>
          </a:xfrm>
          <a:prstGeom prst="line">
            <a:avLst/>
          </a:prstGeom>
          <a:ln w="1016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02920" y="6528816"/>
            <a:ext cx="7315200" cy="182880"/>
          </a:xfrm>
          <a:prstGeom prst="rect">
            <a:avLst/>
          </a:prstGeom>
          <a:noFill/>
        </p:spPr>
        <p:txBody>
          <a:bodyPr wrap="square" lIns="0" rIns="0" tIns="0" bIns="0">
            <a:noAutofit/>
          </a:bodyPr>
          <a:lstStyle/>
          <a:p>
            <a:pPr algn="l">
              <a:lnSpc>
                <a:spcPct val="106000"/>
              </a:lnSpc>
              <a:spcBef>
                <a:spcPts val="0"/>
              </a:spcBef>
              <a:spcAft>
                <a:spcPts val="400"/>
              </a:spcAft>
              <a:defRPr sz="1000" b="0">
                <a:solidFill>
                  <a:srgbClr val="425D50"/>
                </a:solidFill>
                <a:latin typeface="Arial"/>
              </a:defRPr>
            </a:pPr>
            <a:r>
              <a:t>DAMKA  /  FINAL PROJECT</a:t>
            </a:r>
          </a:p>
        </p:txBody>
      </p:sp>
      <p:sp>
        <p:nvSpPr>
          <p:cNvPr id="9" name="TextBox 8"/>
          <p:cNvSpPr txBox="1"/>
          <p:nvPr/>
        </p:nvSpPr>
        <p:spPr>
          <a:xfrm>
            <a:off x="10698480" y="6510528"/>
            <a:ext cx="987552" cy="228600"/>
          </a:xfrm>
          <a:prstGeom prst="rect">
            <a:avLst/>
          </a:prstGeom>
          <a:noFill/>
        </p:spPr>
        <p:txBody>
          <a:bodyPr wrap="square" lIns="0" rIns="0" tIns="0" bIns="0">
            <a:noAutofit/>
          </a:bodyPr>
          <a:lstStyle/>
          <a:p>
            <a:pPr algn="r">
              <a:lnSpc>
                <a:spcPct val="106000"/>
              </a:lnSpc>
              <a:spcBef>
                <a:spcPts val="0"/>
              </a:spcBef>
              <a:spcAft>
                <a:spcPts val="400"/>
              </a:spcAft>
              <a:defRPr sz="1200" b="0">
                <a:solidFill>
                  <a:srgbClr val="425D50"/>
                </a:solidFill>
                <a:latin typeface="Arial"/>
              </a:defRPr>
            </a:pPr>
            <a:r>
              <a:t>02 / 10</a:t>
            </a:r>
          </a:p>
        </p:txBody>
      </p:sp>
      <p:sp>
        <p:nvSpPr>
          <p:cNvPr id="10" name="TextBox 9"/>
          <p:cNvSpPr txBox="1"/>
          <p:nvPr/>
        </p:nvSpPr>
        <p:spPr>
          <a:xfrm>
            <a:off x="548640" y="1810512"/>
            <a:ext cx="10972800" cy="731520"/>
          </a:xfrm>
          <a:prstGeom prst="rect">
            <a:avLst/>
          </a:prstGeom>
          <a:noFill/>
        </p:spPr>
        <p:txBody>
          <a:bodyPr wrap="square" lIns="0" rIns="0" tIns="0" bIns="0">
            <a:noAutofit/>
          </a:bodyPr>
          <a:lstStyle/>
          <a:p>
            <a:pPr algn="l">
              <a:lnSpc>
                <a:spcPct val="106000"/>
              </a:lnSpc>
              <a:spcBef>
                <a:spcPts val="0"/>
              </a:spcBef>
              <a:spcAft>
                <a:spcPts val="400"/>
              </a:spcAft>
              <a:defRPr sz="2800" b="1">
                <a:solidFill>
                  <a:srgbClr val="153B2D"/>
                </a:solidFill>
                <a:latin typeface="Arial"/>
              </a:defRPr>
            </a:pPr>
            <a:r>
              <a:t>Keep both screens in sync — and remember the result.</a:t>
            </a:r>
          </a:p>
        </p:txBody>
      </p:sp>
      <p:sp>
        <p:nvSpPr>
          <p:cNvPr id="11" name="Rounded Rectangle 10"/>
          <p:cNvSpPr/>
          <p:nvPr/>
        </p:nvSpPr>
        <p:spPr>
          <a:xfrm>
            <a:off x="548640" y="2788920"/>
            <a:ext cx="3538728" cy="228600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566928" y="2990088"/>
            <a:ext cx="41148" cy="1883664"/>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77240" y="3008376"/>
            <a:ext cx="3081528" cy="59436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Online matches</a:t>
            </a:r>
          </a:p>
        </p:txBody>
      </p:sp>
      <p:sp>
        <p:nvSpPr>
          <p:cNvPr id="14" name="TextBox 13"/>
          <p:cNvSpPr txBox="1"/>
          <p:nvPr/>
        </p:nvSpPr>
        <p:spPr>
          <a:xfrm>
            <a:off x="777240" y="3749039"/>
            <a:ext cx="3081528" cy="1170432"/>
          </a:xfrm>
          <a:prstGeom prst="rect">
            <a:avLst/>
          </a:prstGeom>
          <a:noFill/>
        </p:spPr>
        <p:txBody>
          <a:bodyPr wrap="square" lIns="0" rIns="0" tIns="0" bIns="0">
            <a:noAutofit/>
          </a:bodyPr>
          <a:lstStyle/>
          <a:p>
            <a:pPr algn="l">
              <a:lnSpc>
                <a:spcPct val="106000"/>
              </a:lnSpc>
              <a:spcBef>
                <a:spcPts val="0"/>
              </a:spcBef>
              <a:spcAft>
                <a:spcPts val="400"/>
              </a:spcAft>
              <a:defRPr sz="2400" b="0">
                <a:solidFill>
                  <a:srgbClr val="425D50"/>
                </a:solidFill>
                <a:latin typeface="Arial"/>
              </a:defRPr>
            </a:pPr>
            <a:r>
              <a:t>Two computers</a:t>
            </a:r>
          </a:p>
          <a:p>
            <a:pPr algn="l">
              <a:lnSpc>
                <a:spcPct val="106000"/>
              </a:lnSpc>
              <a:spcBef>
                <a:spcPts val="0"/>
              </a:spcBef>
              <a:spcAft>
                <a:spcPts val="400"/>
              </a:spcAft>
              <a:defRPr sz="2400" b="0">
                <a:solidFill>
                  <a:srgbClr val="425D50"/>
                </a:solidFill>
                <a:latin typeface="Arial"/>
              </a:defRPr>
            </a:pPr>
            <a:r>
              <a:t>One room code</a:t>
            </a:r>
          </a:p>
        </p:txBody>
      </p:sp>
      <p:sp>
        <p:nvSpPr>
          <p:cNvPr id="15" name="Rounded Rectangle 14"/>
          <p:cNvSpPr/>
          <p:nvPr/>
        </p:nvSpPr>
        <p:spPr>
          <a:xfrm>
            <a:off x="4325112" y="2788920"/>
            <a:ext cx="3538728" cy="228600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4343400" y="2990088"/>
            <a:ext cx="41148" cy="1883664"/>
          </a:xfrm>
          <a:prstGeom prst="rect">
            <a:avLst/>
          </a:prstGeom>
          <a:solidFill>
            <a:srgbClr val="9F762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53712" y="3008376"/>
            <a:ext cx="3081528" cy="59436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Local BOT</a:t>
            </a:r>
          </a:p>
        </p:txBody>
      </p:sp>
      <p:sp>
        <p:nvSpPr>
          <p:cNvPr id="18" name="TextBox 17"/>
          <p:cNvSpPr txBox="1"/>
          <p:nvPr/>
        </p:nvSpPr>
        <p:spPr>
          <a:xfrm>
            <a:off x="4553712" y="3749039"/>
            <a:ext cx="3081528" cy="1170432"/>
          </a:xfrm>
          <a:prstGeom prst="rect">
            <a:avLst/>
          </a:prstGeom>
          <a:noFill/>
        </p:spPr>
        <p:txBody>
          <a:bodyPr wrap="square" lIns="0" rIns="0" tIns="0" bIns="0">
            <a:noAutofit/>
          </a:bodyPr>
          <a:lstStyle/>
          <a:p>
            <a:pPr algn="l">
              <a:lnSpc>
                <a:spcPct val="106000"/>
              </a:lnSpc>
              <a:spcBef>
                <a:spcPts val="0"/>
              </a:spcBef>
              <a:spcAft>
                <a:spcPts val="400"/>
              </a:spcAft>
              <a:defRPr sz="2400" b="0">
                <a:solidFill>
                  <a:srgbClr val="425D50"/>
                </a:solidFill>
                <a:latin typeface="Arial"/>
              </a:defRPr>
            </a:pPr>
            <a:r>
              <a:t>Three difficulty levels</a:t>
            </a:r>
          </a:p>
          <a:p>
            <a:pPr algn="l">
              <a:lnSpc>
                <a:spcPct val="106000"/>
              </a:lnSpc>
              <a:spcBef>
                <a:spcPts val="0"/>
              </a:spcBef>
              <a:spcAft>
                <a:spcPts val="400"/>
              </a:spcAft>
              <a:defRPr sz="2400" b="0">
                <a:solidFill>
                  <a:srgbClr val="425D50"/>
                </a:solidFill>
                <a:latin typeface="Arial"/>
              </a:defRPr>
            </a:pPr>
            <a:r>
              <a:t>Offline practice</a:t>
            </a:r>
          </a:p>
        </p:txBody>
      </p:sp>
      <p:sp>
        <p:nvSpPr>
          <p:cNvPr id="19" name="Rounded Rectangle 18"/>
          <p:cNvSpPr/>
          <p:nvPr/>
        </p:nvSpPr>
        <p:spPr>
          <a:xfrm>
            <a:off x="8110727" y="2788920"/>
            <a:ext cx="3538728" cy="228600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129015" y="2990088"/>
            <a:ext cx="41148" cy="1883664"/>
          </a:xfrm>
          <a:prstGeom prst="rect">
            <a:avLst/>
          </a:prstGeom>
          <a:solidFill>
            <a:srgbClr val="BD61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339327" y="3008376"/>
            <a:ext cx="3081528" cy="59436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Personal profiles</a:t>
            </a:r>
          </a:p>
        </p:txBody>
      </p:sp>
      <p:sp>
        <p:nvSpPr>
          <p:cNvPr id="22" name="TextBox 21"/>
          <p:cNvSpPr txBox="1"/>
          <p:nvPr/>
        </p:nvSpPr>
        <p:spPr>
          <a:xfrm>
            <a:off x="8339327" y="3749039"/>
            <a:ext cx="3081528" cy="1170432"/>
          </a:xfrm>
          <a:prstGeom prst="rect">
            <a:avLst/>
          </a:prstGeom>
          <a:noFill/>
        </p:spPr>
        <p:txBody>
          <a:bodyPr wrap="square" lIns="0" rIns="0" tIns="0" bIns="0">
            <a:noAutofit/>
          </a:bodyPr>
          <a:lstStyle/>
          <a:p>
            <a:pPr algn="l">
              <a:lnSpc>
                <a:spcPct val="106000"/>
              </a:lnSpc>
              <a:spcBef>
                <a:spcPts val="0"/>
              </a:spcBef>
              <a:spcAft>
                <a:spcPts val="400"/>
              </a:spcAft>
              <a:defRPr sz="2400" b="0">
                <a:solidFill>
                  <a:srgbClr val="425D50"/>
                </a:solidFill>
                <a:latin typeface="Arial"/>
              </a:defRPr>
            </a:pPr>
            <a:r>
              <a:t>Statistics</a:t>
            </a:r>
          </a:p>
          <a:p>
            <a:pPr algn="l">
              <a:lnSpc>
                <a:spcPct val="106000"/>
              </a:lnSpc>
              <a:spcBef>
                <a:spcPts val="0"/>
              </a:spcBef>
              <a:spcAft>
                <a:spcPts val="400"/>
              </a:spcAft>
              <a:defRPr sz="2400" b="0">
                <a:solidFill>
                  <a:srgbClr val="425D50"/>
                </a:solidFill>
                <a:latin typeface="Arial"/>
              </a:defRPr>
            </a:pPr>
            <a:r>
              <a:t>Match history</a:t>
            </a:r>
          </a:p>
        </p:txBody>
      </p:sp>
      <p:sp>
        <p:nvSpPr>
          <p:cNvPr id="23" name="Rounded Rectangle 22"/>
          <p:cNvSpPr/>
          <p:nvPr/>
        </p:nvSpPr>
        <p:spPr>
          <a:xfrm>
            <a:off x="3474720" y="5577840"/>
            <a:ext cx="5212080" cy="347472"/>
          </a:xfrm>
          <a:prstGeom prst="roundRect">
            <a:avLst>
              <a:gd name="adj" fmla="val 12000"/>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566160" y="5632703"/>
            <a:ext cx="5029200" cy="228600"/>
          </a:xfrm>
          <a:prstGeom prst="rect">
            <a:avLst/>
          </a:prstGeom>
          <a:noFill/>
        </p:spPr>
        <p:txBody>
          <a:bodyPr wrap="square" lIns="0" rIns="0" tIns="0" bIns="0">
            <a:noAutofit/>
          </a:bodyPr>
          <a:lstStyle/>
          <a:p>
            <a:pPr algn="ctr">
              <a:lnSpc>
                <a:spcPct val="106000"/>
              </a:lnSpc>
              <a:spcBef>
                <a:spcPts val="0"/>
              </a:spcBef>
              <a:spcAft>
                <a:spcPts val="400"/>
              </a:spcAft>
              <a:defRPr sz="1600" b="1">
                <a:solidFill>
                  <a:srgbClr val="285942"/>
                </a:solidFill>
                <a:latin typeface="Arial"/>
              </a:defRPr>
            </a:pPr>
            <a:r>
              <a:t>One shared rules engine: Game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4"/>
        </a:solidFill>
        <a:effectLst/>
      </p:bgPr>
    </p:bg>
    <p:spTree>
      <p:nvGrpSpPr>
        <p:cNvPr id="1" name=""/>
        <p:cNvGrpSpPr/>
        <p:nvPr/>
      </p:nvGrpSpPr>
      <p:grpSpPr/>
      <p:sp>
        <p:nvSpPr>
          <p:cNvPr id="2" name="TextBox 1"/>
          <p:cNvSpPr txBox="1"/>
          <p:nvPr/>
        </p:nvSpPr>
        <p:spPr>
          <a:xfrm>
            <a:off x="502920" y="219456"/>
            <a:ext cx="1828800" cy="274320"/>
          </a:xfrm>
          <a:prstGeom prst="rect">
            <a:avLst/>
          </a:prstGeom>
          <a:noFill/>
        </p:spPr>
        <p:txBody>
          <a:bodyPr wrap="square" lIns="0" rIns="0" tIns="0" bIns="0">
            <a:noAutofit/>
          </a:bodyPr>
          <a:lstStyle/>
          <a:p>
            <a:pPr algn="l">
              <a:lnSpc>
                <a:spcPct val="106000"/>
              </a:lnSpc>
              <a:spcBef>
                <a:spcPts val="0"/>
              </a:spcBef>
              <a:spcAft>
                <a:spcPts val="400"/>
              </a:spcAft>
              <a:defRPr sz="1500" b="1">
                <a:solidFill>
                  <a:srgbClr val="285942"/>
                </a:solidFill>
                <a:latin typeface="Arial"/>
              </a:defRPr>
            </a:pPr>
            <a:r>
              <a:t>DAMKA</a:t>
            </a:r>
          </a:p>
        </p:txBody>
      </p:sp>
      <p:sp>
        <p:nvSpPr>
          <p:cNvPr id="3" name="TextBox 2"/>
          <p:cNvSpPr txBox="1"/>
          <p:nvPr/>
        </p:nvSpPr>
        <p:spPr>
          <a:xfrm>
            <a:off x="7315200" y="219456"/>
            <a:ext cx="4370832" cy="274320"/>
          </a:xfrm>
          <a:prstGeom prst="rect">
            <a:avLst/>
          </a:prstGeom>
          <a:noFill/>
        </p:spPr>
        <p:txBody>
          <a:bodyPr wrap="square" lIns="0" rIns="0" tIns="0" bIns="0">
            <a:noAutofit/>
          </a:bodyPr>
          <a:lstStyle/>
          <a:p>
            <a:pPr algn="r">
              <a:lnSpc>
                <a:spcPct val="106000"/>
              </a:lnSpc>
              <a:spcBef>
                <a:spcPts val="0"/>
              </a:spcBef>
              <a:spcAft>
                <a:spcPts val="400"/>
              </a:spcAft>
              <a:defRPr sz="1300" b="0">
                <a:solidFill>
                  <a:srgbClr val="425D50"/>
                </a:solidFill>
                <a:latin typeface="Arial"/>
              </a:defRPr>
            </a:pPr>
            <a:r>
              <a:t>ARCHITECTURE</a:t>
            </a:r>
          </a:p>
        </p:txBody>
      </p:sp>
      <p:cxnSp>
        <p:nvCxnSpPr>
          <p:cNvPr id="4" name="Connector 3"/>
          <p:cNvCxnSpPr/>
          <p:nvPr/>
        </p:nvCxnSpPr>
        <p:spPr>
          <a:xfrm>
            <a:off x="502920" y="694944"/>
            <a:ext cx="11183112"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502920" y="667512"/>
            <a:ext cx="1005840" cy="50292"/>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932688"/>
            <a:ext cx="11183112" cy="777240"/>
          </a:xfrm>
          <a:prstGeom prst="rect">
            <a:avLst/>
          </a:prstGeom>
          <a:noFill/>
        </p:spPr>
        <p:txBody>
          <a:bodyPr wrap="square" lIns="0" rIns="0" tIns="0" bIns="0">
            <a:noAutofit/>
          </a:bodyPr>
          <a:lstStyle/>
          <a:p>
            <a:pPr algn="l">
              <a:lnSpc>
                <a:spcPct val="106000"/>
              </a:lnSpc>
              <a:spcBef>
                <a:spcPts val="0"/>
              </a:spcBef>
              <a:spcAft>
                <a:spcPts val="400"/>
              </a:spcAft>
              <a:defRPr sz="3700" b="1">
                <a:solidFill>
                  <a:srgbClr val="153B2D"/>
                </a:solidFill>
                <a:latin typeface="Arial"/>
              </a:defRPr>
            </a:pPr>
            <a:r>
              <a:t>Why a client–server design?</a:t>
            </a:r>
          </a:p>
        </p:txBody>
      </p:sp>
      <p:cxnSp>
        <p:nvCxnSpPr>
          <p:cNvPr id="7" name="Connector 6"/>
          <p:cNvCxnSpPr/>
          <p:nvPr/>
        </p:nvCxnSpPr>
        <p:spPr>
          <a:xfrm>
            <a:off x="502920" y="6437376"/>
            <a:ext cx="11183112" cy="0"/>
          </a:xfrm>
          <a:prstGeom prst="line">
            <a:avLst/>
          </a:prstGeom>
          <a:ln w="1016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02920" y="6528816"/>
            <a:ext cx="7315200" cy="182880"/>
          </a:xfrm>
          <a:prstGeom prst="rect">
            <a:avLst/>
          </a:prstGeom>
          <a:noFill/>
        </p:spPr>
        <p:txBody>
          <a:bodyPr wrap="square" lIns="0" rIns="0" tIns="0" bIns="0">
            <a:noAutofit/>
          </a:bodyPr>
          <a:lstStyle/>
          <a:p>
            <a:pPr algn="l">
              <a:lnSpc>
                <a:spcPct val="106000"/>
              </a:lnSpc>
              <a:spcBef>
                <a:spcPts val="0"/>
              </a:spcBef>
              <a:spcAft>
                <a:spcPts val="400"/>
              </a:spcAft>
              <a:defRPr sz="1000" b="0">
                <a:solidFill>
                  <a:srgbClr val="425D50"/>
                </a:solidFill>
                <a:latin typeface="Arial"/>
              </a:defRPr>
            </a:pPr>
            <a:r>
              <a:t>DAMKA  /  FINAL PROJECT</a:t>
            </a:r>
          </a:p>
        </p:txBody>
      </p:sp>
      <p:sp>
        <p:nvSpPr>
          <p:cNvPr id="9" name="TextBox 8"/>
          <p:cNvSpPr txBox="1"/>
          <p:nvPr/>
        </p:nvSpPr>
        <p:spPr>
          <a:xfrm>
            <a:off x="10698480" y="6510528"/>
            <a:ext cx="987552" cy="228600"/>
          </a:xfrm>
          <a:prstGeom prst="rect">
            <a:avLst/>
          </a:prstGeom>
          <a:noFill/>
        </p:spPr>
        <p:txBody>
          <a:bodyPr wrap="square" lIns="0" rIns="0" tIns="0" bIns="0">
            <a:noAutofit/>
          </a:bodyPr>
          <a:lstStyle/>
          <a:p>
            <a:pPr algn="r">
              <a:lnSpc>
                <a:spcPct val="106000"/>
              </a:lnSpc>
              <a:spcBef>
                <a:spcPts val="0"/>
              </a:spcBef>
              <a:spcAft>
                <a:spcPts val="400"/>
              </a:spcAft>
              <a:defRPr sz="1200" b="0">
                <a:solidFill>
                  <a:srgbClr val="425D50"/>
                </a:solidFill>
                <a:latin typeface="Arial"/>
              </a:defRPr>
            </a:pPr>
            <a:r>
              <a:t>03 / 10</a:t>
            </a:r>
          </a:p>
        </p:txBody>
      </p:sp>
      <p:sp>
        <p:nvSpPr>
          <p:cNvPr id="10" name="Rounded Rectangle 9"/>
          <p:cNvSpPr/>
          <p:nvPr/>
        </p:nvSpPr>
        <p:spPr>
          <a:xfrm>
            <a:off x="548640" y="2057400"/>
            <a:ext cx="2880360" cy="155448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66928" y="2258568"/>
            <a:ext cx="41148" cy="1152144"/>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77240" y="2276856"/>
            <a:ext cx="2423160" cy="594360"/>
          </a:xfrm>
          <a:prstGeom prst="rect">
            <a:avLst/>
          </a:prstGeom>
          <a:noFill/>
        </p:spPr>
        <p:txBody>
          <a:bodyPr wrap="square" lIns="0" rIns="0" tIns="0" bIns="0">
            <a:noAutofit/>
          </a:bodyPr>
          <a:lstStyle/>
          <a:p>
            <a:pPr algn="l">
              <a:lnSpc>
                <a:spcPct val="106000"/>
              </a:lnSpc>
              <a:spcBef>
                <a:spcPts val="0"/>
              </a:spcBef>
              <a:spcAft>
                <a:spcPts val="400"/>
              </a:spcAft>
              <a:defRPr sz="2600" b="1">
                <a:solidFill>
                  <a:srgbClr val="153B2D"/>
                </a:solidFill>
                <a:latin typeface="Arial"/>
              </a:defRPr>
            </a:pPr>
            <a:r>
              <a:t>Client A</a:t>
            </a:r>
          </a:p>
        </p:txBody>
      </p:sp>
      <p:sp>
        <p:nvSpPr>
          <p:cNvPr id="13" name="TextBox 12"/>
          <p:cNvSpPr txBox="1"/>
          <p:nvPr/>
        </p:nvSpPr>
        <p:spPr>
          <a:xfrm>
            <a:off x="777240" y="3017520"/>
            <a:ext cx="2423160" cy="438912"/>
          </a:xfrm>
          <a:prstGeom prst="rect">
            <a:avLst/>
          </a:prstGeom>
          <a:noFill/>
        </p:spPr>
        <p:txBody>
          <a:bodyPr wrap="square" lIns="0" rIns="0" tIns="0" bIns="0">
            <a:noAutofit/>
          </a:bodyPr>
          <a:lstStyle/>
          <a:p>
            <a:pPr algn="l">
              <a:lnSpc>
                <a:spcPct val="106000"/>
              </a:lnSpc>
              <a:spcBef>
                <a:spcPts val="0"/>
              </a:spcBef>
              <a:spcAft>
                <a:spcPts val="400"/>
              </a:spcAft>
              <a:defRPr sz="2400" b="0">
                <a:solidFill>
                  <a:srgbClr val="425D50"/>
                </a:solidFill>
                <a:latin typeface="Arial"/>
              </a:defRPr>
            </a:pPr>
            <a:r>
              <a:t>JavaFX</a:t>
            </a:r>
          </a:p>
        </p:txBody>
      </p:sp>
      <p:sp>
        <p:nvSpPr>
          <p:cNvPr id="14" name="Rounded Rectangle 13"/>
          <p:cNvSpPr/>
          <p:nvPr/>
        </p:nvSpPr>
        <p:spPr>
          <a:xfrm>
            <a:off x="4599432" y="1874519"/>
            <a:ext cx="2999232" cy="1947672"/>
          </a:xfrm>
          <a:prstGeom prst="roundRect">
            <a:avLst>
              <a:gd name="adj" fmla="val 12000"/>
            </a:avLst>
          </a:prstGeom>
          <a:solidFill>
            <a:srgbClr val="E8F0E7"/>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4617720" y="2075688"/>
            <a:ext cx="41148" cy="1545336"/>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828032" y="2093976"/>
            <a:ext cx="2542032" cy="59436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Server</a:t>
            </a:r>
          </a:p>
        </p:txBody>
      </p:sp>
      <p:sp>
        <p:nvSpPr>
          <p:cNvPr id="17" name="TextBox 16"/>
          <p:cNvSpPr txBox="1"/>
          <p:nvPr/>
        </p:nvSpPr>
        <p:spPr>
          <a:xfrm>
            <a:off x="4828032" y="2834639"/>
            <a:ext cx="2542032" cy="832103"/>
          </a:xfrm>
          <a:prstGeom prst="rect">
            <a:avLst/>
          </a:prstGeom>
          <a:noFill/>
        </p:spPr>
        <p:txBody>
          <a:bodyPr wrap="square" lIns="0" rIns="0" tIns="0" bIns="0">
            <a:noAutofit/>
          </a:bodyPr>
          <a:lstStyle/>
          <a:p>
            <a:pPr algn="l">
              <a:lnSpc>
                <a:spcPct val="106000"/>
              </a:lnSpc>
              <a:spcBef>
                <a:spcPts val="0"/>
              </a:spcBef>
              <a:spcAft>
                <a:spcPts val="400"/>
              </a:spcAft>
              <a:defRPr sz="2200" b="0">
                <a:solidFill>
                  <a:srgbClr val="425D50"/>
                </a:solidFill>
                <a:latin typeface="Arial"/>
              </a:defRPr>
            </a:pPr>
            <a:r>
              <a:t>Room → Game</a:t>
            </a:r>
          </a:p>
          <a:p>
            <a:pPr algn="l">
              <a:lnSpc>
                <a:spcPct val="106000"/>
              </a:lnSpc>
              <a:spcBef>
                <a:spcPts val="0"/>
              </a:spcBef>
              <a:spcAft>
                <a:spcPts val="400"/>
              </a:spcAft>
              <a:defRPr sz="2200" b="0">
                <a:solidFill>
                  <a:srgbClr val="425D50"/>
                </a:solidFill>
                <a:latin typeface="Arial"/>
              </a:defRPr>
            </a:pPr>
            <a:r>
              <a:t>Validate + sync</a:t>
            </a:r>
          </a:p>
        </p:txBody>
      </p:sp>
      <p:sp>
        <p:nvSpPr>
          <p:cNvPr id="18" name="Rounded Rectangle 17"/>
          <p:cNvSpPr/>
          <p:nvPr/>
        </p:nvSpPr>
        <p:spPr>
          <a:xfrm>
            <a:off x="8759952" y="2057400"/>
            <a:ext cx="2880360" cy="155448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8778240" y="2258568"/>
            <a:ext cx="41148" cy="1152144"/>
          </a:xfrm>
          <a:prstGeom prst="rect">
            <a:avLst/>
          </a:prstGeom>
          <a:solidFill>
            <a:srgbClr val="BD61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988552" y="2276856"/>
            <a:ext cx="2423160" cy="594360"/>
          </a:xfrm>
          <a:prstGeom prst="rect">
            <a:avLst/>
          </a:prstGeom>
          <a:noFill/>
        </p:spPr>
        <p:txBody>
          <a:bodyPr wrap="square" lIns="0" rIns="0" tIns="0" bIns="0">
            <a:noAutofit/>
          </a:bodyPr>
          <a:lstStyle/>
          <a:p>
            <a:pPr algn="l">
              <a:lnSpc>
                <a:spcPct val="106000"/>
              </a:lnSpc>
              <a:spcBef>
                <a:spcPts val="0"/>
              </a:spcBef>
              <a:spcAft>
                <a:spcPts val="400"/>
              </a:spcAft>
              <a:defRPr sz="2600" b="1">
                <a:solidFill>
                  <a:srgbClr val="153B2D"/>
                </a:solidFill>
                <a:latin typeface="Arial"/>
              </a:defRPr>
            </a:pPr>
            <a:r>
              <a:t>Client B</a:t>
            </a:r>
          </a:p>
        </p:txBody>
      </p:sp>
      <p:sp>
        <p:nvSpPr>
          <p:cNvPr id="21" name="TextBox 20"/>
          <p:cNvSpPr txBox="1"/>
          <p:nvPr/>
        </p:nvSpPr>
        <p:spPr>
          <a:xfrm>
            <a:off x="8988552" y="3017520"/>
            <a:ext cx="2423160" cy="438912"/>
          </a:xfrm>
          <a:prstGeom prst="rect">
            <a:avLst/>
          </a:prstGeom>
          <a:noFill/>
        </p:spPr>
        <p:txBody>
          <a:bodyPr wrap="square" lIns="0" rIns="0" tIns="0" bIns="0">
            <a:noAutofit/>
          </a:bodyPr>
          <a:lstStyle/>
          <a:p>
            <a:pPr algn="l">
              <a:lnSpc>
                <a:spcPct val="106000"/>
              </a:lnSpc>
              <a:spcBef>
                <a:spcPts val="0"/>
              </a:spcBef>
              <a:spcAft>
                <a:spcPts val="400"/>
              </a:spcAft>
              <a:defRPr sz="2400" b="0">
                <a:solidFill>
                  <a:srgbClr val="425D50"/>
                </a:solidFill>
                <a:latin typeface="Arial"/>
              </a:defRPr>
            </a:pPr>
            <a:r>
              <a:t>JavaFX</a:t>
            </a:r>
          </a:p>
        </p:txBody>
      </p:sp>
      <p:cxnSp>
        <p:nvCxnSpPr>
          <p:cNvPr id="22" name="Connector 21"/>
          <p:cNvCxnSpPr/>
          <p:nvPr/>
        </p:nvCxnSpPr>
        <p:spPr>
          <a:xfrm>
            <a:off x="3438144" y="2788920"/>
            <a:ext cx="1133856" cy="0"/>
          </a:xfrm>
          <a:prstGeom prst="line">
            <a:avLst/>
          </a:prstGeom>
          <a:ln w="25400">
            <a:solidFill>
              <a:srgbClr val="285942"/>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H="1">
            <a:off x="3438144" y="3090672"/>
            <a:ext cx="1133856" cy="0"/>
          </a:xfrm>
          <a:prstGeom prst="line">
            <a:avLst/>
          </a:prstGeom>
          <a:ln w="25400">
            <a:solidFill>
              <a:srgbClr val="285942"/>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7626096" y="2788920"/>
            <a:ext cx="1106424" cy="0"/>
          </a:xfrm>
          <a:prstGeom prst="line">
            <a:avLst/>
          </a:prstGeom>
          <a:ln w="25400">
            <a:solidFill>
              <a:srgbClr val="285942"/>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H="1">
            <a:off x="7626096" y="3090672"/>
            <a:ext cx="1106424" cy="0"/>
          </a:xfrm>
          <a:prstGeom prst="line">
            <a:avLst/>
          </a:prstGeom>
          <a:ln w="25400">
            <a:solidFill>
              <a:srgbClr val="285942"/>
            </a:solidFill>
            <a:tailEnd type="triangle"/>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3566160" y="2313432"/>
            <a:ext cx="868680" cy="320040"/>
          </a:xfrm>
          <a:prstGeom prst="rect">
            <a:avLst/>
          </a:prstGeom>
          <a:noFill/>
        </p:spPr>
        <p:txBody>
          <a:bodyPr wrap="square" lIns="0" rIns="0" tIns="0" bIns="0">
            <a:noAutofit/>
          </a:bodyPr>
          <a:lstStyle/>
          <a:p>
            <a:pPr algn="ctr">
              <a:lnSpc>
                <a:spcPct val="106000"/>
              </a:lnSpc>
              <a:spcBef>
                <a:spcPts val="0"/>
              </a:spcBef>
              <a:spcAft>
                <a:spcPts val="400"/>
              </a:spcAft>
              <a:defRPr sz="2000" b="1">
                <a:solidFill>
                  <a:srgbClr val="285942"/>
                </a:solidFill>
                <a:latin typeface="Arial"/>
              </a:defRPr>
            </a:pPr>
            <a:r>
              <a:t>TCP</a:t>
            </a:r>
          </a:p>
        </p:txBody>
      </p:sp>
      <p:sp>
        <p:nvSpPr>
          <p:cNvPr id="27" name="TextBox 26"/>
          <p:cNvSpPr txBox="1"/>
          <p:nvPr/>
        </p:nvSpPr>
        <p:spPr>
          <a:xfrm>
            <a:off x="7726679" y="2313432"/>
            <a:ext cx="868680" cy="320040"/>
          </a:xfrm>
          <a:prstGeom prst="rect">
            <a:avLst/>
          </a:prstGeom>
          <a:noFill/>
        </p:spPr>
        <p:txBody>
          <a:bodyPr wrap="square" lIns="0" rIns="0" tIns="0" bIns="0">
            <a:noAutofit/>
          </a:bodyPr>
          <a:lstStyle/>
          <a:p>
            <a:pPr algn="ctr">
              <a:lnSpc>
                <a:spcPct val="106000"/>
              </a:lnSpc>
              <a:spcBef>
                <a:spcPts val="0"/>
              </a:spcBef>
              <a:spcAft>
                <a:spcPts val="400"/>
              </a:spcAft>
              <a:defRPr sz="2000" b="1">
                <a:solidFill>
                  <a:srgbClr val="285942"/>
                </a:solidFill>
                <a:latin typeface="Arial"/>
              </a:defRPr>
            </a:pPr>
            <a:r>
              <a:t>TCP</a:t>
            </a:r>
          </a:p>
        </p:txBody>
      </p:sp>
      <p:cxnSp>
        <p:nvCxnSpPr>
          <p:cNvPr id="28" name="Connector 27"/>
          <p:cNvCxnSpPr/>
          <p:nvPr/>
        </p:nvCxnSpPr>
        <p:spPr>
          <a:xfrm>
            <a:off x="6099048" y="3840480"/>
            <a:ext cx="0" cy="548640"/>
          </a:xfrm>
          <a:prstGeom prst="line">
            <a:avLst/>
          </a:prstGeom>
          <a:ln w="25400">
            <a:solidFill>
              <a:srgbClr val="285942"/>
            </a:solidFill>
            <a:tailEnd type="triangle"/>
          </a:ln>
          <a:effectLst/>
        </p:spPr>
        <p:style>
          <a:lnRef idx="2">
            <a:schemeClr val="accent1"/>
          </a:lnRef>
          <a:fillRef idx="0">
            <a:schemeClr val="accent1"/>
          </a:fillRef>
          <a:effectRef idx="0">
            <a:schemeClr val="accent1"/>
          </a:effectRef>
          <a:fontRef idx="minor">
            <a:schemeClr val="tx1"/>
          </a:fontRef>
        </p:style>
      </p:cxnSp>
      <p:sp>
        <p:nvSpPr>
          <p:cNvPr id="29" name="Rounded Rectangle 28"/>
          <p:cNvSpPr/>
          <p:nvPr/>
        </p:nvSpPr>
        <p:spPr>
          <a:xfrm>
            <a:off x="4498848" y="4434840"/>
            <a:ext cx="3200400" cy="82296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681728" y="4672584"/>
            <a:ext cx="2834640" cy="457200"/>
          </a:xfrm>
          <a:prstGeom prst="rect">
            <a:avLst/>
          </a:prstGeom>
          <a:noFill/>
        </p:spPr>
        <p:txBody>
          <a:bodyPr wrap="square" lIns="0" rIns="0" tIns="0" bIns="0">
            <a:noAutofit/>
          </a:bodyPr>
          <a:lstStyle/>
          <a:p>
            <a:pPr algn="ctr">
              <a:lnSpc>
                <a:spcPct val="106000"/>
              </a:lnSpc>
              <a:spcBef>
                <a:spcPts val="0"/>
              </a:spcBef>
              <a:spcAft>
                <a:spcPts val="400"/>
              </a:spcAft>
              <a:defRPr sz="2200" b="1">
                <a:solidFill>
                  <a:srgbClr val="153B2D"/>
                </a:solidFill>
                <a:latin typeface="Arial"/>
              </a:defRPr>
            </a:pPr>
            <a:r>
              <a:t>SQLite on the server</a:t>
            </a:r>
          </a:p>
        </p:txBody>
      </p:sp>
      <p:sp>
        <p:nvSpPr>
          <p:cNvPr id="31" name="TextBox 30"/>
          <p:cNvSpPr txBox="1"/>
          <p:nvPr/>
        </p:nvSpPr>
        <p:spPr>
          <a:xfrm>
            <a:off x="594360" y="5614416"/>
            <a:ext cx="8046720" cy="411480"/>
          </a:xfrm>
          <a:prstGeom prst="rect">
            <a:avLst/>
          </a:prstGeom>
          <a:noFill/>
        </p:spPr>
        <p:txBody>
          <a:bodyPr wrap="square" lIns="0" rIns="0" tIns="0" bIns="0">
            <a:noAutofit/>
          </a:bodyPr>
          <a:lstStyle/>
          <a:p>
            <a:pPr algn="l">
              <a:lnSpc>
                <a:spcPct val="106000"/>
              </a:lnSpc>
              <a:spcBef>
                <a:spcPts val="0"/>
              </a:spcBef>
              <a:spcAft>
                <a:spcPts val="400"/>
              </a:spcAft>
              <a:defRPr sz="2300" b="1">
                <a:solidFill>
                  <a:srgbClr val="153B2D"/>
                </a:solidFill>
                <a:latin typeface="Arial"/>
              </a:defRPr>
            </a:pPr>
            <a:r>
              <a:t>Choice: persistent TCP for two-way updates</a:t>
            </a:r>
          </a:p>
        </p:txBody>
      </p:sp>
      <p:sp>
        <p:nvSpPr>
          <p:cNvPr id="32" name="TextBox 31"/>
          <p:cNvSpPr txBox="1"/>
          <p:nvPr/>
        </p:nvSpPr>
        <p:spPr>
          <a:xfrm>
            <a:off x="8366760" y="5650992"/>
            <a:ext cx="3246120" cy="365760"/>
          </a:xfrm>
          <a:prstGeom prst="rect">
            <a:avLst/>
          </a:prstGeom>
          <a:noFill/>
        </p:spPr>
        <p:txBody>
          <a:bodyPr wrap="square" lIns="0" rIns="0" tIns="0" bIns="0">
            <a:noAutofit/>
          </a:bodyPr>
          <a:lstStyle/>
          <a:p>
            <a:pPr algn="r">
              <a:lnSpc>
                <a:spcPct val="106000"/>
              </a:lnSpc>
              <a:spcBef>
                <a:spcPts val="0"/>
              </a:spcBef>
              <a:spcAft>
                <a:spcPts val="400"/>
              </a:spcAft>
              <a:defRPr sz="1700" b="0">
                <a:solidFill>
                  <a:srgbClr val="425D50"/>
                </a:solidFill>
                <a:latin typeface="Arial"/>
              </a:defRPr>
            </a:pPr>
            <a:r>
              <a:t>Alternative: HTTP polling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4"/>
        </a:solidFill>
        <a:effectLst/>
      </p:bgPr>
    </p:bg>
    <p:spTree>
      <p:nvGrpSpPr>
        <p:cNvPr id="1" name=""/>
        <p:cNvGrpSpPr/>
        <p:nvPr/>
      </p:nvGrpSpPr>
      <p:grpSpPr/>
      <p:sp>
        <p:nvSpPr>
          <p:cNvPr id="2" name="TextBox 1"/>
          <p:cNvSpPr txBox="1"/>
          <p:nvPr/>
        </p:nvSpPr>
        <p:spPr>
          <a:xfrm>
            <a:off x="502920" y="219456"/>
            <a:ext cx="1828800" cy="274320"/>
          </a:xfrm>
          <a:prstGeom prst="rect">
            <a:avLst/>
          </a:prstGeom>
          <a:noFill/>
        </p:spPr>
        <p:txBody>
          <a:bodyPr wrap="square" lIns="0" rIns="0" tIns="0" bIns="0">
            <a:noAutofit/>
          </a:bodyPr>
          <a:lstStyle/>
          <a:p>
            <a:pPr algn="l">
              <a:lnSpc>
                <a:spcPct val="106000"/>
              </a:lnSpc>
              <a:spcBef>
                <a:spcPts val="0"/>
              </a:spcBef>
              <a:spcAft>
                <a:spcPts val="400"/>
              </a:spcAft>
              <a:defRPr sz="1500" b="1">
                <a:solidFill>
                  <a:srgbClr val="285942"/>
                </a:solidFill>
                <a:latin typeface="Arial"/>
              </a:defRPr>
            </a:pPr>
            <a:r>
              <a:t>DAMKA</a:t>
            </a:r>
          </a:p>
        </p:txBody>
      </p:sp>
      <p:sp>
        <p:nvSpPr>
          <p:cNvPr id="3" name="TextBox 2"/>
          <p:cNvSpPr txBox="1"/>
          <p:nvPr/>
        </p:nvSpPr>
        <p:spPr>
          <a:xfrm>
            <a:off x="7315200" y="219456"/>
            <a:ext cx="4370832" cy="274320"/>
          </a:xfrm>
          <a:prstGeom prst="rect">
            <a:avLst/>
          </a:prstGeom>
          <a:noFill/>
        </p:spPr>
        <p:txBody>
          <a:bodyPr wrap="square" lIns="0" rIns="0" tIns="0" bIns="0">
            <a:noAutofit/>
          </a:bodyPr>
          <a:lstStyle/>
          <a:p>
            <a:pPr algn="r">
              <a:lnSpc>
                <a:spcPct val="106000"/>
              </a:lnSpc>
              <a:spcBef>
                <a:spcPts val="0"/>
              </a:spcBef>
              <a:spcAft>
                <a:spcPts val="400"/>
              </a:spcAft>
              <a:defRPr sz="1300" b="0">
                <a:solidFill>
                  <a:srgbClr val="425D50"/>
                </a:solidFill>
                <a:latin typeface="Arial"/>
              </a:defRPr>
            </a:pPr>
            <a:r>
              <a:t>TCP MOVE FLOW</a:t>
            </a:r>
          </a:p>
        </p:txBody>
      </p:sp>
      <p:cxnSp>
        <p:nvCxnSpPr>
          <p:cNvPr id="4" name="Connector 3"/>
          <p:cNvCxnSpPr/>
          <p:nvPr/>
        </p:nvCxnSpPr>
        <p:spPr>
          <a:xfrm>
            <a:off x="502920" y="694944"/>
            <a:ext cx="11183112"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502920" y="667512"/>
            <a:ext cx="1005840" cy="50292"/>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932688"/>
            <a:ext cx="11183112" cy="777240"/>
          </a:xfrm>
          <a:prstGeom prst="rect">
            <a:avLst/>
          </a:prstGeom>
          <a:noFill/>
        </p:spPr>
        <p:txBody>
          <a:bodyPr wrap="square" lIns="0" rIns="0" tIns="0" bIns="0">
            <a:noAutofit/>
          </a:bodyPr>
          <a:lstStyle/>
          <a:p>
            <a:pPr algn="l">
              <a:lnSpc>
                <a:spcPct val="106000"/>
              </a:lnSpc>
              <a:spcBef>
                <a:spcPts val="0"/>
              </a:spcBef>
              <a:spcAft>
                <a:spcPts val="400"/>
              </a:spcAft>
              <a:defRPr sz="3700" b="1">
                <a:solidFill>
                  <a:srgbClr val="153B2D"/>
                </a:solidFill>
                <a:latin typeface="Arial"/>
              </a:defRPr>
            </a:pPr>
            <a:r>
              <a:t>From a click to both screens</a:t>
            </a:r>
          </a:p>
        </p:txBody>
      </p:sp>
      <p:cxnSp>
        <p:nvCxnSpPr>
          <p:cNvPr id="7" name="Connector 6"/>
          <p:cNvCxnSpPr/>
          <p:nvPr/>
        </p:nvCxnSpPr>
        <p:spPr>
          <a:xfrm>
            <a:off x="502920" y="6437376"/>
            <a:ext cx="11183112" cy="0"/>
          </a:xfrm>
          <a:prstGeom prst="line">
            <a:avLst/>
          </a:prstGeom>
          <a:ln w="1016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02920" y="6528816"/>
            <a:ext cx="7315200" cy="182880"/>
          </a:xfrm>
          <a:prstGeom prst="rect">
            <a:avLst/>
          </a:prstGeom>
          <a:noFill/>
        </p:spPr>
        <p:txBody>
          <a:bodyPr wrap="square" lIns="0" rIns="0" tIns="0" bIns="0">
            <a:noAutofit/>
          </a:bodyPr>
          <a:lstStyle/>
          <a:p>
            <a:pPr algn="l">
              <a:lnSpc>
                <a:spcPct val="106000"/>
              </a:lnSpc>
              <a:spcBef>
                <a:spcPts val="0"/>
              </a:spcBef>
              <a:spcAft>
                <a:spcPts val="400"/>
              </a:spcAft>
              <a:defRPr sz="1000" b="0">
                <a:solidFill>
                  <a:srgbClr val="425D50"/>
                </a:solidFill>
                <a:latin typeface="Arial"/>
              </a:defRPr>
            </a:pPr>
            <a:r>
              <a:t>DAMKA  /  FINAL PROJECT</a:t>
            </a:r>
          </a:p>
        </p:txBody>
      </p:sp>
      <p:sp>
        <p:nvSpPr>
          <p:cNvPr id="9" name="TextBox 8"/>
          <p:cNvSpPr txBox="1"/>
          <p:nvPr/>
        </p:nvSpPr>
        <p:spPr>
          <a:xfrm>
            <a:off x="10698480" y="6510528"/>
            <a:ext cx="987552" cy="228600"/>
          </a:xfrm>
          <a:prstGeom prst="rect">
            <a:avLst/>
          </a:prstGeom>
          <a:noFill/>
        </p:spPr>
        <p:txBody>
          <a:bodyPr wrap="square" lIns="0" rIns="0" tIns="0" bIns="0">
            <a:noAutofit/>
          </a:bodyPr>
          <a:lstStyle/>
          <a:p>
            <a:pPr algn="r">
              <a:lnSpc>
                <a:spcPct val="106000"/>
              </a:lnSpc>
              <a:spcBef>
                <a:spcPts val="0"/>
              </a:spcBef>
              <a:spcAft>
                <a:spcPts val="400"/>
              </a:spcAft>
              <a:defRPr sz="1200" b="0">
                <a:solidFill>
                  <a:srgbClr val="425D50"/>
                </a:solidFill>
                <a:latin typeface="Arial"/>
              </a:defRPr>
            </a:pPr>
            <a:r>
              <a:t>04 / 10</a:t>
            </a:r>
          </a:p>
        </p:txBody>
      </p:sp>
      <p:sp>
        <p:nvSpPr>
          <p:cNvPr id="10" name="Rounded Rectangle 9"/>
          <p:cNvSpPr/>
          <p:nvPr/>
        </p:nvSpPr>
        <p:spPr>
          <a:xfrm>
            <a:off x="548640" y="1856231"/>
            <a:ext cx="2788920" cy="3511296"/>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7240" y="2112264"/>
            <a:ext cx="2331720" cy="45720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Client A</a:t>
            </a:r>
          </a:p>
        </p:txBody>
      </p:sp>
      <p:sp>
        <p:nvSpPr>
          <p:cNvPr id="12" name="TextBox 11"/>
          <p:cNvSpPr txBox="1"/>
          <p:nvPr/>
        </p:nvSpPr>
        <p:spPr>
          <a:xfrm>
            <a:off x="777240" y="2843784"/>
            <a:ext cx="2331720" cy="941832"/>
          </a:xfrm>
          <a:prstGeom prst="rect">
            <a:avLst/>
          </a:prstGeom>
          <a:noFill/>
        </p:spPr>
        <p:txBody>
          <a:bodyPr wrap="square" lIns="0" rIns="0" tIns="0" bIns="0">
            <a:noAutofit/>
          </a:bodyPr>
          <a:lstStyle/>
          <a:p>
            <a:pPr algn="l">
              <a:lnSpc>
                <a:spcPct val="106000"/>
              </a:lnSpc>
              <a:spcBef>
                <a:spcPts val="0"/>
              </a:spcBef>
              <a:spcAft>
                <a:spcPts val="400"/>
              </a:spcAft>
              <a:defRPr sz="2400" b="0">
                <a:solidFill>
                  <a:srgbClr val="153B2D"/>
                </a:solidFill>
                <a:latin typeface="Arial"/>
              </a:defRPr>
            </a:pPr>
            <a:r>
              <a:t>Select a piece</a:t>
            </a:r>
          </a:p>
          <a:p>
            <a:pPr algn="l">
              <a:lnSpc>
                <a:spcPct val="106000"/>
              </a:lnSpc>
              <a:spcBef>
                <a:spcPts val="0"/>
              </a:spcBef>
              <a:spcAft>
                <a:spcPts val="400"/>
              </a:spcAft>
              <a:defRPr sz="2400" b="0">
                <a:solidFill>
                  <a:srgbClr val="153B2D"/>
                </a:solidFill>
                <a:latin typeface="Arial"/>
              </a:defRPr>
            </a:pPr>
            <a:r>
              <a:t>and destination</a:t>
            </a:r>
          </a:p>
        </p:txBody>
      </p:sp>
      <p:sp>
        <p:nvSpPr>
          <p:cNvPr id="13" name="Rounded Rectangle 12"/>
          <p:cNvSpPr/>
          <p:nvPr/>
        </p:nvSpPr>
        <p:spPr>
          <a:xfrm>
            <a:off x="777240" y="4206240"/>
            <a:ext cx="2331720" cy="685800"/>
          </a:xfrm>
          <a:prstGeom prst="roundRect">
            <a:avLst>
              <a:gd name="adj" fmla="val 12000"/>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77824" y="4416552"/>
            <a:ext cx="2130552" cy="365760"/>
          </a:xfrm>
          <a:prstGeom prst="rect">
            <a:avLst/>
          </a:prstGeom>
          <a:noFill/>
        </p:spPr>
        <p:txBody>
          <a:bodyPr wrap="square" lIns="0" rIns="0" tIns="0" bIns="0">
            <a:noAutofit/>
          </a:bodyPr>
          <a:lstStyle/>
          <a:p>
            <a:pPr algn="ctr">
              <a:lnSpc>
                <a:spcPct val="106000"/>
              </a:lnSpc>
              <a:spcBef>
                <a:spcPts val="0"/>
              </a:spcBef>
              <a:spcAft>
                <a:spcPts val="400"/>
              </a:spcAft>
              <a:defRPr sz="2100" b="1">
                <a:solidFill>
                  <a:srgbClr val="153B2D"/>
                </a:solidFill>
                <a:latin typeface="Consolas"/>
              </a:defRPr>
            </a:pPr>
            <a:r>
              <a:t>MOVE 5 0 4 1</a:t>
            </a:r>
          </a:p>
        </p:txBody>
      </p:sp>
      <p:cxnSp>
        <p:nvCxnSpPr>
          <p:cNvPr id="15" name="Connector 14"/>
          <p:cNvCxnSpPr/>
          <p:nvPr/>
        </p:nvCxnSpPr>
        <p:spPr>
          <a:xfrm>
            <a:off x="3383280" y="3584448"/>
            <a:ext cx="621792" cy="0"/>
          </a:xfrm>
          <a:prstGeom prst="line">
            <a:avLst/>
          </a:prstGeom>
          <a:ln w="30480">
            <a:solidFill>
              <a:srgbClr val="285942"/>
            </a:solidFill>
            <a:tailEnd type="triangle"/>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4069080" y="1856231"/>
            <a:ext cx="3611880" cy="3511296"/>
          </a:xfrm>
          <a:prstGeom prst="roundRect">
            <a:avLst>
              <a:gd name="adj" fmla="val 12000"/>
            </a:avLst>
          </a:prstGeom>
          <a:solidFill>
            <a:srgbClr val="E8F0E7"/>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315968" y="2112264"/>
            <a:ext cx="3108960" cy="45720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Server</a:t>
            </a:r>
          </a:p>
        </p:txBody>
      </p:sp>
      <p:sp>
        <p:nvSpPr>
          <p:cNvPr id="18" name="TextBox 17"/>
          <p:cNvSpPr txBox="1"/>
          <p:nvPr/>
        </p:nvSpPr>
        <p:spPr>
          <a:xfrm>
            <a:off x="4315968" y="2880360"/>
            <a:ext cx="3108960" cy="1024128"/>
          </a:xfrm>
          <a:prstGeom prst="rect">
            <a:avLst/>
          </a:prstGeom>
          <a:noFill/>
        </p:spPr>
        <p:txBody>
          <a:bodyPr wrap="square" lIns="0" rIns="0" tIns="0" bIns="0">
            <a:noAutofit/>
          </a:bodyPr>
          <a:lstStyle/>
          <a:p>
            <a:pPr algn="l">
              <a:lnSpc>
                <a:spcPct val="106000"/>
              </a:lnSpc>
              <a:spcBef>
                <a:spcPts val="0"/>
              </a:spcBef>
              <a:spcAft>
                <a:spcPts val="400"/>
              </a:spcAft>
              <a:defRPr sz="2300" b="0">
                <a:solidFill>
                  <a:srgbClr val="153B2D"/>
                </a:solidFill>
                <a:latin typeface="Arial"/>
              </a:defRPr>
            </a:pPr>
            <a:r>
              <a:t>Room: identity + turn</a:t>
            </a:r>
          </a:p>
          <a:p>
            <a:pPr algn="l">
              <a:lnSpc>
                <a:spcPct val="106000"/>
              </a:lnSpc>
              <a:spcBef>
                <a:spcPts val="0"/>
              </a:spcBef>
              <a:spcAft>
                <a:spcPts val="400"/>
              </a:spcAft>
              <a:defRPr sz="2300" b="0">
                <a:solidFill>
                  <a:srgbClr val="153B2D"/>
                </a:solidFill>
                <a:latin typeface="Arial"/>
              </a:defRPr>
            </a:pPr>
            <a:r>
              <a:t>Game.move(): rules</a:t>
            </a:r>
          </a:p>
        </p:txBody>
      </p:sp>
      <p:sp>
        <p:nvSpPr>
          <p:cNvPr id="19" name="Rounded Rectangle 18"/>
          <p:cNvSpPr/>
          <p:nvPr/>
        </p:nvSpPr>
        <p:spPr>
          <a:xfrm>
            <a:off x="4315968" y="4224528"/>
            <a:ext cx="3127248" cy="6858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471416" y="4434840"/>
            <a:ext cx="2816352" cy="365760"/>
          </a:xfrm>
          <a:prstGeom prst="rect">
            <a:avLst/>
          </a:prstGeom>
          <a:noFill/>
        </p:spPr>
        <p:txBody>
          <a:bodyPr wrap="square" lIns="0" rIns="0" tIns="0" bIns="0">
            <a:noAutofit/>
          </a:bodyPr>
          <a:lstStyle/>
          <a:p>
            <a:pPr algn="ctr">
              <a:lnSpc>
                <a:spcPct val="106000"/>
              </a:lnSpc>
              <a:spcBef>
                <a:spcPts val="0"/>
              </a:spcBef>
              <a:spcAft>
                <a:spcPts val="400"/>
              </a:spcAft>
              <a:defRPr sz="2200" b="1">
                <a:solidFill>
                  <a:srgbClr val="153B2D"/>
                </a:solidFill>
                <a:latin typeface="Arial"/>
              </a:defRPr>
            </a:pPr>
            <a:r>
              <a:t>Accept or reject</a:t>
            </a:r>
          </a:p>
        </p:txBody>
      </p:sp>
      <p:cxnSp>
        <p:nvCxnSpPr>
          <p:cNvPr id="21" name="Connector 20"/>
          <p:cNvCxnSpPr/>
          <p:nvPr/>
        </p:nvCxnSpPr>
        <p:spPr>
          <a:xfrm>
            <a:off x="7726679" y="3584448"/>
            <a:ext cx="612648" cy="0"/>
          </a:xfrm>
          <a:prstGeom prst="line">
            <a:avLst/>
          </a:prstGeom>
          <a:ln w="30480">
            <a:solidFill>
              <a:srgbClr val="285942"/>
            </a:solidFill>
            <a:tailEnd type="triangle"/>
          </a:ln>
          <a:effectLst/>
        </p:spPr>
        <p:style>
          <a:lnRef idx="2">
            <a:schemeClr val="accent1"/>
          </a:lnRef>
          <a:fillRef idx="0">
            <a:schemeClr val="accent1"/>
          </a:fillRef>
          <a:effectRef idx="0">
            <a:schemeClr val="accent1"/>
          </a:effectRef>
          <a:fontRef idx="minor">
            <a:schemeClr val="tx1"/>
          </a:fontRef>
        </p:style>
      </p:cxnSp>
      <p:sp>
        <p:nvSpPr>
          <p:cNvPr id="22" name="Rounded Rectangle 21"/>
          <p:cNvSpPr/>
          <p:nvPr/>
        </p:nvSpPr>
        <p:spPr>
          <a:xfrm>
            <a:off x="8412480" y="1856231"/>
            <a:ext cx="3227832" cy="3511296"/>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650224" y="2112264"/>
            <a:ext cx="2743200" cy="45720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Both clients</a:t>
            </a:r>
          </a:p>
        </p:txBody>
      </p:sp>
      <p:sp>
        <p:nvSpPr>
          <p:cNvPr id="24" name="TextBox 23"/>
          <p:cNvSpPr txBox="1"/>
          <p:nvPr/>
        </p:nvSpPr>
        <p:spPr>
          <a:xfrm>
            <a:off x="8650224" y="2697480"/>
            <a:ext cx="2743200" cy="274320"/>
          </a:xfrm>
          <a:prstGeom prst="rect">
            <a:avLst/>
          </a:prstGeom>
          <a:noFill/>
        </p:spPr>
        <p:txBody>
          <a:bodyPr wrap="square" lIns="0" rIns="0" tIns="0" bIns="0">
            <a:noAutofit/>
          </a:bodyPr>
          <a:lstStyle/>
          <a:p>
            <a:pPr algn="l">
              <a:lnSpc>
                <a:spcPct val="106000"/>
              </a:lnSpc>
              <a:spcBef>
                <a:spcPts val="0"/>
              </a:spcBef>
              <a:spcAft>
                <a:spcPts val="400"/>
              </a:spcAft>
              <a:defRPr sz="1600" b="0">
                <a:solidFill>
                  <a:srgbClr val="425D50"/>
                </a:solidFill>
                <a:latin typeface="Arial"/>
              </a:defRPr>
            </a:pPr>
            <a:r>
              <a:t>Accepted move</a:t>
            </a:r>
          </a:p>
        </p:txBody>
      </p:sp>
      <p:sp>
        <p:nvSpPr>
          <p:cNvPr id="25" name="TextBox 24"/>
          <p:cNvSpPr txBox="1"/>
          <p:nvPr/>
        </p:nvSpPr>
        <p:spPr>
          <a:xfrm>
            <a:off x="8650224" y="3200400"/>
            <a:ext cx="2743200" cy="1325880"/>
          </a:xfrm>
          <a:prstGeom prst="rect">
            <a:avLst/>
          </a:prstGeom>
          <a:noFill/>
        </p:spPr>
        <p:txBody>
          <a:bodyPr wrap="square" lIns="0" rIns="0" tIns="0" bIns="0">
            <a:noAutofit/>
          </a:bodyPr>
          <a:lstStyle/>
          <a:p>
            <a:pPr algn="l">
              <a:lnSpc>
                <a:spcPct val="106000"/>
              </a:lnSpc>
              <a:spcBef>
                <a:spcPts val="0"/>
              </a:spcBef>
              <a:spcAft>
                <a:spcPts val="400"/>
              </a:spcAft>
              <a:defRPr sz="2300" b="1">
                <a:solidFill>
                  <a:srgbClr val="285942"/>
                </a:solidFill>
                <a:latin typeface="Consolas"/>
              </a:defRPr>
            </a:pPr>
            <a:r>
              <a:t>1  MOVE_APPLIED</a:t>
            </a:r>
          </a:p>
          <a:p>
            <a:pPr algn="l">
              <a:lnSpc>
                <a:spcPct val="106000"/>
              </a:lnSpc>
              <a:spcBef>
                <a:spcPts val="0"/>
              </a:spcBef>
              <a:spcAft>
                <a:spcPts val="400"/>
              </a:spcAft>
              <a:defRPr sz="2300" b="1">
                <a:solidFill>
                  <a:srgbClr val="285942"/>
                </a:solidFill>
                <a:latin typeface="Consolas"/>
              </a:defRPr>
            </a:pPr>
            <a:r>
              <a:t>2  BOARD</a:t>
            </a:r>
          </a:p>
          <a:p>
            <a:pPr algn="l">
              <a:lnSpc>
                <a:spcPct val="106000"/>
              </a:lnSpc>
              <a:spcBef>
                <a:spcPts val="0"/>
              </a:spcBef>
              <a:spcAft>
                <a:spcPts val="400"/>
              </a:spcAft>
              <a:defRPr sz="2300" b="1">
                <a:solidFill>
                  <a:srgbClr val="285942"/>
                </a:solidFill>
                <a:latin typeface="Consolas"/>
              </a:defRPr>
            </a:pPr>
            <a:r>
              <a:t>3  TURN</a:t>
            </a:r>
          </a:p>
        </p:txBody>
      </p:sp>
      <p:sp>
        <p:nvSpPr>
          <p:cNvPr id="26" name="TextBox 25"/>
          <p:cNvSpPr txBox="1"/>
          <p:nvPr/>
        </p:nvSpPr>
        <p:spPr>
          <a:xfrm>
            <a:off x="8650224" y="4645152"/>
            <a:ext cx="2743200" cy="676656"/>
          </a:xfrm>
          <a:prstGeom prst="rect">
            <a:avLst/>
          </a:prstGeom>
          <a:noFill/>
        </p:spPr>
        <p:txBody>
          <a:bodyPr wrap="square" lIns="0" rIns="0" tIns="0" bIns="0">
            <a:noAutofit/>
          </a:bodyPr>
          <a:lstStyle/>
          <a:p>
            <a:pPr algn="l">
              <a:lnSpc>
                <a:spcPct val="106000"/>
              </a:lnSpc>
              <a:spcBef>
                <a:spcPts val="0"/>
              </a:spcBef>
              <a:spcAft>
                <a:spcPts val="400"/>
              </a:spcAft>
              <a:defRPr sz="2000" b="0">
                <a:solidFill>
                  <a:srgbClr val="425D50"/>
                </a:solidFill>
                <a:latin typeface="Arial"/>
              </a:defRPr>
            </a:pPr>
            <a:r>
              <a:t>Animate → display</a:t>
            </a:r>
          </a:p>
          <a:p>
            <a:pPr algn="l">
              <a:lnSpc>
                <a:spcPct val="106000"/>
              </a:lnSpc>
              <a:spcBef>
                <a:spcPts val="0"/>
              </a:spcBef>
              <a:spcAft>
                <a:spcPts val="400"/>
              </a:spcAft>
              <a:defRPr sz="2000" b="0">
                <a:solidFill>
                  <a:srgbClr val="425D50"/>
                </a:solidFill>
                <a:latin typeface="Arial"/>
              </a:defRPr>
            </a:pPr>
            <a:r>
              <a:t>the accepted state</a:t>
            </a:r>
          </a:p>
        </p:txBody>
      </p:sp>
      <p:sp>
        <p:nvSpPr>
          <p:cNvPr id="27" name="TextBox 26"/>
          <p:cNvSpPr txBox="1"/>
          <p:nvPr/>
        </p:nvSpPr>
        <p:spPr>
          <a:xfrm>
            <a:off x="594360" y="5687568"/>
            <a:ext cx="10972800" cy="438912"/>
          </a:xfrm>
          <a:prstGeom prst="rect">
            <a:avLst/>
          </a:prstGeom>
          <a:noFill/>
        </p:spPr>
        <p:txBody>
          <a:bodyPr wrap="square" lIns="0" rIns="0" tIns="0" bIns="0">
            <a:noAutofit/>
          </a:bodyPr>
          <a:lstStyle/>
          <a:p>
            <a:pPr algn="l">
              <a:lnSpc>
                <a:spcPct val="106000"/>
              </a:lnSpc>
              <a:spcBef>
                <a:spcPts val="0"/>
              </a:spcBef>
              <a:spcAft>
                <a:spcPts val="400"/>
              </a:spcAft>
              <a:defRPr sz="2200" b="0">
                <a:solidFill>
                  <a:srgbClr val="425D50"/>
                </a:solidFill>
                <a:latin typeface="Arial"/>
              </a:defRPr>
            </a:pPr>
            <a:r>
              <a:t>UTF-8 · one message per line · network work off the UI thread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4"/>
        </a:solidFill>
        <a:effectLst/>
      </p:bgPr>
    </p:bg>
    <p:spTree>
      <p:nvGrpSpPr>
        <p:cNvPr id="1" name=""/>
        <p:cNvGrpSpPr/>
        <p:nvPr/>
      </p:nvGrpSpPr>
      <p:grpSpPr/>
      <p:sp>
        <p:nvSpPr>
          <p:cNvPr id="2" name="TextBox 1"/>
          <p:cNvSpPr txBox="1"/>
          <p:nvPr/>
        </p:nvSpPr>
        <p:spPr>
          <a:xfrm>
            <a:off x="502920" y="219456"/>
            <a:ext cx="1828800" cy="274320"/>
          </a:xfrm>
          <a:prstGeom prst="rect">
            <a:avLst/>
          </a:prstGeom>
          <a:noFill/>
        </p:spPr>
        <p:txBody>
          <a:bodyPr wrap="square" lIns="0" rIns="0" tIns="0" bIns="0">
            <a:noAutofit/>
          </a:bodyPr>
          <a:lstStyle/>
          <a:p>
            <a:pPr algn="l">
              <a:lnSpc>
                <a:spcPct val="106000"/>
              </a:lnSpc>
              <a:spcBef>
                <a:spcPts val="0"/>
              </a:spcBef>
              <a:spcAft>
                <a:spcPts val="400"/>
              </a:spcAft>
              <a:defRPr sz="1500" b="1">
                <a:solidFill>
                  <a:srgbClr val="285942"/>
                </a:solidFill>
                <a:latin typeface="Arial"/>
              </a:defRPr>
            </a:pPr>
            <a:r>
              <a:t>DAMKA</a:t>
            </a:r>
          </a:p>
        </p:txBody>
      </p:sp>
      <p:sp>
        <p:nvSpPr>
          <p:cNvPr id="3" name="TextBox 2"/>
          <p:cNvSpPr txBox="1"/>
          <p:nvPr/>
        </p:nvSpPr>
        <p:spPr>
          <a:xfrm>
            <a:off x="7315200" y="219456"/>
            <a:ext cx="4370832" cy="274320"/>
          </a:xfrm>
          <a:prstGeom prst="rect">
            <a:avLst/>
          </a:prstGeom>
          <a:noFill/>
        </p:spPr>
        <p:txBody>
          <a:bodyPr wrap="square" lIns="0" rIns="0" tIns="0" bIns="0">
            <a:noAutofit/>
          </a:bodyPr>
          <a:lstStyle/>
          <a:p>
            <a:pPr algn="r">
              <a:lnSpc>
                <a:spcPct val="106000"/>
              </a:lnSpc>
              <a:spcBef>
                <a:spcPts val="0"/>
              </a:spcBef>
              <a:spcAft>
                <a:spcPts val="400"/>
              </a:spcAft>
              <a:defRPr sz="1300" b="0">
                <a:solidFill>
                  <a:srgbClr val="425D50"/>
                </a:solidFill>
                <a:latin typeface="Arial"/>
              </a:defRPr>
            </a:pPr>
            <a:r>
              <a:t>BOT DECISION</a:t>
            </a:r>
          </a:p>
        </p:txBody>
      </p:sp>
      <p:cxnSp>
        <p:nvCxnSpPr>
          <p:cNvPr id="4" name="Connector 3"/>
          <p:cNvCxnSpPr/>
          <p:nvPr/>
        </p:nvCxnSpPr>
        <p:spPr>
          <a:xfrm>
            <a:off x="502920" y="694944"/>
            <a:ext cx="11183112"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502920" y="667512"/>
            <a:ext cx="1005840" cy="50292"/>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932688"/>
            <a:ext cx="11183112" cy="777240"/>
          </a:xfrm>
          <a:prstGeom prst="rect">
            <a:avLst/>
          </a:prstGeom>
          <a:noFill/>
        </p:spPr>
        <p:txBody>
          <a:bodyPr wrap="square" lIns="0" rIns="0" tIns="0" bIns="0">
            <a:noAutofit/>
          </a:bodyPr>
          <a:lstStyle/>
          <a:p>
            <a:pPr algn="l">
              <a:lnSpc>
                <a:spcPct val="106000"/>
              </a:lnSpc>
              <a:spcBef>
                <a:spcPts val="0"/>
              </a:spcBef>
              <a:spcAft>
                <a:spcPts val="400"/>
              </a:spcAft>
              <a:defRPr sz="3700" b="1">
                <a:solidFill>
                  <a:srgbClr val="153B2D"/>
                </a:solidFill>
                <a:latin typeface="Arial"/>
              </a:defRPr>
            </a:pPr>
            <a:r>
              <a:t>Minimax: how the BOT chooses</a:t>
            </a:r>
          </a:p>
        </p:txBody>
      </p:sp>
      <p:cxnSp>
        <p:nvCxnSpPr>
          <p:cNvPr id="7" name="Connector 6"/>
          <p:cNvCxnSpPr/>
          <p:nvPr/>
        </p:nvCxnSpPr>
        <p:spPr>
          <a:xfrm>
            <a:off x="502920" y="6437376"/>
            <a:ext cx="11183112" cy="0"/>
          </a:xfrm>
          <a:prstGeom prst="line">
            <a:avLst/>
          </a:prstGeom>
          <a:ln w="1016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02920" y="6528816"/>
            <a:ext cx="7315200" cy="182880"/>
          </a:xfrm>
          <a:prstGeom prst="rect">
            <a:avLst/>
          </a:prstGeom>
          <a:noFill/>
        </p:spPr>
        <p:txBody>
          <a:bodyPr wrap="square" lIns="0" rIns="0" tIns="0" bIns="0">
            <a:noAutofit/>
          </a:bodyPr>
          <a:lstStyle/>
          <a:p>
            <a:pPr algn="l">
              <a:lnSpc>
                <a:spcPct val="106000"/>
              </a:lnSpc>
              <a:spcBef>
                <a:spcPts val="0"/>
              </a:spcBef>
              <a:spcAft>
                <a:spcPts val="400"/>
              </a:spcAft>
              <a:defRPr sz="1000" b="0">
                <a:solidFill>
                  <a:srgbClr val="425D50"/>
                </a:solidFill>
                <a:latin typeface="Arial"/>
              </a:defRPr>
            </a:pPr>
            <a:r>
              <a:t>DAMKA  /  FINAL PROJECT</a:t>
            </a:r>
          </a:p>
        </p:txBody>
      </p:sp>
      <p:sp>
        <p:nvSpPr>
          <p:cNvPr id="9" name="TextBox 8"/>
          <p:cNvSpPr txBox="1"/>
          <p:nvPr/>
        </p:nvSpPr>
        <p:spPr>
          <a:xfrm>
            <a:off x="10698480" y="6510528"/>
            <a:ext cx="987552" cy="228600"/>
          </a:xfrm>
          <a:prstGeom prst="rect">
            <a:avLst/>
          </a:prstGeom>
          <a:noFill/>
        </p:spPr>
        <p:txBody>
          <a:bodyPr wrap="square" lIns="0" rIns="0" tIns="0" bIns="0">
            <a:noAutofit/>
          </a:bodyPr>
          <a:lstStyle/>
          <a:p>
            <a:pPr algn="r">
              <a:lnSpc>
                <a:spcPct val="106000"/>
              </a:lnSpc>
              <a:spcBef>
                <a:spcPts val="0"/>
              </a:spcBef>
              <a:spcAft>
                <a:spcPts val="400"/>
              </a:spcAft>
              <a:defRPr sz="1200" b="0">
                <a:solidFill>
                  <a:srgbClr val="425D50"/>
                </a:solidFill>
                <a:latin typeface="Arial"/>
              </a:defRPr>
            </a:pPr>
            <a:r>
              <a:t>05 / 10</a:t>
            </a:r>
          </a:p>
        </p:txBody>
      </p:sp>
      <p:sp>
        <p:nvSpPr>
          <p:cNvPr id="10" name="Rounded Rectangle 9"/>
          <p:cNvSpPr/>
          <p:nvPr/>
        </p:nvSpPr>
        <p:spPr>
          <a:xfrm>
            <a:off x="548640" y="1874519"/>
            <a:ext cx="4114800" cy="4096512"/>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04672" y="2157984"/>
            <a:ext cx="3611880" cy="82296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Shared game rules</a:t>
            </a:r>
          </a:p>
        </p:txBody>
      </p:sp>
      <p:sp>
        <p:nvSpPr>
          <p:cNvPr id="12" name="TextBox 11"/>
          <p:cNvSpPr txBox="1"/>
          <p:nvPr/>
        </p:nvSpPr>
        <p:spPr>
          <a:xfrm>
            <a:off x="804672" y="3108960"/>
            <a:ext cx="3611880" cy="2286000"/>
          </a:xfrm>
          <a:prstGeom prst="rect">
            <a:avLst/>
          </a:prstGeom>
          <a:noFill/>
        </p:spPr>
        <p:txBody>
          <a:bodyPr wrap="square" lIns="0" rIns="0" tIns="0" bIns="0">
            <a:noAutofit/>
          </a:bodyPr>
          <a:lstStyle/>
          <a:p>
            <a:pPr algn="l">
              <a:lnSpc>
                <a:spcPct val="106000"/>
              </a:lnSpc>
              <a:spcBef>
                <a:spcPts val="0"/>
              </a:spcBef>
              <a:spcAft>
                <a:spcPts val="400"/>
              </a:spcAft>
              <a:defRPr sz="2300" b="0">
                <a:solidFill>
                  <a:srgbClr val="153B2D"/>
                </a:solidFill>
                <a:latin typeface="Arial"/>
              </a:defRPr>
            </a:pPr>
            <a:r>
              <a:t>Legal moves on copies</a:t>
            </a:r>
          </a:p>
          <a:p>
            <a:pPr algn="l">
              <a:lnSpc>
                <a:spcPct val="106000"/>
              </a:lnSpc>
              <a:spcBef>
                <a:spcPts val="0"/>
              </a:spcBef>
              <a:spcAft>
                <a:spcPts val="400"/>
              </a:spcAft>
              <a:defRPr sz="2300" b="0">
                <a:solidFill>
                  <a:srgbClr val="153B2D"/>
                </a:solidFill>
                <a:latin typeface="Arial"/>
              </a:defRPr>
            </a:pPr>
          </a:p>
          <a:p>
            <a:pPr algn="l">
              <a:lnSpc>
                <a:spcPct val="106000"/>
              </a:lnSpc>
              <a:spcBef>
                <a:spcPts val="0"/>
              </a:spcBef>
              <a:spcAft>
                <a:spcPts val="400"/>
              </a:spcAft>
              <a:defRPr sz="2300" b="0">
                <a:solidFill>
                  <a:srgbClr val="153B2D"/>
                </a:solidFill>
                <a:latin typeface="Arial"/>
              </a:defRPr>
            </a:pPr>
            <a:r>
              <a:t>Piece = 3    King = 6</a:t>
            </a:r>
          </a:p>
          <a:p>
            <a:pPr algn="l">
              <a:lnSpc>
                <a:spcPct val="106000"/>
              </a:lnSpc>
              <a:spcBef>
                <a:spcPts val="0"/>
              </a:spcBef>
              <a:spcAft>
                <a:spcPts val="400"/>
              </a:spcAft>
              <a:defRPr sz="2300" b="0">
                <a:solidFill>
                  <a:srgbClr val="153B2D"/>
                </a:solidFill>
                <a:latin typeface="Arial"/>
              </a:defRPr>
            </a:pPr>
          </a:p>
          <a:p>
            <a:pPr algn="l">
              <a:lnSpc>
                <a:spcPct val="106000"/>
              </a:lnSpc>
              <a:spcBef>
                <a:spcPts val="0"/>
              </a:spcBef>
              <a:spcAft>
                <a:spcPts val="400"/>
              </a:spcAft>
              <a:defRPr sz="2300" b="0">
                <a:solidFill>
                  <a:srgbClr val="153B2D"/>
                </a:solidFill>
                <a:latin typeface="Arial"/>
              </a:defRPr>
            </a:pPr>
            <a:r>
              <a:t>Depth: 1 / 2 / 3</a:t>
            </a:r>
          </a:p>
        </p:txBody>
      </p:sp>
      <p:cxnSp>
        <p:nvCxnSpPr>
          <p:cNvPr id="13" name="Connector 12"/>
          <p:cNvCxnSpPr/>
          <p:nvPr/>
        </p:nvCxnSpPr>
        <p:spPr>
          <a:xfrm flipH="1">
            <a:off x="6446520" y="2606040"/>
            <a:ext cx="1691640" cy="914400"/>
          </a:xfrm>
          <a:prstGeom prst="line">
            <a:avLst/>
          </a:prstGeom>
          <a:ln w="25400">
            <a:solidFill>
              <a:srgbClr val="CBD8CF"/>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8138160" y="2606040"/>
            <a:ext cx="1691640" cy="914400"/>
          </a:xfrm>
          <a:prstGeom prst="line">
            <a:avLst/>
          </a:prstGeom>
          <a:ln w="38100">
            <a:solidFill>
              <a:srgbClr val="28594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flipH="1">
            <a:off x="5715000" y="4041648"/>
            <a:ext cx="731520" cy="850392"/>
          </a:xfrm>
          <a:prstGeom prst="line">
            <a:avLst/>
          </a:prstGeom>
          <a:ln w="25400">
            <a:solidFill>
              <a:srgbClr val="CBD8CF"/>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6446520" y="4041648"/>
            <a:ext cx="731520" cy="850392"/>
          </a:xfrm>
          <a:prstGeom prst="line">
            <a:avLst/>
          </a:prstGeom>
          <a:ln w="25400">
            <a:solidFill>
              <a:srgbClr val="CBD8CF"/>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H="1">
            <a:off x="9098280" y="4041648"/>
            <a:ext cx="731520" cy="850392"/>
          </a:xfrm>
          <a:prstGeom prst="line">
            <a:avLst/>
          </a:prstGeom>
          <a:ln w="38100">
            <a:solidFill>
              <a:srgbClr val="285942"/>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9829800" y="4041648"/>
            <a:ext cx="731520" cy="850392"/>
          </a:xfrm>
          <a:prstGeom prst="line">
            <a:avLst/>
          </a:prstGeom>
          <a:ln w="254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040880" y="1965960"/>
            <a:ext cx="2194560" cy="731520"/>
          </a:xfrm>
          <a:prstGeom prst="roundRect">
            <a:avLst>
              <a:gd name="adj" fmla="val 12000"/>
            </a:avLst>
          </a:prstGeom>
          <a:solidFill>
            <a:srgbClr val="E8F0E7"/>
          </a:solidFill>
          <a:ln w="12700">
            <a:solidFill>
              <a:srgbClr val="28594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0" y="2212848"/>
            <a:ext cx="2011680" cy="365760"/>
          </a:xfrm>
          <a:prstGeom prst="rect">
            <a:avLst/>
          </a:prstGeom>
          <a:noFill/>
        </p:spPr>
        <p:txBody>
          <a:bodyPr wrap="square" lIns="0" rIns="0" tIns="0" bIns="0">
            <a:noAutofit/>
          </a:bodyPr>
          <a:lstStyle/>
          <a:p>
            <a:pPr algn="ctr">
              <a:lnSpc>
                <a:spcPct val="106000"/>
              </a:lnSpc>
              <a:spcBef>
                <a:spcPts val="0"/>
              </a:spcBef>
              <a:spcAft>
                <a:spcPts val="400"/>
              </a:spcAft>
              <a:defRPr sz="2200" b="1">
                <a:solidFill>
                  <a:srgbClr val="153B2D"/>
                </a:solidFill>
                <a:latin typeface="Arial"/>
              </a:defRPr>
            </a:pPr>
            <a:r>
              <a:t>BOT · MAX = 0</a:t>
            </a:r>
          </a:p>
        </p:txBody>
      </p:sp>
      <p:sp>
        <p:nvSpPr>
          <p:cNvPr id="21" name="Rounded Rectangle 20"/>
          <p:cNvSpPr/>
          <p:nvPr/>
        </p:nvSpPr>
        <p:spPr>
          <a:xfrm>
            <a:off x="5468112" y="3364992"/>
            <a:ext cx="1965960" cy="73152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541264" y="3621024"/>
            <a:ext cx="1819656" cy="365760"/>
          </a:xfrm>
          <a:prstGeom prst="rect">
            <a:avLst/>
          </a:prstGeom>
          <a:noFill/>
        </p:spPr>
        <p:txBody>
          <a:bodyPr wrap="square" lIns="0" rIns="0" tIns="0" bIns="0">
            <a:noAutofit/>
          </a:bodyPr>
          <a:lstStyle/>
          <a:p>
            <a:pPr algn="ctr">
              <a:lnSpc>
                <a:spcPct val="106000"/>
              </a:lnSpc>
              <a:spcBef>
                <a:spcPts val="0"/>
              </a:spcBef>
              <a:spcAft>
                <a:spcPts val="400"/>
              </a:spcAft>
              <a:defRPr sz="2200" b="1">
                <a:solidFill>
                  <a:srgbClr val="153B2D"/>
                </a:solidFill>
                <a:latin typeface="Arial"/>
              </a:defRPr>
            </a:pPr>
            <a:r>
              <a:t>MIN = −3</a:t>
            </a:r>
          </a:p>
        </p:txBody>
      </p:sp>
      <p:sp>
        <p:nvSpPr>
          <p:cNvPr id="23" name="Rounded Rectangle 22"/>
          <p:cNvSpPr/>
          <p:nvPr/>
        </p:nvSpPr>
        <p:spPr>
          <a:xfrm>
            <a:off x="8851392" y="3364992"/>
            <a:ext cx="1965960" cy="731520"/>
          </a:xfrm>
          <a:prstGeom prst="roundRect">
            <a:avLst>
              <a:gd name="adj" fmla="val 12000"/>
            </a:avLst>
          </a:prstGeom>
          <a:solidFill>
            <a:srgbClr val="E8F0E7"/>
          </a:solidFill>
          <a:ln w="12700">
            <a:solidFill>
              <a:srgbClr val="28594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924544" y="3621024"/>
            <a:ext cx="1819656" cy="365760"/>
          </a:xfrm>
          <a:prstGeom prst="rect">
            <a:avLst/>
          </a:prstGeom>
          <a:noFill/>
        </p:spPr>
        <p:txBody>
          <a:bodyPr wrap="square" lIns="0" rIns="0" tIns="0" bIns="0">
            <a:noAutofit/>
          </a:bodyPr>
          <a:lstStyle/>
          <a:p>
            <a:pPr algn="ctr">
              <a:lnSpc>
                <a:spcPct val="106000"/>
              </a:lnSpc>
              <a:spcBef>
                <a:spcPts val="0"/>
              </a:spcBef>
              <a:spcAft>
                <a:spcPts val="400"/>
              </a:spcAft>
              <a:defRPr sz="2200" b="1">
                <a:solidFill>
                  <a:srgbClr val="153B2D"/>
                </a:solidFill>
                <a:latin typeface="Arial"/>
              </a:defRPr>
            </a:pPr>
            <a:r>
              <a:t>MIN = 0</a:t>
            </a:r>
          </a:p>
        </p:txBody>
      </p:sp>
      <p:sp>
        <p:nvSpPr>
          <p:cNvPr id="25" name="Rounded Rectangle 24"/>
          <p:cNvSpPr/>
          <p:nvPr/>
        </p:nvSpPr>
        <p:spPr>
          <a:xfrm>
            <a:off x="5212080" y="4773168"/>
            <a:ext cx="1005840" cy="658368"/>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285232" y="4974336"/>
            <a:ext cx="859536" cy="365760"/>
          </a:xfrm>
          <a:prstGeom prst="rect">
            <a:avLst/>
          </a:prstGeom>
          <a:noFill/>
        </p:spPr>
        <p:txBody>
          <a:bodyPr wrap="square" lIns="0" rIns="0" tIns="0" bIns="0">
            <a:noAutofit/>
          </a:bodyPr>
          <a:lstStyle/>
          <a:p>
            <a:pPr algn="ctr">
              <a:lnSpc>
                <a:spcPct val="106000"/>
              </a:lnSpc>
              <a:spcBef>
                <a:spcPts val="0"/>
              </a:spcBef>
              <a:spcAft>
                <a:spcPts val="400"/>
              </a:spcAft>
              <a:defRPr sz="2400" b="1">
                <a:solidFill>
                  <a:srgbClr val="153B2D"/>
                </a:solidFill>
                <a:latin typeface="Arial"/>
              </a:defRPr>
            </a:pPr>
            <a:r>
              <a:t>3</a:t>
            </a:r>
          </a:p>
        </p:txBody>
      </p:sp>
      <p:sp>
        <p:nvSpPr>
          <p:cNvPr id="27" name="Rounded Rectangle 26"/>
          <p:cNvSpPr/>
          <p:nvPr/>
        </p:nvSpPr>
        <p:spPr>
          <a:xfrm>
            <a:off x="6675120" y="4773168"/>
            <a:ext cx="1005840" cy="658368"/>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748272" y="4974336"/>
            <a:ext cx="859536" cy="365760"/>
          </a:xfrm>
          <a:prstGeom prst="rect">
            <a:avLst/>
          </a:prstGeom>
          <a:noFill/>
        </p:spPr>
        <p:txBody>
          <a:bodyPr wrap="square" lIns="0" rIns="0" tIns="0" bIns="0">
            <a:noAutofit/>
          </a:bodyPr>
          <a:lstStyle/>
          <a:p>
            <a:pPr algn="ctr">
              <a:lnSpc>
                <a:spcPct val="106000"/>
              </a:lnSpc>
              <a:spcBef>
                <a:spcPts val="0"/>
              </a:spcBef>
              <a:spcAft>
                <a:spcPts val="400"/>
              </a:spcAft>
              <a:defRPr sz="2400" b="1">
                <a:solidFill>
                  <a:srgbClr val="153B2D"/>
                </a:solidFill>
                <a:latin typeface="Arial"/>
              </a:defRPr>
            </a:pPr>
            <a:r>
              <a:t>−3</a:t>
            </a:r>
          </a:p>
        </p:txBody>
      </p:sp>
      <p:sp>
        <p:nvSpPr>
          <p:cNvPr id="29" name="Rounded Rectangle 28"/>
          <p:cNvSpPr/>
          <p:nvPr/>
        </p:nvSpPr>
        <p:spPr>
          <a:xfrm>
            <a:off x="8595360" y="4773168"/>
            <a:ext cx="1005840" cy="658368"/>
          </a:xfrm>
          <a:prstGeom prst="roundRect">
            <a:avLst>
              <a:gd name="adj" fmla="val 12000"/>
            </a:avLst>
          </a:prstGeom>
          <a:solidFill>
            <a:srgbClr val="E8F0E7"/>
          </a:solidFill>
          <a:ln w="12700">
            <a:solidFill>
              <a:srgbClr val="28594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668512" y="4974336"/>
            <a:ext cx="859536" cy="365760"/>
          </a:xfrm>
          <a:prstGeom prst="rect">
            <a:avLst/>
          </a:prstGeom>
          <a:noFill/>
        </p:spPr>
        <p:txBody>
          <a:bodyPr wrap="square" lIns="0" rIns="0" tIns="0" bIns="0">
            <a:noAutofit/>
          </a:bodyPr>
          <a:lstStyle/>
          <a:p>
            <a:pPr algn="ctr">
              <a:lnSpc>
                <a:spcPct val="106000"/>
              </a:lnSpc>
              <a:spcBef>
                <a:spcPts val="0"/>
              </a:spcBef>
              <a:spcAft>
                <a:spcPts val="400"/>
              </a:spcAft>
              <a:defRPr sz="2400" b="1">
                <a:solidFill>
                  <a:srgbClr val="153B2D"/>
                </a:solidFill>
                <a:latin typeface="Arial"/>
              </a:defRPr>
            </a:pPr>
            <a:r>
              <a:t>0</a:t>
            </a:r>
          </a:p>
        </p:txBody>
      </p:sp>
      <p:sp>
        <p:nvSpPr>
          <p:cNvPr id="31" name="Rounded Rectangle 30"/>
          <p:cNvSpPr/>
          <p:nvPr/>
        </p:nvSpPr>
        <p:spPr>
          <a:xfrm>
            <a:off x="10058400" y="4773168"/>
            <a:ext cx="1005840" cy="658368"/>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10131552" y="4974336"/>
            <a:ext cx="859536" cy="365760"/>
          </a:xfrm>
          <a:prstGeom prst="rect">
            <a:avLst/>
          </a:prstGeom>
          <a:noFill/>
        </p:spPr>
        <p:txBody>
          <a:bodyPr wrap="square" lIns="0" rIns="0" tIns="0" bIns="0">
            <a:noAutofit/>
          </a:bodyPr>
          <a:lstStyle/>
          <a:p>
            <a:pPr algn="ctr">
              <a:lnSpc>
                <a:spcPct val="106000"/>
              </a:lnSpc>
              <a:spcBef>
                <a:spcPts val="0"/>
              </a:spcBef>
              <a:spcAft>
                <a:spcPts val="400"/>
              </a:spcAft>
              <a:defRPr sz="2400" b="1">
                <a:solidFill>
                  <a:srgbClr val="153B2D"/>
                </a:solidFill>
                <a:latin typeface="Arial"/>
              </a:defRPr>
            </a:pPr>
            <a:r>
              <a:t>3</a:t>
            </a:r>
          </a:p>
        </p:txBody>
      </p:sp>
      <p:sp>
        <p:nvSpPr>
          <p:cNvPr id="33" name="TextBox 32"/>
          <p:cNvSpPr txBox="1"/>
          <p:nvPr/>
        </p:nvSpPr>
        <p:spPr>
          <a:xfrm>
            <a:off x="5486400" y="5669280"/>
            <a:ext cx="5943600" cy="320040"/>
          </a:xfrm>
          <a:prstGeom prst="rect">
            <a:avLst/>
          </a:prstGeom>
          <a:noFill/>
        </p:spPr>
        <p:txBody>
          <a:bodyPr wrap="square" lIns="0" rIns="0" tIns="0" bIns="0">
            <a:noAutofit/>
          </a:bodyPr>
          <a:lstStyle/>
          <a:p>
            <a:pPr algn="ctr">
              <a:lnSpc>
                <a:spcPct val="106000"/>
              </a:lnSpc>
              <a:spcBef>
                <a:spcPts val="0"/>
              </a:spcBef>
              <a:spcAft>
                <a:spcPts val="400"/>
              </a:spcAft>
              <a:defRPr sz="1700" b="0">
                <a:solidFill>
                  <a:srgbClr val="425D50"/>
                </a:solidFill>
                <a:latin typeface="Arial"/>
              </a:defRPr>
            </a:pPr>
            <a:r>
              <a:t>Illustrative two-step search</a:t>
            </a:r>
          </a:p>
        </p:txBody>
      </p:sp>
      <p:sp>
        <p:nvSpPr>
          <p:cNvPr id="34" name="TextBox 33"/>
          <p:cNvSpPr txBox="1"/>
          <p:nvPr/>
        </p:nvSpPr>
        <p:spPr>
          <a:xfrm>
            <a:off x="594360" y="6080760"/>
            <a:ext cx="10972800" cy="292608"/>
          </a:xfrm>
          <a:prstGeom prst="rect">
            <a:avLst/>
          </a:prstGeom>
          <a:noFill/>
        </p:spPr>
        <p:txBody>
          <a:bodyPr wrap="square" lIns="0" rIns="0" tIns="0" bIns="0">
            <a:noAutofit/>
          </a:bodyPr>
          <a:lstStyle/>
          <a:p>
            <a:pPr algn="l">
              <a:lnSpc>
                <a:spcPct val="106000"/>
              </a:lnSpc>
              <a:spcBef>
                <a:spcPts val="0"/>
              </a:spcBef>
              <a:spcAft>
                <a:spcPts val="400"/>
              </a:spcAft>
              <a:defRPr sz="1900" b="0">
                <a:solidFill>
                  <a:srgbClr val="285942"/>
                </a:solidFill>
                <a:latin typeface="Arial"/>
              </a:defRPr>
            </a:pPr>
            <a:r>
              <a:t>Alpha–Beta skips branches that cannot improve the decision.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4"/>
        </a:solidFill>
        <a:effectLst/>
      </p:bgPr>
    </p:bg>
    <p:spTree>
      <p:nvGrpSpPr>
        <p:cNvPr id="1" name=""/>
        <p:cNvGrpSpPr/>
        <p:nvPr/>
      </p:nvGrpSpPr>
      <p:grpSpPr/>
      <p:sp>
        <p:nvSpPr>
          <p:cNvPr id="2" name="TextBox 1"/>
          <p:cNvSpPr txBox="1"/>
          <p:nvPr/>
        </p:nvSpPr>
        <p:spPr>
          <a:xfrm>
            <a:off x="502920" y="219456"/>
            <a:ext cx="1828800" cy="274320"/>
          </a:xfrm>
          <a:prstGeom prst="rect">
            <a:avLst/>
          </a:prstGeom>
          <a:noFill/>
        </p:spPr>
        <p:txBody>
          <a:bodyPr wrap="square" lIns="0" rIns="0" tIns="0" bIns="0">
            <a:noAutofit/>
          </a:bodyPr>
          <a:lstStyle/>
          <a:p>
            <a:pPr algn="l">
              <a:lnSpc>
                <a:spcPct val="106000"/>
              </a:lnSpc>
              <a:spcBef>
                <a:spcPts val="0"/>
              </a:spcBef>
              <a:spcAft>
                <a:spcPts val="400"/>
              </a:spcAft>
              <a:defRPr sz="1500" b="1">
                <a:solidFill>
                  <a:srgbClr val="285942"/>
                </a:solidFill>
                <a:latin typeface="Arial"/>
              </a:defRPr>
            </a:pPr>
            <a:r>
              <a:t>DAMKA</a:t>
            </a:r>
          </a:p>
        </p:txBody>
      </p:sp>
      <p:sp>
        <p:nvSpPr>
          <p:cNvPr id="3" name="TextBox 2"/>
          <p:cNvSpPr txBox="1"/>
          <p:nvPr/>
        </p:nvSpPr>
        <p:spPr>
          <a:xfrm>
            <a:off x="7315200" y="219456"/>
            <a:ext cx="4370832" cy="274320"/>
          </a:xfrm>
          <a:prstGeom prst="rect">
            <a:avLst/>
          </a:prstGeom>
          <a:noFill/>
        </p:spPr>
        <p:txBody>
          <a:bodyPr wrap="square" lIns="0" rIns="0" tIns="0" bIns="0">
            <a:noAutofit/>
          </a:bodyPr>
          <a:lstStyle/>
          <a:p>
            <a:pPr algn="r">
              <a:lnSpc>
                <a:spcPct val="106000"/>
              </a:lnSpc>
              <a:spcBef>
                <a:spcPts val="0"/>
              </a:spcBef>
              <a:spcAft>
                <a:spcPts val="400"/>
              </a:spcAft>
              <a:defRPr sz="1300" b="0">
                <a:solidFill>
                  <a:srgbClr val="425D50"/>
                </a:solidFill>
                <a:latin typeface="Arial"/>
              </a:defRPr>
            </a:pPr>
            <a:r>
              <a:t>PERSISTENCE</a:t>
            </a:r>
          </a:p>
        </p:txBody>
      </p:sp>
      <p:cxnSp>
        <p:nvCxnSpPr>
          <p:cNvPr id="4" name="Connector 3"/>
          <p:cNvCxnSpPr/>
          <p:nvPr/>
        </p:nvCxnSpPr>
        <p:spPr>
          <a:xfrm>
            <a:off x="502920" y="694944"/>
            <a:ext cx="11183112"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502920" y="667512"/>
            <a:ext cx="1005840" cy="50292"/>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932688"/>
            <a:ext cx="11183112" cy="777240"/>
          </a:xfrm>
          <a:prstGeom prst="rect">
            <a:avLst/>
          </a:prstGeom>
          <a:noFill/>
        </p:spPr>
        <p:txBody>
          <a:bodyPr wrap="square" lIns="0" rIns="0" tIns="0" bIns="0">
            <a:noAutofit/>
          </a:bodyPr>
          <a:lstStyle/>
          <a:p>
            <a:pPr algn="l">
              <a:lnSpc>
                <a:spcPct val="106000"/>
              </a:lnSpc>
              <a:spcBef>
                <a:spcPts val="0"/>
              </a:spcBef>
              <a:spcAft>
                <a:spcPts val="400"/>
              </a:spcAft>
              <a:defRPr sz="3700" b="1">
                <a:solidFill>
                  <a:srgbClr val="153B2D"/>
                </a:solidFill>
                <a:latin typeface="Arial"/>
              </a:defRPr>
            </a:pPr>
            <a:r>
              <a:t>Accounts that remember results</a:t>
            </a:r>
          </a:p>
        </p:txBody>
      </p:sp>
      <p:cxnSp>
        <p:nvCxnSpPr>
          <p:cNvPr id="7" name="Connector 6"/>
          <p:cNvCxnSpPr/>
          <p:nvPr/>
        </p:nvCxnSpPr>
        <p:spPr>
          <a:xfrm>
            <a:off x="502920" y="6437376"/>
            <a:ext cx="11183112" cy="0"/>
          </a:xfrm>
          <a:prstGeom prst="line">
            <a:avLst/>
          </a:prstGeom>
          <a:ln w="1016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02920" y="6528816"/>
            <a:ext cx="7315200" cy="182880"/>
          </a:xfrm>
          <a:prstGeom prst="rect">
            <a:avLst/>
          </a:prstGeom>
          <a:noFill/>
        </p:spPr>
        <p:txBody>
          <a:bodyPr wrap="square" lIns="0" rIns="0" tIns="0" bIns="0">
            <a:noAutofit/>
          </a:bodyPr>
          <a:lstStyle/>
          <a:p>
            <a:pPr algn="l">
              <a:lnSpc>
                <a:spcPct val="106000"/>
              </a:lnSpc>
              <a:spcBef>
                <a:spcPts val="0"/>
              </a:spcBef>
              <a:spcAft>
                <a:spcPts val="400"/>
              </a:spcAft>
              <a:defRPr sz="1000" b="0">
                <a:solidFill>
                  <a:srgbClr val="425D50"/>
                </a:solidFill>
                <a:latin typeface="Arial"/>
              </a:defRPr>
            </a:pPr>
            <a:r>
              <a:t>DAMKA  /  FINAL PROJECT</a:t>
            </a:r>
          </a:p>
        </p:txBody>
      </p:sp>
      <p:sp>
        <p:nvSpPr>
          <p:cNvPr id="9" name="TextBox 8"/>
          <p:cNvSpPr txBox="1"/>
          <p:nvPr/>
        </p:nvSpPr>
        <p:spPr>
          <a:xfrm>
            <a:off x="10698480" y="6510528"/>
            <a:ext cx="987552" cy="228600"/>
          </a:xfrm>
          <a:prstGeom prst="rect">
            <a:avLst/>
          </a:prstGeom>
          <a:noFill/>
        </p:spPr>
        <p:txBody>
          <a:bodyPr wrap="square" lIns="0" rIns="0" tIns="0" bIns="0">
            <a:noAutofit/>
          </a:bodyPr>
          <a:lstStyle/>
          <a:p>
            <a:pPr algn="r">
              <a:lnSpc>
                <a:spcPct val="106000"/>
              </a:lnSpc>
              <a:spcBef>
                <a:spcPts val="0"/>
              </a:spcBef>
              <a:spcAft>
                <a:spcPts val="400"/>
              </a:spcAft>
              <a:defRPr sz="1200" b="0">
                <a:solidFill>
                  <a:srgbClr val="425D50"/>
                </a:solidFill>
                <a:latin typeface="Arial"/>
              </a:defRPr>
            </a:pPr>
            <a:r>
              <a:t>06 / 10</a:t>
            </a:r>
          </a:p>
        </p:txBody>
      </p:sp>
      <p:sp>
        <p:nvSpPr>
          <p:cNvPr id="10" name="Rounded Rectangle 9"/>
          <p:cNvSpPr/>
          <p:nvPr/>
        </p:nvSpPr>
        <p:spPr>
          <a:xfrm>
            <a:off x="594360" y="1938528"/>
            <a:ext cx="6126480" cy="429768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2203704"/>
            <a:ext cx="5440680" cy="457200"/>
          </a:xfrm>
          <a:prstGeom prst="rect">
            <a:avLst/>
          </a:prstGeom>
          <a:noFill/>
        </p:spPr>
        <p:txBody>
          <a:bodyPr wrap="square" lIns="0" rIns="0" tIns="0" bIns="0">
            <a:noAutofit/>
          </a:bodyPr>
          <a:lstStyle/>
          <a:p>
            <a:pPr algn="l">
              <a:lnSpc>
                <a:spcPct val="106000"/>
              </a:lnSpc>
              <a:spcBef>
                <a:spcPts val="0"/>
              </a:spcBef>
              <a:spcAft>
                <a:spcPts val="400"/>
              </a:spcAft>
              <a:defRPr sz="2800" b="1">
                <a:solidFill>
                  <a:srgbClr val="153B2D"/>
                </a:solidFill>
                <a:latin typeface="Arial"/>
              </a:defRPr>
            </a:pPr>
            <a:r>
              <a:t>Player profile</a:t>
            </a:r>
          </a:p>
        </p:txBody>
      </p:sp>
      <p:sp>
        <p:nvSpPr>
          <p:cNvPr id="12" name="TextBox 11"/>
          <p:cNvSpPr txBox="1"/>
          <p:nvPr/>
        </p:nvSpPr>
        <p:spPr>
          <a:xfrm>
            <a:off x="868680" y="2761488"/>
            <a:ext cx="5440680" cy="320040"/>
          </a:xfrm>
          <a:prstGeom prst="rect">
            <a:avLst/>
          </a:prstGeom>
          <a:noFill/>
        </p:spPr>
        <p:txBody>
          <a:bodyPr wrap="square" lIns="0" rIns="0" tIns="0" bIns="0">
            <a:noAutofit/>
          </a:bodyPr>
          <a:lstStyle/>
          <a:p>
            <a:pPr algn="l">
              <a:lnSpc>
                <a:spcPct val="106000"/>
              </a:lnSpc>
              <a:spcBef>
                <a:spcPts val="0"/>
              </a:spcBef>
              <a:spcAft>
                <a:spcPts val="400"/>
              </a:spcAft>
              <a:defRPr sz="1700" b="0">
                <a:solidFill>
                  <a:srgbClr val="425D50"/>
                </a:solidFill>
                <a:latin typeface="Arial"/>
              </a:defRPr>
            </a:pPr>
            <a:r>
              <a:t>Illustrative account</a:t>
            </a:r>
          </a:p>
        </p:txBody>
      </p:sp>
      <p:sp>
        <p:nvSpPr>
          <p:cNvPr id="13" name="Rounded Rectangle 12"/>
          <p:cNvSpPr/>
          <p:nvPr/>
        </p:nvSpPr>
        <p:spPr>
          <a:xfrm>
            <a:off x="868680" y="3291840"/>
            <a:ext cx="2651760" cy="1234440"/>
          </a:xfrm>
          <a:prstGeom prst="roundRect">
            <a:avLst>
              <a:gd name="adj" fmla="val 12000"/>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3749039" y="3291840"/>
            <a:ext cx="2651760" cy="1234440"/>
          </a:xfrm>
          <a:prstGeom prst="roundRect">
            <a:avLst>
              <a:gd name="adj" fmla="val 12000"/>
            </a:avLst>
          </a:prstGeom>
          <a:solidFill>
            <a:srgbClr val="F8EE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60704" y="3474720"/>
            <a:ext cx="2258568" cy="320040"/>
          </a:xfrm>
          <a:prstGeom prst="rect">
            <a:avLst/>
          </a:prstGeom>
          <a:noFill/>
        </p:spPr>
        <p:txBody>
          <a:bodyPr wrap="square" lIns="0" rIns="0" tIns="0" bIns="0">
            <a:noAutofit/>
          </a:bodyPr>
          <a:lstStyle/>
          <a:p>
            <a:pPr algn="l">
              <a:lnSpc>
                <a:spcPct val="106000"/>
              </a:lnSpc>
              <a:spcBef>
                <a:spcPts val="0"/>
              </a:spcBef>
              <a:spcAft>
                <a:spcPts val="400"/>
              </a:spcAft>
              <a:defRPr sz="1800" b="1">
                <a:solidFill>
                  <a:srgbClr val="285942"/>
                </a:solidFill>
                <a:latin typeface="Arial"/>
              </a:defRPr>
            </a:pPr>
            <a:r>
              <a:t>ONLINE</a:t>
            </a:r>
          </a:p>
        </p:txBody>
      </p:sp>
      <p:sp>
        <p:nvSpPr>
          <p:cNvPr id="16" name="TextBox 15"/>
          <p:cNvSpPr txBox="1"/>
          <p:nvPr/>
        </p:nvSpPr>
        <p:spPr>
          <a:xfrm>
            <a:off x="1060704" y="3941063"/>
            <a:ext cx="2258568" cy="384048"/>
          </a:xfrm>
          <a:prstGeom prst="rect">
            <a:avLst/>
          </a:prstGeom>
          <a:noFill/>
        </p:spPr>
        <p:txBody>
          <a:bodyPr wrap="square" lIns="0" rIns="0" tIns="0" bIns="0">
            <a:noAutofit/>
          </a:bodyPr>
          <a:lstStyle/>
          <a:p>
            <a:pPr algn="l">
              <a:lnSpc>
                <a:spcPct val="106000"/>
              </a:lnSpc>
              <a:spcBef>
                <a:spcPts val="0"/>
              </a:spcBef>
              <a:spcAft>
                <a:spcPts val="400"/>
              </a:spcAft>
              <a:defRPr sz="2300" b="1">
                <a:solidFill>
                  <a:srgbClr val="153B2D"/>
                </a:solidFill>
                <a:latin typeface="Arial"/>
              </a:defRPr>
            </a:pPr>
            <a:r>
              <a:t>1 win / 1 match</a:t>
            </a:r>
          </a:p>
        </p:txBody>
      </p:sp>
      <p:sp>
        <p:nvSpPr>
          <p:cNvPr id="17" name="TextBox 16"/>
          <p:cNvSpPr txBox="1"/>
          <p:nvPr/>
        </p:nvSpPr>
        <p:spPr>
          <a:xfrm>
            <a:off x="3941063" y="3474720"/>
            <a:ext cx="2258568" cy="320040"/>
          </a:xfrm>
          <a:prstGeom prst="rect">
            <a:avLst/>
          </a:prstGeom>
          <a:noFill/>
        </p:spPr>
        <p:txBody>
          <a:bodyPr wrap="square" lIns="0" rIns="0" tIns="0" bIns="0">
            <a:noAutofit/>
          </a:bodyPr>
          <a:lstStyle/>
          <a:p>
            <a:pPr algn="l">
              <a:lnSpc>
                <a:spcPct val="106000"/>
              </a:lnSpc>
              <a:spcBef>
                <a:spcPts val="0"/>
              </a:spcBef>
              <a:spcAft>
                <a:spcPts val="400"/>
              </a:spcAft>
              <a:defRPr sz="1800" b="1">
                <a:solidFill>
                  <a:srgbClr val="BD614A"/>
                </a:solidFill>
                <a:latin typeface="Arial"/>
              </a:defRPr>
            </a:pPr>
            <a:r>
              <a:t>BOT</a:t>
            </a:r>
          </a:p>
        </p:txBody>
      </p:sp>
      <p:sp>
        <p:nvSpPr>
          <p:cNvPr id="18" name="TextBox 17"/>
          <p:cNvSpPr txBox="1"/>
          <p:nvPr/>
        </p:nvSpPr>
        <p:spPr>
          <a:xfrm>
            <a:off x="3941063" y="3941063"/>
            <a:ext cx="2258568" cy="384048"/>
          </a:xfrm>
          <a:prstGeom prst="rect">
            <a:avLst/>
          </a:prstGeom>
          <a:noFill/>
        </p:spPr>
        <p:txBody>
          <a:bodyPr wrap="square" lIns="0" rIns="0" tIns="0" bIns="0">
            <a:noAutofit/>
          </a:bodyPr>
          <a:lstStyle/>
          <a:p>
            <a:pPr algn="l">
              <a:lnSpc>
                <a:spcPct val="106000"/>
              </a:lnSpc>
              <a:spcBef>
                <a:spcPts val="0"/>
              </a:spcBef>
              <a:spcAft>
                <a:spcPts val="400"/>
              </a:spcAft>
              <a:defRPr sz="2300" b="1">
                <a:solidFill>
                  <a:srgbClr val="153B2D"/>
                </a:solidFill>
                <a:latin typeface="Arial"/>
              </a:defRPr>
            </a:pPr>
            <a:r>
              <a:t>0 matches</a:t>
            </a:r>
          </a:p>
        </p:txBody>
      </p:sp>
      <p:sp>
        <p:nvSpPr>
          <p:cNvPr id="19" name="TextBox 18"/>
          <p:cNvSpPr txBox="1"/>
          <p:nvPr/>
        </p:nvSpPr>
        <p:spPr>
          <a:xfrm>
            <a:off x="868680" y="4882896"/>
            <a:ext cx="5440680" cy="411480"/>
          </a:xfrm>
          <a:prstGeom prst="rect">
            <a:avLst/>
          </a:prstGeom>
          <a:noFill/>
        </p:spPr>
        <p:txBody>
          <a:bodyPr wrap="square" lIns="0" rIns="0" tIns="0" bIns="0">
            <a:noAutofit/>
          </a:bodyPr>
          <a:lstStyle/>
          <a:p>
            <a:pPr algn="l">
              <a:lnSpc>
                <a:spcPct val="106000"/>
              </a:lnSpc>
              <a:spcBef>
                <a:spcPts val="0"/>
              </a:spcBef>
              <a:spcAft>
                <a:spcPts val="400"/>
              </a:spcAft>
              <a:defRPr sz="2400" b="1">
                <a:solidFill>
                  <a:srgbClr val="153B2D"/>
                </a:solidFill>
                <a:latin typeface="Arial"/>
              </a:defRPr>
            </a:pPr>
            <a:r>
              <a:t>Match history</a:t>
            </a:r>
          </a:p>
        </p:txBody>
      </p:sp>
      <p:cxnSp>
        <p:nvCxnSpPr>
          <p:cNvPr id="20" name="Connector 19"/>
          <p:cNvCxnSpPr/>
          <p:nvPr/>
        </p:nvCxnSpPr>
        <p:spPr>
          <a:xfrm>
            <a:off x="868680" y="5468112"/>
            <a:ext cx="5532120"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868680" y="5669280"/>
            <a:ext cx="1280160" cy="365760"/>
          </a:xfrm>
          <a:prstGeom prst="rect">
            <a:avLst/>
          </a:prstGeom>
          <a:noFill/>
        </p:spPr>
        <p:txBody>
          <a:bodyPr wrap="square" lIns="0" rIns="0" tIns="0" bIns="0">
            <a:noAutofit/>
          </a:bodyPr>
          <a:lstStyle/>
          <a:p>
            <a:pPr algn="l">
              <a:lnSpc>
                <a:spcPct val="106000"/>
              </a:lnSpc>
              <a:spcBef>
                <a:spcPts val="0"/>
              </a:spcBef>
              <a:spcAft>
                <a:spcPts val="400"/>
              </a:spcAft>
              <a:defRPr sz="2200" b="0">
                <a:solidFill>
                  <a:srgbClr val="153B2D"/>
                </a:solidFill>
                <a:latin typeface="Arial"/>
              </a:defRPr>
            </a:pPr>
            <a:r>
              <a:t>Online</a:t>
            </a:r>
          </a:p>
        </p:txBody>
      </p:sp>
      <p:sp>
        <p:nvSpPr>
          <p:cNvPr id="22" name="TextBox 21"/>
          <p:cNvSpPr txBox="1"/>
          <p:nvPr/>
        </p:nvSpPr>
        <p:spPr>
          <a:xfrm>
            <a:off x="2770632" y="5669280"/>
            <a:ext cx="1005840" cy="365760"/>
          </a:xfrm>
          <a:prstGeom prst="rect">
            <a:avLst/>
          </a:prstGeom>
          <a:noFill/>
        </p:spPr>
        <p:txBody>
          <a:bodyPr wrap="square" lIns="0" rIns="0" tIns="0" bIns="0">
            <a:noAutofit/>
          </a:bodyPr>
          <a:lstStyle/>
          <a:p>
            <a:pPr algn="l">
              <a:lnSpc>
                <a:spcPct val="106000"/>
              </a:lnSpc>
              <a:spcBef>
                <a:spcPts val="0"/>
              </a:spcBef>
              <a:spcAft>
                <a:spcPts val="400"/>
              </a:spcAft>
              <a:defRPr sz="2200" b="1">
                <a:solidFill>
                  <a:srgbClr val="285942"/>
                </a:solidFill>
                <a:latin typeface="Arial"/>
              </a:defRPr>
            </a:pPr>
            <a:r>
              <a:t>WIN</a:t>
            </a:r>
          </a:p>
        </p:txBody>
      </p:sp>
      <p:sp>
        <p:nvSpPr>
          <p:cNvPr id="23" name="TextBox 22"/>
          <p:cNvSpPr txBox="1"/>
          <p:nvPr/>
        </p:nvSpPr>
        <p:spPr>
          <a:xfrm>
            <a:off x="4169663" y="5669280"/>
            <a:ext cx="2212848" cy="365760"/>
          </a:xfrm>
          <a:prstGeom prst="rect">
            <a:avLst/>
          </a:prstGeom>
          <a:noFill/>
        </p:spPr>
        <p:txBody>
          <a:bodyPr wrap="square" lIns="0" rIns="0" tIns="0" bIns="0">
            <a:noAutofit/>
          </a:bodyPr>
          <a:lstStyle/>
          <a:p>
            <a:pPr algn="l">
              <a:lnSpc>
                <a:spcPct val="106000"/>
              </a:lnSpc>
              <a:spcBef>
                <a:spcPts val="0"/>
              </a:spcBef>
              <a:spcAft>
                <a:spcPts val="400"/>
              </a:spcAft>
              <a:defRPr sz="2200" b="0">
                <a:solidFill>
                  <a:srgbClr val="153B2D"/>
                </a:solidFill>
                <a:latin typeface="Arial"/>
              </a:defRPr>
            </a:pPr>
            <a:r>
              <a:t>Resignation</a:t>
            </a:r>
          </a:p>
        </p:txBody>
      </p:sp>
      <p:sp>
        <p:nvSpPr>
          <p:cNvPr id="24" name="Rounded Rectangle 23"/>
          <p:cNvSpPr/>
          <p:nvPr/>
        </p:nvSpPr>
        <p:spPr>
          <a:xfrm>
            <a:off x="7114032" y="1938528"/>
            <a:ext cx="4489704" cy="155448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370064" y="2194560"/>
            <a:ext cx="3968496" cy="438912"/>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Consolas"/>
              </a:defRPr>
            </a:pPr>
            <a:r>
              <a:t>profiles</a:t>
            </a:r>
          </a:p>
        </p:txBody>
      </p:sp>
      <p:sp>
        <p:nvSpPr>
          <p:cNvPr id="26" name="TextBox 25"/>
          <p:cNvSpPr txBox="1"/>
          <p:nvPr/>
        </p:nvSpPr>
        <p:spPr>
          <a:xfrm>
            <a:off x="7370064" y="2871216"/>
            <a:ext cx="3968496" cy="457200"/>
          </a:xfrm>
          <a:prstGeom prst="rect">
            <a:avLst/>
          </a:prstGeom>
          <a:noFill/>
        </p:spPr>
        <p:txBody>
          <a:bodyPr wrap="square" lIns="0" rIns="0" tIns="0" bIns="0">
            <a:noAutofit/>
          </a:bodyPr>
          <a:lstStyle/>
          <a:p>
            <a:pPr algn="l">
              <a:lnSpc>
                <a:spcPct val="106000"/>
              </a:lnSpc>
              <a:spcBef>
                <a:spcPts val="0"/>
              </a:spcBef>
              <a:spcAft>
                <a:spcPts val="400"/>
              </a:spcAft>
              <a:defRPr sz="2300" b="0">
                <a:solidFill>
                  <a:srgbClr val="425D50"/>
                </a:solidFill>
                <a:latin typeface="Arial"/>
              </a:defRPr>
            </a:pPr>
            <a:r>
              <a:t>Username · salt · hash</a:t>
            </a:r>
          </a:p>
        </p:txBody>
      </p:sp>
      <p:sp>
        <p:nvSpPr>
          <p:cNvPr id="27" name="Rounded Rectangle 26"/>
          <p:cNvSpPr/>
          <p:nvPr/>
        </p:nvSpPr>
        <p:spPr>
          <a:xfrm>
            <a:off x="7114032" y="3721608"/>
            <a:ext cx="4489704" cy="155448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370064" y="3977639"/>
            <a:ext cx="3968496" cy="438912"/>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Consolas"/>
              </a:defRPr>
            </a:pPr>
            <a:r>
              <a:t>game_results</a:t>
            </a:r>
          </a:p>
        </p:txBody>
      </p:sp>
      <p:sp>
        <p:nvSpPr>
          <p:cNvPr id="29" name="TextBox 28"/>
          <p:cNvSpPr txBox="1"/>
          <p:nvPr/>
        </p:nvSpPr>
        <p:spPr>
          <a:xfrm>
            <a:off x="7370064" y="4626864"/>
            <a:ext cx="3968496" cy="457200"/>
          </a:xfrm>
          <a:prstGeom prst="rect">
            <a:avLst/>
          </a:prstGeom>
          <a:noFill/>
        </p:spPr>
        <p:txBody>
          <a:bodyPr wrap="square" lIns="0" rIns="0" tIns="0" bIns="0">
            <a:noAutofit/>
          </a:bodyPr>
          <a:lstStyle/>
          <a:p>
            <a:pPr algn="l">
              <a:lnSpc>
                <a:spcPct val="106000"/>
              </a:lnSpc>
              <a:spcBef>
                <a:spcPts val="0"/>
              </a:spcBef>
              <a:spcAft>
                <a:spcPts val="400"/>
              </a:spcAft>
              <a:defRPr sz="2200" b="0">
                <a:solidFill>
                  <a:srgbClr val="425D50"/>
                </a:solidFill>
                <a:latin typeface="Arial"/>
              </a:defRPr>
            </a:pPr>
            <a:r>
              <a:t>Players · result · mode · time</a:t>
            </a:r>
          </a:p>
        </p:txBody>
      </p:sp>
      <p:sp>
        <p:nvSpPr>
          <p:cNvPr id="30" name="TextBox 29"/>
          <p:cNvSpPr txBox="1"/>
          <p:nvPr/>
        </p:nvSpPr>
        <p:spPr>
          <a:xfrm>
            <a:off x="7114032" y="5705856"/>
            <a:ext cx="4489704" cy="457200"/>
          </a:xfrm>
          <a:prstGeom prst="rect">
            <a:avLst/>
          </a:prstGeom>
          <a:noFill/>
        </p:spPr>
        <p:txBody>
          <a:bodyPr wrap="square" lIns="0" rIns="0" tIns="0" bIns="0">
            <a:noAutofit/>
          </a:bodyPr>
          <a:lstStyle/>
          <a:p>
            <a:pPr algn="l">
              <a:lnSpc>
                <a:spcPct val="106000"/>
              </a:lnSpc>
              <a:spcBef>
                <a:spcPts val="0"/>
              </a:spcBef>
              <a:spcAft>
                <a:spcPts val="400"/>
              </a:spcAft>
              <a:defRPr sz="2400" b="1">
                <a:solidFill>
                  <a:srgbClr val="153B2D"/>
                </a:solidFill>
                <a:latin typeface="Arial"/>
              </a:defRPr>
            </a:pPr>
            <a:r>
              <a:t>Saved results → statistics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4"/>
        </a:solidFill>
        <a:effectLst/>
      </p:bgPr>
    </p:bg>
    <p:spTree>
      <p:nvGrpSpPr>
        <p:cNvPr id="1" name=""/>
        <p:cNvGrpSpPr/>
        <p:nvPr/>
      </p:nvGrpSpPr>
      <p:grpSpPr/>
      <p:sp>
        <p:nvSpPr>
          <p:cNvPr id="2" name="TextBox 1"/>
          <p:cNvSpPr txBox="1"/>
          <p:nvPr/>
        </p:nvSpPr>
        <p:spPr>
          <a:xfrm>
            <a:off x="502920" y="219456"/>
            <a:ext cx="1828800" cy="274320"/>
          </a:xfrm>
          <a:prstGeom prst="rect">
            <a:avLst/>
          </a:prstGeom>
          <a:noFill/>
        </p:spPr>
        <p:txBody>
          <a:bodyPr wrap="square" lIns="0" rIns="0" tIns="0" bIns="0">
            <a:noAutofit/>
          </a:bodyPr>
          <a:lstStyle/>
          <a:p>
            <a:pPr algn="l">
              <a:lnSpc>
                <a:spcPct val="106000"/>
              </a:lnSpc>
              <a:spcBef>
                <a:spcPts val="0"/>
              </a:spcBef>
              <a:spcAft>
                <a:spcPts val="400"/>
              </a:spcAft>
              <a:defRPr sz="1500" b="1">
                <a:solidFill>
                  <a:srgbClr val="285942"/>
                </a:solidFill>
                <a:latin typeface="Arial"/>
              </a:defRPr>
            </a:pPr>
            <a:r>
              <a:t>DAMKA</a:t>
            </a:r>
          </a:p>
        </p:txBody>
      </p:sp>
      <p:sp>
        <p:nvSpPr>
          <p:cNvPr id="3" name="TextBox 2"/>
          <p:cNvSpPr txBox="1"/>
          <p:nvPr/>
        </p:nvSpPr>
        <p:spPr>
          <a:xfrm>
            <a:off x="7315200" y="219456"/>
            <a:ext cx="4370832" cy="274320"/>
          </a:xfrm>
          <a:prstGeom prst="rect">
            <a:avLst/>
          </a:prstGeom>
          <a:noFill/>
        </p:spPr>
        <p:txBody>
          <a:bodyPr wrap="square" lIns="0" rIns="0" tIns="0" bIns="0">
            <a:noAutofit/>
          </a:bodyPr>
          <a:lstStyle/>
          <a:p>
            <a:pPr algn="r">
              <a:lnSpc>
                <a:spcPct val="106000"/>
              </a:lnSpc>
              <a:spcBef>
                <a:spcPts val="0"/>
              </a:spcBef>
              <a:spcAft>
                <a:spcPts val="400"/>
              </a:spcAft>
              <a:defRPr sz="1300" b="0">
                <a:solidFill>
                  <a:srgbClr val="425D50"/>
                </a:solidFill>
                <a:latin typeface="Arial"/>
              </a:defRPr>
            </a:pPr>
            <a:r>
              <a:t>QUALITY AND PROCESS</a:t>
            </a:r>
          </a:p>
        </p:txBody>
      </p:sp>
      <p:cxnSp>
        <p:nvCxnSpPr>
          <p:cNvPr id="4" name="Connector 3"/>
          <p:cNvCxnSpPr/>
          <p:nvPr/>
        </p:nvCxnSpPr>
        <p:spPr>
          <a:xfrm>
            <a:off x="502920" y="694944"/>
            <a:ext cx="11183112"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502920" y="667512"/>
            <a:ext cx="1005840" cy="50292"/>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932688"/>
            <a:ext cx="11183112" cy="777240"/>
          </a:xfrm>
          <a:prstGeom prst="rect">
            <a:avLst/>
          </a:prstGeom>
          <a:noFill/>
        </p:spPr>
        <p:txBody>
          <a:bodyPr wrap="square" lIns="0" rIns="0" tIns="0" bIns="0">
            <a:noAutofit/>
          </a:bodyPr>
          <a:lstStyle/>
          <a:p>
            <a:pPr algn="l">
              <a:lnSpc>
                <a:spcPct val="106000"/>
              </a:lnSpc>
              <a:spcBef>
                <a:spcPts val="0"/>
              </a:spcBef>
              <a:spcAft>
                <a:spcPts val="400"/>
              </a:spcAft>
              <a:defRPr sz="3700" b="1">
                <a:solidFill>
                  <a:srgbClr val="153B2D"/>
                </a:solidFill>
                <a:latin typeface="Arial"/>
              </a:defRPr>
            </a:pPr>
            <a:r>
              <a:t>Verification and AI-assisted development</a:t>
            </a:r>
          </a:p>
        </p:txBody>
      </p:sp>
      <p:cxnSp>
        <p:nvCxnSpPr>
          <p:cNvPr id="7" name="Connector 6"/>
          <p:cNvCxnSpPr/>
          <p:nvPr/>
        </p:nvCxnSpPr>
        <p:spPr>
          <a:xfrm>
            <a:off x="502920" y="6437376"/>
            <a:ext cx="11183112" cy="0"/>
          </a:xfrm>
          <a:prstGeom prst="line">
            <a:avLst/>
          </a:prstGeom>
          <a:ln w="1016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02920" y="6528816"/>
            <a:ext cx="7315200" cy="182880"/>
          </a:xfrm>
          <a:prstGeom prst="rect">
            <a:avLst/>
          </a:prstGeom>
          <a:noFill/>
        </p:spPr>
        <p:txBody>
          <a:bodyPr wrap="square" lIns="0" rIns="0" tIns="0" bIns="0">
            <a:noAutofit/>
          </a:bodyPr>
          <a:lstStyle/>
          <a:p>
            <a:pPr algn="l">
              <a:lnSpc>
                <a:spcPct val="106000"/>
              </a:lnSpc>
              <a:spcBef>
                <a:spcPts val="0"/>
              </a:spcBef>
              <a:spcAft>
                <a:spcPts val="400"/>
              </a:spcAft>
              <a:defRPr sz="1000" b="0">
                <a:solidFill>
                  <a:srgbClr val="425D50"/>
                </a:solidFill>
                <a:latin typeface="Arial"/>
              </a:defRPr>
            </a:pPr>
            <a:r>
              <a:t>DAMKA  /  FINAL PROJECT</a:t>
            </a:r>
          </a:p>
        </p:txBody>
      </p:sp>
      <p:sp>
        <p:nvSpPr>
          <p:cNvPr id="9" name="TextBox 8"/>
          <p:cNvSpPr txBox="1"/>
          <p:nvPr/>
        </p:nvSpPr>
        <p:spPr>
          <a:xfrm>
            <a:off x="10698480" y="6510528"/>
            <a:ext cx="987552" cy="228600"/>
          </a:xfrm>
          <a:prstGeom prst="rect">
            <a:avLst/>
          </a:prstGeom>
          <a:noFill/>
        </p:spPr>
        <p:txBody>
          <a:bodyPr wrap="square" lIns="0" rIns="0" tIns="0" bIns="0">
            <a:noAutofit/>
          </a:bodyPr>
          <a:lstStyle/>
          <a:p>
            <a:pPr algn="r">
              <a:lnSpc>
                <a:spcPct val="106000"/>
              </a:lnSpc>
              <a:spcBef>
                <a:spcPts val="0"/>
              </a:spcBef>
              <a:spcAft>
                <a:spcPts val="400"/>
              </a:spcAft>
              <a:defRPr sz="1200" b="0">
                <a:solidFill>
                  <a:srgbClr val="425D50"/>
                </a:solidFill>
                <a:latin typeface="Arial"/>
              </a:defRPr>
            </a:pPr>
            <a:r>
              <a:t>07 / 10</a:t>
            </a:r>
          </a:p>
        </p:txBody>
      </p:sp>
      <p:sp>
        <p:nvSpPr>
          <p:cNvPr id="10" name="Rounded Rectangle 9"/>
          <p:cNvSpPr/>
          <p:nvPr/>
        </p:nvSpPr>
        <p:spPr>
          <a:xfrm>
            <a:off x="548640" y="1901952"/>
            <a:ext cx="5513832" cy="4197096"/>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22960" y="2130552"/>
            <a:ext cx="1325880" cy="1005840"/>
          </a:xfrm>
          <a:prstGeom prst="rect">
            <a:avLst/>
          </a:prstGeom>
          <a:noFill/>
        </p:spPr>
        <p:txBody>
          <a:bodyPr wrap="square" lIns="0" rIns="0" tIns="0" bIns="0">
            <a:noAutofit/>
          </a:bodyPr>
          <a:lstStyle/>
          <a:p>
            <a:pPr algn="l">
              <a:lnSpc>
                <a:spcPct val="106000"/>
              </a:lnSpc>
              <a:spcBef>
                <a:spcPts val="0"/>
              </a:spcBef>
              <a:spcAft>
                <a:spcPts val="400"/>
              </a:spcAft>
              <a:defRPr sz="6400" b="1">
                <a:solidFill>
                  <a:srgbClr val="285942"/>
                </a:solidFill>
                <a:latin typeface="Arial"/>
              </a:defRPr>
            </a:pPr>
            <a:r>
              <a:t>48</a:t>
            </a:r>
          </a:p>
        </p:txBody>
      </p:sp>
      <p:sp>
        <p:nvSpPr>
          <p:cNvPr id="12" name="TextBox 11"/>
          <p:cNvSpPr txBox="1"/>
          <p:nvPr/>
        </p:nvSpPr>
        <p:spPr>
          <a:xfrm>
            <a:off x="2286000" y="2551176"/>
            <a:ext cx="3474720" cy="54864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automated tests</a:t>
            </a:r>
          </a:p>
        </p:txBody>
      </p:sp>
      <p:sp>
        <p:nvSpPr>
          <p:cNvPr id="13" name="TextBox 12"/>
          <p:cNvSpPr txBox="1"/>
          <p:nvPr/>
        </p:nvSpPr>
        <p:spPr>
          <a:xfrm>
            <a:off x="822960" y="3511296"/>
            <a:ext cx="4965192" cy="1719072"/>
          </a:xfrm>
          <a:prstGeom prst="rect">
            <a:avLst/>
          </a:prstGeom>
          <a:noFill/>
        </p:spPr>
        <p:txBody>
          <a:bodyPr wrap="square" lIns="0" rIns="0" tIns="0" bIns="0">
            <a:noAutofit/>
          </a:bodyPr>
          <a:lstStyle/>
          <a:p>
            <a:pPr algn="l">
              <a:lnSpc>
                <a:spcPct val="106000"/>
              </a:lnSpc>
              <a:spcBef>
                <a:spcPts val="0"/>
              </a:spcBef>
              <a:spcAft>
                <a:spcPts val="400"/>
              </a:spcAft>
              <a:defRPr sz="2300" b="0">
                <a:solidFill>
                  <a:srgbClr val="153B2D"/>
                </a:solidFill>
                <a:latin typeface="Arial"/>
              </a:defRPr>
            </a:pPr>
            <a:r>
              <a:t>Game rules and edge cases</a:t>
            </a:r>
          </a:p>
          <a:p>
            <a:pPr algn="l">
              <a:lnSpc>
                <a:spcPct val="106000"/>
              </a:lnSpc>
              <a:spcBef>
                <a:spcPts val="0"/>
              </a:spcBef>
              <a:spcAft>
                <a:spcPts val="400"/>
              </a:spcAft>
              <a:defRPr sz="2300" b="0">
                <a:solidFill>
                  <a:srgbClr val="153B2D"/>
                </a:solidFill>
                <a:latin typeface="Arial"/>
              </a:defRPr>
            </a:pPr>
            <a:r>
              <a:t>Real TCP protocol checks</a:t>
            </a:r>
          </a:p>
          <a:p>
            <a:pPr algn="l">
              <a:lnSpc>
                <a:spcPct val="106000"/>
              </a:lnSpc>
              <a:spcBef>
                <a:spcPts val="0"/>
              </a:spcBef>
              <a:spcAft>
                <a:spcPts val="400"/>
              </a:spcAft>
              <a:defRPr sz="2300" b="0">
                <a:solidFill>
                  <a:srgbClr val="153B2D"/>
                </a:solidFill>
                <a:latin typeface="Arial"/>
              </a:defRPr>
            </a:pPr>
            <a:r>
              <a:t>SQLite persistence and deduplication</a:t>
            </a:r>
          </a:p>
        </p:txBody>
      </p:sp>
      <p:sp>
        <p:nvSpPr>
          <p:cNvPr id="14" name="TextBox 13"/>
          <p:cNvSpPr txBox="1"/>
          <p:nvPr/>
        </p:nvSpPr>
        <p:spPr>
          <a:xfrm>
            <a:off x="822960" y="5513832"/>
            <a:ext cx="4965192" cy="384048"/>
          </a:xfrm>
          <a:prstGeom prst="rect">
            <a:avLst/>
          </a:prstGeom>
          <a:noFill/>
        </p:spPr>
        <p:txBody>
          <a:bodyPr wrap="square" lIns="0" rIns="0" tIns="0" bIns="0">
            <a:noAutofit/>
          </a:bodyPr>
          <a:lstStyle/>
          <a:p>
            <a:pPr algn="l">
              <a:lnSpc>
                <a:spcPct val="106000"/>
              </a:lnSpc>
              <a:spcBef>
                <a:spcPts val="0"/>
              </a:spcBef>
              <a:spcAft>
                <a:spcPts val="400"/>
              </a:spcAft>
              <a:defRPr sz="1600" b="0">
                <a:solidFill>
                  <a:srgbClr val="425D50"/>
                </a:solidFill>
                <a:latin typeface="Arial"/>
              </a:defRPr>
            </a:pPr>
            <a:r>
              <a:t>Documented passing run: 12 Oct 2026</a:t>
            </a:r>
          </a:p>
        </p:txBody>
      </p:sp>
      <p:sp>
        <p:nvSpPr>
          <p:cNvPr id="15" name="Rounded Rectangle 14"/>
          <p:cNvSpPr/>
          <p:nvPr/>
        </p:nvSpPr>
        <p:spPr>
          <a:xfrm>
            <a:off x="6309360" y="1901952"/>
            <a:ext cx="5330952" cy="4197096"/>
          </a:xfrm>
          <a:prstGeom prst="roundRect">
            <a:avLst>
              <a:gd name="adj" fmla="val 12000"/>
            </a:avLst>
          </a:prstGeom>
          <a:solidFill>
            <a:srgbClr val="E8F0E7"/>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83680" y="2340864"/>
            <a:ext cx="4782312" cy="758952"/>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Codex + GitHub Copilot</a:t>
            </a:r>
          </a:p>
        </p:txBody>
      </p:sp>
      <p:sp>
        <p:nvSpPr>
          <p:cNvPr id="17" name="TextBox 16"/>
          <p:cNvSpPr txBox="1"/>
          <p:nvPr/>
        </p:nvSpPr>
        <p:spPr>
          <a:xfrm>
            <a:off x="6583680" y="3447288"/>
            <a:ext cx="4782312" cy="1143000"/>
          </a:xfrm>
          <a:prstGeom prst="rect">
            <a:avLst/>
          </a:prstGeom>
          <a:noFill/>
        </p:spPr>
        <p:txBody>
          <a:bodyPr wrap="square" lIns="0" rIns="0" tIns="0" bIns="0">
            <a:noAutofit/>
          </a:bodyPr>
          <a:lstStyle/>
          <a:p>
            <a:pPr algn="l">
              <a:lnSpc>
                <a:spcPct val="106000"/>
              </a:lnSpc>
              <a:spcBef>
                <a:spcPts val="0"/>
              </a:spcBef>
              <a:spcAft>
                <a:spcPts val="400"/>
              </a:spcAft>
              <a:defRPr sz="2300" b="0">
                <a:solidFill>
                  <a:srgbClr val="153B2D"/>
                </a:solidFill>
                <a:latin typeface="Arial"/>
              </a:defRPr>
            </a:pPr>
            <a:r>
              <a:t>Planning · code · explanations</a:t>
            </a:r>
          </a:p>
          <a:p>
            <a:pPr algn="l">
              <a:lnSpc>
                <a:spcPct val="106000"/>
              </a:lnSpc>
              <a:spcBef>
                <a:spcPts val="0"/>
              </a:spcBef>
              <a:spcAft>
                <a:spcPts val="400"/>
              </a:spcAft>
              <a:defRPr sz="2300" b="0">
                <a:solidFill>
                  <a:srgbClr val="153B2D"/>
                </a:solidFill>
                <a:latin typeface="Arial"/>
              </a:defRPr>
            </a:pPr>
            <a:r>
              <a:t>Tests and documentation</a:t>
            </a:r>
          </a:p>
        </p:txBody>
      </p:sp>
      <p:sp>
        <p:nvSpPr>
          <p:cNvPr id="18" name="TextBox 17"/>
          <p:cNvSpPr txBox="1"/>
          <p:nvPr/>
        </p:nvSpPr>
        <p:spPr>
          <a:xfrm>
            <a:off x="6583680" y="5010912"/>
            <a:ext cx="4782312" cy="786384"/>
          </a:xfrm>
          <a:prstGeom prst="rect">
            <a:avLst/>
          </a:prstGeom>
          <a:noFill/>
        </p:spPr>
        <p:txBody>
          <a:bodyPr wrap="square" lIns="0" rIns="0" tIns="0" bIns="0">
            <a:noAutofit/>
          </a:bodyPr>
          <a:lstStyle/>
          <a:p>
            <a:pPr algn="l">
              <a:lnSpc>
                <a:spcPct val="106000"/>
              </a:lnSpc>
              <a:spcBef>
                <a:spcPts val="0"/>
              </a:spcBef>
              <a:spcAft>
                <a:spcPts val="400"/>
              </a:spcAft>
              <a:defRPr sz="2300" b="1">
                <a:solidFill>
                  <a:srgbClr val="285942"/>
                </a:solidFill>
                <a:latin typeface="Arial"/>
              </a:defRPr>
            </a:pPr>
            <a:r>
              <a:t>Read → run → review → refine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4"/>
        </a:solidFill>
        <a:effectLst/>
      </p:bgPr>
    </p:bg>
    <p:spTree>
      <p:nvGrpSpPr>
        <p:cNvPr id="1" name=""/>
        <p:cNvGrpSpPr/>
        <p:nvPr/>
      </p:nvGrpSpPr>
      <p:grpSpPr/>
      <p:sp>
        <p:nvSpPr>
          <p:cNvPr id="2" name="TextBox 1"/>
          <p:cNvSpPr txBox="1"/>
          <p:nvPr/>
        </p:nvSpPr>
        <p:spPr>
          <a:xfrm>
            <a:off x="502920" y="219456"/>
            <a:ext cx="1828800" cy="274320"/>
          </a:xfrm>
          <a:prstGeom prst="rect">
            <a:avLst/>
          </a:prstGeom>
          <a:noFill/>
        </p:spPr>
        <p:txBody>
          <a:bodyPr wrap="square" lIns="0" rIns="0" tIns="0" bIns="0">
            <a:noAutofit/>
          </a:bodyPr>
          <a:lstStyle/>
          <a:p>
            <a:pPr algn="l">
              <a:lnSpc>
                <a:spcPct val="106000"/>
              </a:lnSpc>
              <a:spcBef>
                <a:spcPts val="0"/>
              </a:spcBef>
              <a:spcAft>
                <a:spcPts val="400"/>
              </a:spcAft>
              <a:defRPr sz="1500" b="1">
                <a:solidFill>
                  <a:srgbClr val="285942"/>
                </a:solidFill>
                <a:latin typeface="Arial"/>
              </a:defRPr>
            </a:pPr>
            <a:r>
              <a:t>DAMKA</a:t>
            </a:r>
          </a:p>
        </p:txBody>
      </p:sp>
      <p:sp>
        <p:nvSpPr>
          <p:cNvPr id="3" name="TextBox 2"/>
          <p:cNvSpPr txBox="1"/>
          <p:nvPr/>
        </p:nvSpPr>
        <p:spPr>
          <a:xfrm>
            <a:off x="7315200" y="219456"/>
            <a:ext cx="4370832" cy="274320"/>
          </a:xfrm>
          <a:prstGeom prst="rect">
            <a:avLst/>
          </a:prstGeom>
          <a:noFill/>
        </p:spPr>
        <p:txBody>
          <a:bodyPr wrap="square" lIns="0" rIns="0" tIns="0" bIns="0">
            <a:noAutofit/>
          </a:bodyPr>
          <a:lstStyle/>
          <a:p>
            <a:pPr algn="r">
              <a:lnSpc>
                <a:spcPct val="106000"/>
              </a:lnSpc>
              <a:spcBef>
                <a:spcPts val="0"/>
              </a:spcBef>
              <a:spcAft>
                <a:spcPts val="400"/>
              </a:spcAft>
              <a:defRPr sz="1300" b="0">
                <a:solidFill>
                  <a:srgbClr val="425D50"/>
                </a:solidFill>
                <a:latin typeface="Arial"/>
              </a:defRPr>
            </a:pPr>
            <a:r>
              <a:t>SCOPE</a:t>
            </a:r>
          </a:p>
        </p:txBody>
      </p:sp>
      <p:cxnSp>
        <p:nvCxnSpPr>
          <p:cNvPr id="4" name="Connector 3"/>
          <p:cNvCxnSpPr/>
          <p:nvPr/>
        </p:nvCxnSpPr>
        <p:spPr>
          <a:xfrm>
            <a:off x="502920" y="694944"/>
            <a:ext cx="11183112"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502920" y="667512"/>
            <a:ext cx="1005840" cy="50292"/>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932688"/>
            <a:ext cx="11183112" cy="777240"/>
          </a:xfrm>
          <a:prstGeom prst="rect">
            <a:avLst/>
          </a:prstGeom>
          <a:noFill/>
        </p:spPr>
        <p:txBody>
          <a:bodyPr wrap="square" lIns="0" rIns="0" tIns="0" bIns="0">
            <a:noAutofit/>
          </a:bodyPr>
          <a:lstStyle/>
          <a:p>
            <a:pPr algn="l">
              <a:lnSpc>
                <a:spcPct val="106000"/>
              </a:lnSpc>
              <a:spcBef>
                <a:spcPts val="0"/>
              </a:spcBef>
              <a:spcAft>
                <a:spcPts val="400"/>
              </a:spcAft>
              <a:defRPr sz="3700" b="1">
                <a:solidFill>
                  <a:srgbClr val="153B2D"/>
                </a:solidFill>
                <a:latin typeface="Arial"/>
              </a:defRPr>
            </a:pPr>
            <a:r>
              <a:t>Current limits and next step</a:t>
            </a:r>
          </a:p>
        </p:txBody>
      </p:sp>
      <p:cxnSp>
        <p:nvCxnSpPr>
          <p:cNvPr id="7" name="Connector 6"/>
          <p:cNvCxnSpPr/>
          <p:nvPr/>
        </p:nvCxnSpPr>
        <p:spPr>
          <a:xfrm>
            <a:off x="502920" y="6437376"/>
            <a:ext cx="11183112" cy="0"/>
          </a:xfrm>
          <a:prstGeom prst="line">
            <a:avLst/>
          </a:prstGeom>
          <a:ln w="1016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02920" y="6528816"/>
            <a:ext cx="7315200" cy="182880"/>
          </a:xfrm>
          <a:prstGeom prst="rect">
            <a:avLst/>
          </a:prstGeom>
          <a:noFill/>
        </p:spPr>
        <p:txBody>
          <a:bodyPr wrap="square" lIns="0" rIns="0" tIns="0" bIns="0">
            <a:noAutofit/>
          </a:bodyPr>
          <a:lstStyle/>
          <a:p>
            <a:pPr algn="l">
              <a:lnSpc>
                <a:spcPct val="106000"/>
              </a:lnSpc>
              <a:spcBef>
                <a:spcPts val="0"/>
              </a:spcBef>
              <a:spcAft>
                <a:spcPts val="400"/>
              </a:spcAft>
              <a:defRPr sz="1000" b="0">
                <a:solidFill>
                  <a:srgbClr val="425D50"/>
                </a:solidFill>
                <a:latin typeface="Arial"/>
              </a:defRPr>
            </a:pPr>
            <a:r>
              <a:t>DAMKA  /  FINAL PROJECT</a:t>
            </a:r>
          </a:p>
        </p:txBody>
      </p:sp>
      <p:sp>
        <p:nvSpPr>
          <p:cNvPr id="9" name="TextBox 8"/>
          <p:cNvSpPr txBox="1"/>
          <p:nvPr/>
        </p:nvSpPr>
        <p:spPr>
          <a:xfrm>
            <a:off x="10698480" y="6510528"/>
            <a:ext cx="987552" cy="228600"/>
          </a:xfrm>
          <a:prstGeom prst="rect">
            <a:avLst/>
          </a:prstGeom>
          <a:noFill/>
        </p:spPr>
        <p:txBody>
          <a:bodyPr wrap="square" lIns="0" rIns="0" tIns="0" bIns="0">
            <a:noAutofit/>
          </a:bodyPr>
          <a:lstStyle/>
          <a:p>
            <a:pPr algn="r">
              <a:lnSpc>
                <a:spcPct val="106000"/>
              </a:lnSpc>
              <a:spcBef>
                <a:spcPts val="0"/>
              </a:spcBef>
              <a:spcAft>
                <a:spcPts val="400"/>
              </a:spcAft>
              <a:defRPr sz="1200" b="0">
                <a:solidFill>
                  <a:srgbClr val="425D50"/>
                </a:solidFill>
                <a:latin typeface="Arial"/>
              </a:defRPr>
            </a:pPr>
            <a:r>
              <a:t>08 / 10</a:t>
            </a:r>
          </a:p>
        </p:txBody>
      </p:sp>
      <p:sp>
        <p:nvSpPr>
          <p:cNvPr id="10" name="Rounded Rectangle 9"/>
          <p:cNvSpPr/>
          <p:nvPr/>
        </p:nvSpPr>
        <p:spPr>
          <a:xfrm>
            <a:off x="548640" y="1938528"/>
            <a:ext cx="3538728" cy="242316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66928" y="2139696"/>
            <a:ext cx="41148" cy="2020824"/>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77240" y="2157984"/>
            <a:ext cx="3081528" cy="59436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LAN focus</a:t>
            </a:r>
          </a:p>
        </p:txBody>
      </p:sp>
      <p:sp>
        <p:nvSpPr>
          <p:cNvPr id="13" name="TextBox 12"/>
          <p:cNvSpPr txBox="1"/>
          <p:nvPr/>
        </p:nvSpPr>
        <p:spPr>
          <a:xfrm>
            <a:off x="777240" y="2898648"/>
            <a:ext cx="3081528" cy="1307592"/>
          </a:xfrm>
          <a:prstGeom prst="rect">
            <a:avLst/>
          </a:prstGeom>
          <a:noFill/>
        </p:spPr>
        <p:txBody>
          <a:bodyPr wrap="square" lIns="0" rIns="0" tIns="0" bIns="0">
            <a:noAutofit/>
          </a:bodyPr>
          <a:lstStyle/>
          <a:p>
            <a:pPr algn="l">
              <a:lnSpc>
                <a:spcPct val="106000"/>
              </a:lnSpc>
              <a:spcBef>
                <a:spcPts val="0"/>
              </a:spcBef>
              <a:spcAft>
                <a:spcPts val="400"/>
              </a:spcAft>
              <a:defRPr sz="2300" b="0">
                <a:solidFill>
                  <a:srgbClr val="425D50"/>
                </a:solidFill>
                <a:latin typeface="Arial"/>
              </a:defRPr>
            </a:pPr>
            <a:r>
              <a:t>No TLS in this version</a:t>
            </a:r>
          </a:p>
        </p:txBody>
      </p:sp>
      <p:sp>
        <p:nvSpPr>
          <p:cNvPr id="14" name="Rounded Rectangle 13"/>
          <p:cNvSpPr/>
          <p:nvPr/>
        </p:nvSpPr>
        <p:spPr>
          <a:xfrm>
            <a:off x="4325112" y="1938528"/>
            <a:ext cx="3538728" cy="242316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4343400" y="2139696"/>
            <a:ext cx="41148" cy="2020824"/>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553712" y="2157984"/>
            <a:ext cx="3081528" cy="59436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No match resume</a:t>
            </a:r>
          </a:p>
        </p:txBody>
      </p:sp>
      <p:sp>
        <p:nvSpPr>
          <p:cNvPr id="17" name="TextBox 16"/>
          <p:cNvSpPr txBox="1"/>
          <p:nvPr/>
        </p:nvSpPr>
        <p:spPr>
          <a:xfrm>
            <a:off x="4553712" y="2898648"/>
            <a:ext cx="3081528" cy="1307592"/>
          </a:xfrm>
          <a:prstGeom prst="rect">
            <a:avLst/>
          </a:prstGeom>
          <a:noFill/>
        </p:spPr>
        <p:txBody>
          <a:bodyPr wrap="square" lIns="0" rIns="0" tIns="0" bIns="0">
            <a:noAutofit/>
          </a:bodyPr>
          <a:lstStyle/>
          <a:p>
            <a:pPr algn="l">
              <a:lnSpc>
                <a:spcPct val="106000"/>
              </a:lnSpc>
              <a:spcBef>
                <a:spcPts val="0"/>
              </a:spcBef>
              <a:spcAft>
                <a:spcPts val="400"/>
              </a:spcAft>
              <a:defRPr sz="2300" b="0">
                <a:solidFill>
                  <a:srgbClr val="425D50"/>
                </a:solidFill>
                <a:latin typeface="Arial"/>
              </a:defRPr>
            </a:pPr>
            <a:r>
              <a:t>A detected disconnect</a:t>
            </a:r>
          </a:p>
          <a:p>
            <a:pPr algn="l">
              <a:lnSpc>
                <a:spcPct val="106000"/>
              </a:lnSpc>
              <a:spcBef>
                <a:spcPts val="0"/>
              </a:spcBef>
              <a:spcAft>
                <a:spcPts val="400"/>
              </a:spcAft>
              <a:defRPr sz="2300" b="0">
                <a:solidFill>
                  <a:srgbClr val="425D50"/>
                </a:solidFill>
                <a:latin typeface="Arial"/>
              </a:defRPr>
            </a:pPr>
            <a:r>
              <a:t>ends the active match</a:t>
            </a:r>
          </a:p>
        </p:txBody>
      </p:sp>
      <p:sp>
        <p:nvSpPr>
          <p:cNvPr id="18" name="Rounded Rectangle 17"/>
          <p:cNvSpPr/>
          <p:nvPr/>
        </p:nvSpPr>
        <p:spPr>
          <a:xfrm>
            <a:off x="8110727" y="1938528"/>
            <a:ext cx="3538728" cy="2423160"/>
          </a:xfrm>
          <a:prstGeom prst="roundRect">
            <a:avLst>
              <a:gd name="adj" fmla="val 12000"/>
            </a:avLst>
          </a:prstGeom>
          <a:solidFill>
            <a:srgbClr val="FFFFFF"/>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8129015" y="2139696"/>
            <a:ext cx="41148" cy="2020824"/>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339327" y="2157984"/>
            <a:ext cx="3081528" cy="594360"/>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Local BOT results</a:t>
            </a:r>
          </a:p>
        </p:txBody>
      </p:sp>
      <p:sp>
        <p:nvSpPr>
          <p:cNvPr id="21" name="TextBox 20"/>
          <p:cNvSpPr txBox="1"/>
          <p:nvPr/>
        </p:nvSpPr>
        <p:spPr>
          <a:xfrm>
            <a:off x="8339327" y="2898648"/>
            <a:ext cx="3081528" cy="1307592"/>
          </a:xfrm>
          <a:prstGeom prst="rect">
            <a:avLst/>
          </a:prstGeom>
          <a:noFill/>
        </p:spPr>
        <p:txBody>
          <a:bodyPr wrap="square" lIns="0" rIns="0" tIns="0" bIns="0">
            <a:noAutofit/>
          </a:bodyPr>
          <a:lstStyle/>
          <a:p>
            <a:pPr algn="l">
              <a:lnSpc>
                <a:spcPct val="106000"/>
              </a:lnSpc>
              <a:spcBef>
                <a:spcPts val="0"/>
              </a:spcBef>
              <a:spcAft>
                <a:spcPts val="400"/>
              </a:spcAft>
              <a:defRPr sz="2300" b="0">
                <a:solidFill>
                  <a:srgbClr val="425D50"/>
                </a:solidFill>
                <a:latin typeface="Arial"/>
              </a:defRPr>
            </a:pPr>
            <a:r>
              <a:t>Client-reported</a:t>
            </a:r>
          </a:p>
          <a:p>
            <a:pPr algn="l">
              <a:lnSpc>
                <a:spcPct val="106000"/>
              </a:lnSpc>
              <a:spcBef>
                <a:spcPts val="0"/>
              </a:spcBef>
              <a:spcAft>
                <a:spcPts val="400"/>
              </a:spcAft>
              <a:defRPr sz="2300" b="0">
                <a:solidFill>
                  <a:srgbClr val="425D50"/>
                </a:solidFill>
                <a:latin typeface="Arial"/>
              </a:defRPr>
            </a:pPr>
            <a:r>
              <a:t>No offline upload queue</a:t>
            </a:r>
          </a:p>
        </p:txBody>
      </p:sp>
      <p:sp>
        <p:nvSpPr>
          <p:cNvPr id="22" name="Rounded Rectangle 21"/>
          <p:cNvSpPr/>
          <p:nvPr/>
        </p:nvSpPr>
        <p:spPr>
          <a:xfrm>
            <a:off x="548640" y="4800600"/>
            <a:ext cx="11091672" cy="1234440"/>
          </a:xfrm>
          <a:prstGeom prst="roundRect">
            <a:avLst>
              <a:gd name="adj" fmla="val 12000"/>
            </a:avLst>
          </a:prstGeom>
          <a:solidFill>
            <a:srgbClr val="E8F0E7"/>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22960" y="5120640"/>
            <a:ext cx="1188720" cy="457200"/>
          </a:xfrm>
          <a:prstGeom prst="rect">
            <a:avLst/>
          </a:prstGeom>
          <a:noFill/>
        </p:spPr>
        <p:txBody>
          <a:bodyPr wrap="square" lIns="0" rIns="0" tIns="0" bIns="0">
            <a:noAutofit/>
          </a:bodyPr>
          <a:lstStyle/>
          <a:p>
            <a:pPr algn="l">
              <a:lnSpc>
                <a:spcPct val="106000"/>
              </a:lnSpc>
              <a:spcBef>
                <a:spcPts val="0"/>
              </a:spcBef>
              <a:spcAft>
                <a:spcPts val="400"/>
              </a:spcAft>
              <a:defRPr sz="2100" b="1">
                <a:solidFill>
                  <a:srgbClr val="285942"/>
                </a:solidFill>
                <a:latin typeface="Arial"/>
              </a:defRPr>
            </a:pPr>
            <a:r>
              <a:t>NEXT</a:t>
            </a:r>
          </a:p>
        </p:txBody>
      </p:sp>
      <p:sp>
        <p:nvSpPr>
          <p:cNvPr id="24" name="TextBox 23"/>
          <p:cNvSpPr txBox="1"/>
          <p:nvPr/>
        </p:nvSpPr>
        <p:spPr>
          <a:xfrm>
            <a:off x="2148840" y="5093208"/>
            <a:ext cx="9144000" cy="694944"/>
          </a:xfrm>
          <a:prstGeom prst="rect">
            <a:avLst/>
          </a:prstGeom>
          <a:noFill/>
        </p:spPr>
        <p:txBody>
          <a:bodyPr wrap="square" lIns="0" rIns="0" tIns="0" bIns="0">
            <a:noAutofit/>
          </a:bodyPr>
          <a:lstStyle/>
          <a:p>
            <a:pPr algn="l">
              <a:lnSpc>
                <a:spcPct val="106000"/>
              </a:lnSpc>
              <a:spcBef>
                <a:spcPts val="0"/>
              </a:spcBef>
              <a:spcAft>
                <a:spcPts val="400"/>
              </a:spcAft>
              <a:defRPr sz="2700" b="1">
                <a:solidFill>
                  <a:srgbClr val="153B2D"/>
                </a:solidFill>
                <a:latin typeface="Arial"/>
              </a:defRPr>
            </a:pPr>
            <a:r>
              <a:t>In-room chat over the existing TCP connection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4"/>
        </a:solidFill>
        <a:effectLst/>
      </p:bgPr>
    </p:bg>
    <p:spTree>
      <p:nvGrpSpPr>
        <p:cNvPr id="1" name=""/>
        <p:cNvGrpSpPr/>
        <p:nvPr/>
      </p:nvGrpSpPr>
      <p:grpSpPr/>
      <p:sp>
        <p:nvSpPr>
          <p:cNvPr id="2" name="TextBox 1"/>
          <p:cNvSpPr txBox="1"/>
          <p:nvPr/>
        </p:nvSpPr>
        <p:spPr>
          <a:xfrm>
            <a:off x="502920" y="219456"/>
            <a:ext cx="1828800" cy="274320"/>
          </a:xfrm>
          <a:prstGeom prst="rect">
            <a:avLst/>
          </a:prstGeom>
          <a:noFill/>
        </p:spPr>
        <p:txBody>
          <a:bodyPr wrap="square" lIns="0" rIns="0" tIns="0" bIns="0">
            <a:noAutofit/>
          </a:bodyPr>
          <a:lstStyle/>
          <a:p>
            <a:pPr algn="l">
              <a:lnSpc>
                <a:spcPct val="106000"/>
              </a:lnSpc>
              <a:spcBef>
                <a:spcPts val="0"/>
              </a:spcBef>
              <a:spcAft>
                <a:spcPts val="400"/>
              </a:spcAft>
              <a:defRPr sz="1500" b="1">
                <a:solidFill>
                  <a:srgbClr val="285942"/>
                </a:solidFill>
                <a:latin typeface="Arial"/>
              </a:defRPr>
            </a:pPr>
            <a:r>
              <a:t>DAMKA</a:t>
            </a:r>
          </a:p>
        </p:txBody>
      </p:sp>
      <p:sp>
        <p:nvSpPr>
          <p:cNvPr id="3" name="TextBox 2"/>
          <p:cNvSpPr txBox="1"/>
          <p:nvPr/>
        </p:nvSpPr>
        <p:spPr>
          <a:xfrm>
            <a:off x="7315200" y="219456"/>
            <a:ext cx="4370832" cy="274320"/>
          </a:xfrm>
          <a:prstGeom prst="rect">
            <a:avLst/>
          </a:prstGeom>
          <a:noFill/>
        </p:spPr>
        <p:txBody>
          <a:bodyPr wrap="square" lIns="0" rIns="0" tIns="0" bIns="0">
            <a:noAutofit/>
          </a:bodyPr>
          <a:lstStyle/>
          <a:p>
            <a:pPr algn="r">
              <a:lnSpc>
                <a:spcPct val="106000"/>
              </a:lnSpc>
              <a:spcBef>
                <a:spcPts val="0"/>
              </a:spcBef>
              <a:spcAft>
                <a:spcPts val="400"/>
              </a:spcAft>
              <a:defRPr sz="1300" b="0">
                <a:solidFill>
                  <a:srgbClr val="425D50"/>
                </a:solidFill>
                <a:latin typeface="Arial"/>
              </a:defRPr>
            </a:pPr>
            <a:r>
              <a:t>CONCLUSIONS</a:t>
            </a:r>
          </a:p>
        </p:txBody>
      </p:sp>
      <p:cxnSp>
        <p:nvCxnSpPr>
          <p:cNvPr id="4" name="Connector 3"/>
          <p:cNvCxnSpPr/>
          <p:nvPr/>
        </p:nvCxnSpPr>
        <p:spPr>
          <a:xfrm>
            <a:off x="502920" y="694944"/>
            <a:ext cx="11183112"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502920" y="667512"/>
            <a:ext cx="1005840" cy="50292"/>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932688"/>
            <a:ext cx="11183112" cy="777240"/>
          </a:xfrm>
          <a:prstGeom prst="rect">
            <a:avLst/>
          </a:prstGeom>
          <a:noFill/>
        </p:spPr>
        <p:txBody>
          <a:bodyPr wrap="square" lIns="0" rIns="0" tIns="0" bIns="0">
            <a:noAutofit/>
          </a:bodyPr>
          <a:lstStyle/>
          <a:p>
            <a:pPr algn="l">
              <a:lnSpc>
                <a:spcPct val="106000"/>
              </a:lnSpc>
              <a:spcBef>
                <a:spcPts val="0"/>
              </a:spcBef>
              <a:spcAft>
                <a:spcPts val="400"/>
              </a:spcAft>
              <a:defRPr sz="3700" b="1">
                <a:solidFill>
                  <a:srgbClr val="153B2D"/>
                </a:solidFill>
                <a:latin typeface="Arial"/>
              </a:defRPr>
            </a:pPr>
            <a:r>
              <a:t>What we built and learned</a:t>
            </a:r>
          </a:p>
        </p:txBody>
      </p:sp>
      <p:cxnSp>
        <p:nvCxnSpPr>
          <p:cNvPr id="7" name="Connector 6"/>
          <p:cNvCxnSpPr/>
          <p:nvPr/>
        </p:nvCxnSpPr>
        <p:spPr>
          <a:xfrm>
            <a:off x="502920" y="6437376"/>
            <a:ext cx="11183112" cy="0"/>
          </a:xfrm>
          <a:prstGeom prst="line">
            <a:avLst/>
          </a:prstGeom>
          <a:ln w="1016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02920" y="6528816"/>
            <a:ext cx="7315200" cy="182880"/>
          </a:xfrm>
          <a:prstGeom prst="rect">
            <a:avLst/>
          </a:prstGeom>
          <a:noFill/>
        </p:spPr>
        <p:txBody>
          <a:bodyPr wrap="square" lIns="0" rIns="0" tIns="0" bIns="0">
            <a:noAutofit/>
          </a:bodyPr>
          <a:lstStyle/>
          <a:p>
            <a:pPr algn="l">
              <a:lnSpc>
                <a:spcPct val="106000"/>
              </a:lnSpc>
              <a:spcBef>
                <a:spcPts val="0"/>
              </a:spcBef>
              <a:spcAft>
                <a:spcPts val="400"/>
              </a:spcAft>
              <a:defRPr sz="1000" b="0">
                <a:solidFill>
                  <a:srgbClr val="425D50"/>
                </a:solidFill>
                <a:latin typeface="Arial"/>
              </a:defRPr>
            </a:pPr>
            <a:r>
              <a:t>DAMKA  /  FINAL PROJECT</a:t>
            </a:r>
          </a:p>
        </p:txBody>
      </p:sp>
      <p:sp>
        <p:nvSpPr>
          <p:cNvPr id="9" name="TextBox 8"/>
          <p:cNvSpPr txBox="1"/>
          <p:nvPr/>
        </p:nvSpPr>
        <p:spPr>
          <a:xfrm>
            <a:off x="10698480" y="6510528"/>
            <a:ext cx="987552" cy="228600"/>
          </a:xfrm>
          <a:prstGeom prst="rect">
            <a:avLst/>
          </a:prstGeom>
          <a:noFill/>
        </p:spPr>
        <p:txBody>
          <a:bodyPr wrap="square" lIns="0" rIns="0" tIns="0" bIns="0">
            <a:noAutofit/>
          </a:bodyPr>
          <a:lstStyle/>
          <a:p>
            <a:pPr algn="r">
              <a:lnSpc>
                <a:spcPct val="106000"/>
              </a:lnSpc>
              <a:spcBef>
                <a:spcPts val="0"/>
              </a:spcBef>
              <a:spcAft>
                <a:spcPts val="400"/>
              </a:spcAft>
              <a:defRPr sz="1200" b="0">
                <a:solidFill>
                  <a:srgbClr val="425D50"/>
                </a:solidFill>
                <a:latin typeface="Arial"/>
              </a:defRPr>
            </a:pPr>
            <a:r>
              <a:t>09 / 10</a:t>
            </a:r>
          </a:p>
        </p:txBody>
      </p:sp>
      <p:sp>
        <p:nvSpPr>
          <p:cNvPr id="10" name="TextBox 9"/>
          <p:cNvSpPr txBox="1"/>
          <p:nvPr/>
        </p:nvSpPr>
        <p:spPr>
          <a:xfrm>
            <a:off x="594360" y="1901952"/>
            <a:ext cx="7040880" cy="2148840"/>
          </a:xfrm>
          <a:prstGeom prst="rect">
            <a:avLst/>
          </a:prstGeom>
          <a:noFill/>
        </p:spPr>
        <p:txBody>
          <a:bodyPr wrap="square" lIns="0" rIns="0" tIns="0" bIns="0">
            <a:noAutofit/>
          </a:bodyPr>
          <a:lstStyle/>
          <a:p>
            <a:pPr algn="l">
              <a:lnSpc>
                <a:spcPct val="106000"/>
              </a:lnSpc>
              <a:spcBef>
                <a:spcPts val="0"/>
              </a:spcBef>
              <a:spcAft>
                <a:spcPts val="400"/>
              </a:spcAft>
              <a:defRPr sz="3300" b="1">
                <a:solidFill>
                  <a:srgbClr val="153B2D"/>
                </a:solidFill>
                <a:latin typeface="Arial"/>
              </a:defRPr>
            </a:pPr>
            <a:r>
              <a:t>One authoritative game.</a:t>
            </a:r>
          </a:p>
          <a:p>
            <a:pPr algn="l">
              <a:lnSpc>
                <a:spcPct val="106000"/>
              </a:lnSpc>
              <a:spcBef>
                <a:spcPts val="0"/>
              </a:spcBef>
              <a:spcAft>
                <a:spcPts val="400"/>
              </a:spcAft>
              <a:defRPr sz="3300" b="1">
                <a:solidFill>
                  <a:srgbClr val="153B2D"/>
                </a:solidFill>
                <a:latin typeface="Arial"/>
              </a:defRPr>
            </a:pPr>
            <a:r>
              <a:t>Two synchronized clients.</a:t>
            </a:r>
          </a:p>
          <a:p>
            <a:pPr algn="l">
              <a:lnSpc>
                <a:spcPct val="106000"/>
              </a:lnSpc>
              <a:spcBef>
                <a:spcPts val="0"/>
              </a:spcBef>
              <a:spcAft>
                <a:spcPts val="400"/>
              </a:spcAft>
              <a:defRPr sz="3300" b="1">
                <a:solidFill>
                  <a:srgbClr val="153B2D"/>
                </a:solidFill>
                <a:latin typeface="Arial"/>
              </a:defRPr>
            </a:pPr>
            <a:r>
              <a:t>Persistent player results.</a:t>
            </a:r>
          </a:p>
        </p:txBody>
      </p:sp>
      <p:sp>
        <p:nvSpPr>
          <p:cNvPr id="11" name="Rounded Rectangle 10"/>
          <p:cNvSpPr/>
          <p:nvPr/>
        </p:nvSpPr>
        <p:spPr>
          <a:xfrm>
            <a:off x="8321040" y="1874519"/>
            <a:ext cx="3291840" cy="2761488"/>
          </a:xfrm>
          <a:prstGeom prst="roundRect">
            <a:avLst>
              <a:gd name="adj" fmla="val 12000"/>
            </a:avLst>
          </a:prstGeom>
          <a:solidFill>
            <a:srgbClr val="E8F0E7"/>
          </a:solidFill>
          <a:ln w="12700">
            <a:solidFill>
              <a:srgbClr val="CBD8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549640" y="2651760"/>
            <a:ext cx="2834640" cy="640080"/>
          </a:xfrm>
          <a:prstGeom prst="rect">
            <a:avLst/>
          </a:prstGeom>
          <a:noFill/>
        </p:spPr>
        <p:txBody>
          <a:bodyPr wrap="square" lIns="0" rIns="0" tIns="0" bIns="0">
            <a:noAutofit/>
          </a:bodyPr>
          <a:lstStyle/>
          <a:p>
            <a:pPr algn="ctr">
              <a:lnSpc>
                <a:spcPct val="106000"/>
              </a:lnSpc>
              <a:spcBef>
                <a:spcPts val="0"/>
              </a:spcBef>
              <a:spcAft>
                <a:spcPts val="400"/>
              </a:spcAft>
              <a:defRPr sz="2900" b="1">
                <a:solidFill>
                  <a:srgbClr val="153B2D"/>
                </a:solidFill>
                <a:latin typeface="Arial"/>
              </a:defRPr>
            </a:pPr>
            <a:r>
              <a:t>Built to play.</a:t>
            </a:r>
          </a:p>
        </p:txBody>
      </p:sp>
      <p:sp>
        <p:nvSpPr>
          <p:cNvPr id="13" name="TextBox 12"/>
          <p:cNvSpPr txBox="1"/>
          <p:nvPr/>
        </p:nvSpPr>
        <p:spPr>
          <a:xfrm>
            <a:off x="8549640" y="3639312"/>
            <a:ext cx="2834640" cy="731520"/>
          </a:xfrm>
          <a:prstGeom prst="rect">
            <a:avLst/>
          </a:prstGeom>
          <a:noFill/>
        </p:spPr>
        <p:txBody>
          <a:bodyPr wrap="square" lIns="0" rIns="0" tIns="0" bIns="0">
            <a:noAutofit/>
          </a:bodyPr>
          <a:lstStyle/>
          <a:p>
            <a:pPr algn="ctr">
              <a:lnSpc>
                <a:spcPct val="106000"/>
              </a:lnSpc>
              <a:spcBef>
                <a:spcPts val="0"/>
              </a:spcBef>
              <a:spcAft>
                <a:spcPts val="400"/>
              </a:spcAft>
              <a:defRPr sz="2200" b="0">
                <a:solidFill>
                  <a:srgbClr val="425D50"/>
                </a:solidFill>
                <a:latin typeface="Arial"/>
              </a:defRPr>
            </a:pPr>
            <a:r>
              <a:t>Rules · Networking</a:t>
            </a:r>
          </a:p>
          <a:p>
            <a:pPr algn="ctr">
              <a:lnSpc>
                <a:spcPct val="106000"/>
              </a:lnSpc>
              <a:spcBef>
                <a:spcPts val="0"/>
              </a:spcBef>
              <a:spcAft>
                <a:spcPts val="400"/>
              </a:spcAft>
              <a:defRPr sz="2200" b="0">
                <a:solidFill>
                  <a:srgbClr val="425D50"/>
                </a:solidFill>
                <a:latin typeface="Arial"/>
              </a:defRPr>
            </a:pPr>
            <a:r>
              <a:t>BOT · Profiles</a:t>
            </a:r>
          </a:p>
        </p:txBody>
      </p:sp>
      <p:cxnSp>
        <p:nvCxnSpPr>
          <p:cNvPr id="14" name="Connector 13"/>
          <p:cNvCxnSpPr/>
          <p:nvPr/>
        </p:nvCxnSpPr>
        <p:spPr>
          <a:xfrm>
            <a:off x="594360" y="4507992"/>
            <a:ext cx="6720840" cy="0"/>
          </a:xfrm>
          <a:prstGeom prst="line">
            <a:avLst/>
          </a:prstGeom>
          <a:ln w="1778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594360" y="4773168"/>
            <a:ext cx="7315200" cy="914400"/>
          </a:xfrm>
          <a:prstGeom prst="rect">
            <a:avLst/>
          </a:prstGeom>
          <a:noFill/>
        </p:spPr>
        <p:txBody>
          <a:bodyPr wrap="square" lIns="0" rIns="0" tIns="0" bIns="0">
            <a:noAutofit/>
          </a:bodyPr>
          <a:lstStyle/>
          <a:p>
            <a:pPr algn="l">
              <a:lnSpc>
                <a:spcPct val="106000"/>
              </a:lnSpc>
              <a:spcBef>
                <a:spcPts val="0"/>
              </a:spcBef>
              <a:spcAft>
                <a:spcPts val="400"/>
              </a:spcAft>
              <a:defRPr sz="2300" b="0">
                <a:solidFill>
                  <a:srgbClr val="153B2D"/>
                </a:solidFill>
                <a:latin typeface="Arial"/>
              </a:defRPr>
            </a:pPr>
            <a:r>
              <a:t>Rabea Abu Aad — Game Logic</a:t>
            </a:r>
          </a:p>
          <a:p>
            <a:pPr algn="l">
              <a:lnSpc>
                <a:spcPct val="106000"/>
              </a:lnSpc>
              <a:spcBef>
                <a:spcPts val="0"/>
              </a:spcBef>
              <a:spcAft>
                <a:spcPts val="400"/>
              </a:spcAft>
              <a:defRPr sz="2300" b="0">
                <a:solidFill>
                  <a:srgbClr val="153B2D"/>
                </a:solidFill>
                <a:latin typeface="Arial"/>
              </a:defRPr>
            </a:pPr>
            <a:r>
              <a:t>Muthanna Farhat — TCP Communication</a:t>
            </a:r>
          </a:p>
        </p:txBody>
      </p:sp>
      <p:sp>
        <p:nvSpPr>
          <p:cNvPr id="16" name="TextBox 15"/>
          <p:cNvSpPr txBox="1"/>
          <p:nvPr/>
        </p:nvSpPr>
        <p:spPr>
          <a:xfrm>
            <a:off x="594360" y="5888736"/>
            <a:ext cx="9966960" cy="384048"/>
          </a:xfrm>
          <a:prstGeom prst="rect">
            <a:avLst/>
          </a:prstGeom>
          <a:noFill/>
        </p:spPr>
        <p:txBody>
          <a:bodyPr wrap="square" lIns="0" rIns="0" tIns="0" bIns="0">
            <a:noAutofit/>
          </a:bodyPr>
          <a:lstStyle/>
          <a:p>
            <a:pPr algn="l">
              <a:lnSpc>
                <a:spcPct val="106000"/>
              </a:lnSpc>
              <a:spcBef>
                <a:spcPts val="0"/>
              </a:spcBef>
              <a:spcAft>
                <a:spcPts val="400"/>
              </a:spcAft>
              <a:defRPr sz="2200" b="0">
                <a:solidFill>
                  <a:srgbClr val="285942"/>
                </a:solidFill>
                <a:latin typeface="Arial"/>
              </a:defRPr>
            </a:pPr>
            <a:r>
              <a:rPr>
                <a:hlinkClick r:id="rId2"/>
              </a:rPr>
              <a:t>github.com/MuthannaFrhat/damka-game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4"/>
        </a:solidFill>
        <a:effectLst/>
      </p:bgPr>
    </p:bg>
    <p:spTree>
      <p:nvGrpSpPr>
        <p:cNvPr id="1" name=""/>
        <p:cNvGrpSpPr/>
        <p:nvPr/>
      </p:nvGrpSpPr>
      <p:grpSpPr/>
      <p:sp>
        <p:nvSpPr>
          <p:cNvPr id="2" name="TextBox 1"/>
          <p:cNvSpPr txBox="1"/>
          <p:nvPr/>
        </p:nvSpPr>
        <p:spPr>
          <a:xfrm>
            <a:off x="502920" y="219456"/>
            <a:ext cx="1828800" cy="274320"/>
          </a:xfrm>
          <a:prstGeom prst="rect">
            <a:avLst/>
          </a:prstGeom>
          <a:noFill/>
        </p:spPr>
        <p:txBody>
          <a:bodyPr wrap="square" lIns="0" rIns="0" tIns="0" bIns="0">
            <a:noAutofit/>
          </a:bodyPr>
          <a:lstStyle/>
          <a:p>
            <a:pPr algn="l">
              <a:lnSpc>
                <a:spcPct val="106000"/>
              </a:lnSpc>
              <a:spcBef>
                <a:spcPts val="0"/>
              </a:spcBef>
              <a:spcAft>
                <a:spcPts val="400"/>
              </a:spcAft>
              <a:defRPr sz="1500" b="1">
                <a:solidFill>
                  <a:srgbClr val="285942"/>
                </a:solidFill>
                <a:latin typeface="Arial"/>
              </a:defRPr>
            </a:pPr>
            <a:r>
              <a:t>DAMKA</a:t>
            </a:r>
          </a:p>
        </p:txBody>
      </p:sp>
      <p:sp>
        <p:nvSpPr>
          <p:cNvPr id="3" name="TextBox 2"/>
          <p:cNvSpPr txBox="1"/>
          <p:nvPr/>
        </p:nvSpPr>
        <p:spPr>
          <a:xfrm>
            <a:off x="7315200" y="219456"/>
            <a:ext cx="4370832" cy="274320"/>
          </a:xfrm>
          <a:prstGeom prst="rect">
            <a:avLst/>
          </a:prstGeom>
          <a:noFill/>
        </p:spPr>
        <p:txBody>
          <a:bodyPr wrap="square" lIns="0" rIns="0" tIns="0" bIns="0">
            <a:noAutofit/>
          </a:bodyPr>
          <a:lstStyle/>
          <a:p>
            <a:pPr algn="r">
              <a:lnSpc>
                <a:spcPct val="106000"/>
              </a:lnSpc>
              <a:spcBef>
                <a:spcPts val="0"/>
              </a:spcBef>
              <a:spcAft>
                <a:spcPts val="400"/>
              </a:spcAft>
              <a:defRPr sz="1300" b="0">
                <a:solidFill>
                  <a:srgbClr val="425D50"/>
                </a:solidFill>
                <a:latin typeface="Arial"/>
              </a:defRPr>
            </a:pPr>
            <a:r>
              <a:t>THANK YOU</a:t>
            </a:r>
          </a:p>
        </p:txBody>
      </p:sp>
      <p:cxnSp>
        <p:nvCxnSpPr>
          <p:cNvPr id="4" name="Connector 3"/>
          <p:cNvCxnSpPr/>
          <p:nvPr/>
        </p:nvCxnSpPr>
        <p:spPr>
          <a:xfrm>
            <a:off x="502920" y="694944"/>
            <a:ext cx="11183112" cy="0"/>
          </a:xfrm>
          <a:prstGeom prst="line">
            <a:avLst/>
          </a:prstGeom>
          <a:ln w="1270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502920" y="667512"/>
            <a:ext cx="1005840" cy="50292"/>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932688"/>
            <a:ext cx="11183112" cy="777240"/>
          </a:xfrm>
          <a:prstGeom prst="rect">
            <a:avLst/>
          </a:prstGeom>
          <a:noFill/>
        </p:spPr>
        <p:txBody>
          <a:bodyPr wrap="square" lIns="0" rIns="0" tIns="0" bIns="0">
            <a:noAutofit/>
          </a:bodyPr>
          <a:lstStyle/>
          <a:p>
            <a:pPr algn="l">
              <a:lnSpc>
                <a:spcPct val="106000"/>
              </a:lnSpc>
              <a:spcBef>
                <a:spcPts val="0"/>
              </a:spcBef>
              <a:spcAft>
                <a:spcPts val="400"/>
              </a:spcAft>
              <a:defRPr sz="3700" b="1">
                <a:solidFill>
                  <a:srgbClr val="153B2D"/>
                </a:solidFill>
                <a:latin typeface="Arial"/>
              </a:defRPr>
            </a:pPr>
          </a:p>
        </p:txBody>
      </p:sp>
      <p:cxnSp>
        <p:nvCxnSpPr>
          <p:cNvPr id="7" name="Connector 6"/>
          <p:cNvCxnSpPr/>
          <p:nvPr/>
        </p:nvCxnSpPr>
        <p:spPr>
          <a:xfrm>
            <a:off x="502920" y="6437376"/>
            <a:ext cx="11183112" cy="0"/>
          </a:xfrm>
          <a:prstGeom prst="line">
            <a:avLst/>
          </a:prstGeom>
          <a:ln w="10160">
            <a:solidFill>
              <a:srgbClr val="CBD8CF"/>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02920" y="6528816"/>
            <a:ext cx="7315200" cy="182880"/>
          </a:xfrm>
          <a:prstGeom prst="rect">
            <a:avLst/>
          </a:prstGeom>
          <a:noFill/>
        </p:spPr>
        <p:txBody>
          <a:bodyPr wrap="square" lIns="0" rIns="0" tIns="0" bIns="0">
            <a:noAutofit/>
          </a:bodyPr>
          <a:lstStyle/>
          <a:p>
            <a:pPr algn="l">
              <a:lnSpc>
                <a:spcPct val="106000"/>
              </a:lnSpc>
              <a:spcBef>
                <a:spcPts val="0"/>
              </a:spcBef>
              <a:spcAft>
                <a:spcPts val="400"/>
              </a:spcAft>
              <a:defRPr sz="1000" b="0">
                <a:solidFill>
                  <a:srgbClr val="425D50"/>
                </a:solidFill>
                <a:latin typeface="Arial"/>
              </a:defRPr>
            </a:pPr>
            <a:r>
              <a:t>DAMKA  /  FINAL PROJECT</a:t>
            </a:r>
          </a:p>
        </p:txBody>
      </p:sp>
      <p:sp>
        <p:nvSpPr>
          <p:cNvPr id="9" name="TextBox 8"/>
          <p:cNvSpPr txBox="1"/>
          <p:nvPr/>
        </p:nvSpPr>
        <p:spPr>
          <a:xfrm>
            <a:off x="10698480" y="6510528"/>
            <a:ext cx="987552" cy="228600"/>
          </a:xfrm>
          <a:prstGeom prst="rect">
            <a:avLst/>
          </a:prstGeom>
          <a:noFill/>
        </p:spPr>
        <p:txBody>
          <a:bodyPr wrap="square" lIns="0" rIns="0" tIns="0" bIns="0">
            <a:noAutofit/>
          </a:bodyPr>
          <a:lstStyle/>
          <a:p>
            <a:pPr algn="r">
              <a:lnSpc>
                <a:spcPct val="106000"/>
              </a:lnSpc>
              <a:spcBef>
                <a:spcPts val="0"/>
              </a:spcBef>
              <a:spcAft>
                <a:spcPts val="400"/>
              </a:spcAft>
              <a:defRPr sz="1200" b="0">
                <a:solidFill>
                  <a:srgbClr val="425D50"/>
                </a:solidFill>
                <a:latin typeface="Arial"/>
              </a:defRPr>
            </a:pPr>
            <a:r>
              <a:t>10 / 10</a:t>
            </a:r>
          </a:p>
        </p:txBody>
      </p:sp>
      <p:sp>
        <p:nvSpPr>
          <p:cNvPr id="10" name="Rectangle 9"/>
          <p:cNvSpPr/>
          <p:nvPr/>
        </p:nvSpPr>
        <p:spPr>
          <a:xfrm>
            <a:off x="9034272" y="2423160"/>
            <a:ext cx="475488" cy="475488"/>
          </a:xfrm>
          <a:prstGeom prst="rect">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9509760" y="2423160"/>
            <a:ext cx="475488" cy="475488"/>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9985248" y="2423160"/>
            <a:ext cx="475488" cy="475488"/>
          </a:xfrm>
          <a:prstGeom prst="rect">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0460736" y="2423160"/>
            <a:ext cx="475488" cy="475488"/>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9034272" y="2898648"/>
            <a:ext cx="475488" cy="475488"/>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9509760" y="2898648"/>
            <a:ext cx="475488" cy="475488"/>
          </a:xfrm>
          <a:prstGeom prst="rect">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9985248" y="2898648"/>
            <a:ext cx="475488" cy="475488"/>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10460736" y="2898648"/>
            <a:ext cx="475488" cy="475488"/>
          </a:xfrm>
          <a:prstGeom prst="rect">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9034272" y="3374136"/>
            <a:ext cx="475488" cy="475488"/>
          </a:xfrm>
          <a:prstGeom prst="rect">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9509760" y="3374136"/>
            <a:ext cx="475488" cy="475488"/>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9985248" y="3374136"/>
            <a:ext cx="475488" cy="475488"/>
          </a:xfrm>
          <a:prstGeom prst="rect">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10460736" y="3374136"/>
            <a:ext cx="475488" cy="475488"/>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9034272" y="3849624"/>
            <a:ext cx="475488" cy="475488"/>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509760" y="3849624"/>
            <a:ext cx="475488" cy="475488"/>
          </a:xfrm>
          <a:prstGeom prst="rect">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9985248" y="3849624"/>
            <a:ext cx="475488" cy="475488"/>
          </a:xfrm>
          <a:prstGeom prst="rect">
            <a:avLst/>
          </a:prstGeom>
          <a:solidFill>
            <a:srgbClr val="2859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0460736" y="3849624"/>
            <a:ext cx="475488" cy="475488"/>
          </a:xfrm>
          <a:prstGeom prst="rect">
            <a:avLst/>
          </a:prstGeom>
          <a:solidFill>
            <a:srgbClr val="E8F0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9134856" y="2999232"/>
            <a:ext cx="274320" cy="274320"/>
          </a:xfrm>
          <a:prstGeom prst="ellipse">
            <a:avLst/>
          </a:prstGeom>
          <a:solidFill>
            <a:srgbClr val="BD61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10085832" y="2999232"/>
            <a:ext cx="274320" cy="274320"/>
          </a:xfrm>
          <a:prstGeom prst="ellipse">
            <a:avLst/>
          </a:prstGeom>
          <a:solidFill>
            <a:srgbClr val="BD61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val 27"/>
          <p:cNvSpPr/>
          <p:nvPr/>
        </p:nvSpPr>
        <p:spPr>
          <a:xfrm>
            <a:off x="9134856" y="3950207"/>
            <a:ext cx="274320" cy="274320"/>
          </a:xfrm>
          <a:prstGeom prst="ellipse">
            <a:avLst/>
          </a:prstGeom>
          <a:solidFill>
            <a:srgbClr val="9F762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2148840"/>
            <a:ext cx="7955279" cy="1051560"/>
          </a:xfrm>
          <a:prstGeom prst="rect">
            <a:avLst/>
          </a:prstGeom>
          <a:noFill/>
        </p:spPr>
        <p:txBody>
          <a:bodyPr wrap="square" lIns="0" rIns="0" tIns="0" bIns="0">
            <a:noAutofit/>
          </a:bodyPr>
          <a:lstStyle/>
          <a:p>
            <a:pPr algn="l">
              <a:lnSpc>
                <a:spcPct val="106000"/>
              </a:lnSpc>
              <a:spcBef>
                <a:spcPts val="0"/>
              </a:spcBef>
              <a:spcAft>
                <a:spcPts val="400"/>
              </a:spcAft>
              <a:defRPr sz="6100" b="1">
                <a:solidFill>
                  <a:srgbClr val="153B2D"/>
                </a:solidFill>
                <a:latin typeface="Arial"/>
              </a:defRPr>
            </a:pPr>
            <a:r>
              <a:t>THANK YOU</a:t>
            </a:r>
          </a:p>
        </p:txBody>
      </p:sp>
      <p:sp>
        <p:nvSpPr>
          <p:cNvPr id="30" name="Rectangle 29"/>
          <p:cNvSpPr/>
          <p:nvPr/>
        </p:nvSpPr>
        <p:spPr>
          <a:xfrm>
            <a:off x="713232" y="3557016"/>
            <a:ext cx="1143000" cy="59436"/>
          </a:xfrm>
          <a:prstGeom prst="rect">
            <a:avLst/>
          </a:prstGeom>
          <a:solidFill>
            <a:srgbClr val="9F762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13232" y="3931920"/>
            <a:ext cx="7772400" cy="658368"/>
          </a:xfrm>
          <a:prstGeom prst="rect">
            <a:avLst/>
          </a:prstGeom>
          <a:noFill/>
        </p:spPr>
        <p:txBody>
          <a:bodyPr wrap="square" lIns="0" rIns="0" tIns="0" bIns="0">
            <a:noAutofit/>
          </a:bodyPr>
          <a:lstStyle/>
          <a:p>
            <a:pPr algn="l">
              <a:lnSpc>
                <a:spcPct val="106000"/>
              </a:lnSpc>
              <a:spcBef>
                <a:spcPts val="0"/>
              </a:spcBef>
              <a:spcAft>
                <a:spcPts val="400"/>
              </a:spcAft>
              <a:defRPr sz="2900" b="0">
                <a:solidFill>
                  <a:srgbClr val="425D50"/>
                </a:solidFill>
                <a:latin typeface="Arial"/>
              </a:defRPr>
            </a:pPr>
            <a:r>
              <a:t>Questions &amp; discussion</a:t>
            </a:r>
          </a:p>
        </p:txBody>
      </p:sp>
      <p:sp>
        <p:nvSpPr>
          <p:cNvPr id="32" name="TextBox 31"/>
          <p:cNvSpPr txBox="1"/>
          <p:nvPr/>
        </p:nvSpPr>
        <p:spPr>
          <a:xfrm>
            <a:off x="713232" y="5715000"/>
            <a:ext cx="10789920" cy="438912"/>
          </a:xfrm>
          <a:prstGeom prst="rect">
            <a:avLst/>
          </a:prstGeom>
          <a:noFill/>
        </p:spPr>
        <p:txBody>
          <a:bodyPr wrap="square" lIns="0" rIns="0" tIns="0" bIns="0">
            <a:noAutofit/>
          </a:bodyPr>
          <a:lstStyle/>
          <a:p>
            <a:pPr algn="l">
              <a:lnSpc>
                <a:spcPct val="106000"/>
              </a:lnSpc>
              <a:spcBef>
                <a:spcPts val="0"/>
              </a:spcBef>
              <a:spcAft>
                <a:spcPts val="400"/>
              </a:spcAft>
              <a:defRPr sz="2300" b="0">
                <a:solidFill>
                  <a:srgbClr val="285942"/>
                </a:solidFill>
                <a:latin typeface="Arial"/>
              </a:defRPr>
            </a:pPr>
            <a:r>
              <a:rPr>
                <a:hlinkClick r:id="rId2"/>
              </a:rPr>
              <a:t>github.com/MuthannaFrhat/damka-game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Damka — Network Checkers</dc:title>
  <dc:subject>Final project presentation — 15 minutes</dc:subject>
  <dc:creator>Muthanna Farhat; Rabea Abu Aad</dc:creator>
  <cp:keywords>Java, JavaFX, TCP, SQLite, Checkers, Minimax</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