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פתיחה</a:t>
            </a:r>
          </a:p>
          <a:p>
            <a:pPr algn="r" rtl="1"/>
            <a:r>
              <a:rPr sz="1200">
                <a:latin typeface="Arial"/>
              </a:rPr>
              <a:t>זמן מומלץ: 20 שניות</a:t>
            </a:r>
          </a:p>
          <a:p>
            <a:pPr algn="r" rtl="1"/>
          </a:p>
          <a:p>
            <a:pPr algn="r" rtl="1"/>
            <a:r>
              <a:rPr sz="1200">
                <a:latin typeface="Arial"/>
              </a:rPr>
              <a:t>להציג את שמות המגישים ואת שם הפרויקט. בנינו משחק דמקה ב־Java וב־JavaFX, הכולל משחק בין שני מחשבים באמצעות שרת TCP, יריב ממוחשב ופרופילים עם היסטוריית משחקים. בהצגה נתמקד בדרך שבה הרכיבים עובדים יחד. ההדגמה תבוצע בנפרד מהשקפים.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המטרה והיכולות</a:t>
            </a:r>
          </a:p>
          <a:p>
            <a:pPr algn="r" rtl="1"/>
            <a:r>
              <a:rPr sz="1200">
                <a:latin typeface="Arial"/>
              </a:rPr>
              <a:t>זמן מומלץ: 35 שניות</a:t>
            </a:r>
          </a:p>
          <a:p>
            <a:pPr algn="r" rtl="1"/>
          </a:p>
          <a:p>
            <a:pPr algn="r" rtl="1"/>
            <a:r>
              <a:rPr sz="1200">
                <a:latin typeface="Arial"/>
              </a:rPr>
              <a:t>המטרה היא לאפשר למשתמש לבחור בין משחק מול אדם אחר לבין אימון מול BOT, ולקבל חוויית משחק ברורה עם תוצאה שנשמרת בחשבון. במשחק ברשת צריך ששני המשתתפים יראו את אותו לוח ושלא יוכלו לבצע מהלכים מחוץ לתור. חשבונות והיסטוריה מאפשרים לשמור הישגים בין הפעלות. המשחק המקומי מול BOT זמין גם ללא שרת, אך אימון לא מקוון אינו נשמר. כללי הדמקה עצמם מרוכזים ב־Game ומשמשים בשני המצבים. להזכיר בקצרה: תנועה אלכסונית, אכילה מחייבת והכתרה; אין צורך ללמד כאן את כל המשחק.</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טכנולוגיות וכלי פיתוח</a:t>
            </a:r>
          </a:p>
          <a:p>
            <a:pPr algn="r" rtl="1"/>
            <a:r>
              <a:rPr sz="1200">
                <a:latin typeface="Arial"/>
              </a:rPr>
              <a:t>זמן מומלץ: 40 שניות</a:t>
            </a:r>
          </a:p>
          <a:p>
            <a:pPr algn="r" rtl="1"/>
          </a:p>
          <a:p>
            <a:pPr algn="r" rtl="1"/>
            <a:r>
              <a:rPr sz="1200">
                <a:latin typeface="Arial"/>
              </a:rPr>
              <a:t>שפת המימוש היא Java, עם יעד תאימות לגרסה 17. JavaFX משמשת לבניית מסכי ההתחברות, המשחק והפרופיל; CSS מגדיר את העיצוב והאנימציות ממומשות ברכיבי JavaFX. התקשורת משתמשת ב־Socket וב־ServerSocket מתוך java.net, עם הודעות טקסט ב־UTF-8 שמסתיימות בסוף שורה. הנתונים נשמרים ב־SQLite, שאליו השרת ניגש באמצעות JDBC.</a:t>
            </a:r>
          </a:p>
          <a:p>
            <a:pPr algn="r" rtl="1"/>
          </a:p>
          <a:p>
            <a:pPr algn="r" rtl="1"/>
            <a:r>
              <a:rPr sz="1200">
                <a:latin typeface="Arial"/>
              </a:rPr>
              <a:t>כלי הבנייה הוא Gradle, והבדיקות נכתבו באמצעות JUnit 5. Git ו־GitHub שימשו לניהול גרסאות. גרסאות שמופיעות בקובצי הפרויקט: JavaFX 17.0.6, Gradle 8.8, sqlite-jdbc 3.50.3.0 ו־JUnit 5.10.2. אין צורך להקריא את כל המספרים; העיקר הוא להסביר את התפקיד של כל טכנולוגיה.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המערכת ובחירת TCP</a:t>
            </a:r>
          </a:p>
          <a:p>
            <a:pPr algn="r" rtl="1"/>
            <a:r>
              <a:rPr sz="1200">
                <a:latin typeface="Arial"/>
              </a:rPr>
              <a:t>זמן מומלץ: 55 שניות</a:t>
            </a:r>
          </a:p>
          <a:p>
            <a:pPr algn="r" rtl="1"/>
          </a:p>
          <a:p>
            <a:pPr algn="r" rtl="1"/>
            <a:r>
              <a:rPr sz="1200">
                <a:latin typeface="Arial"/>
              </a:rPr>
              <a:t>להצביע על שני הלקוחות ועל השרת. כל לקוח מחובר לשרת; אין חיבור ישיר בין שני השחקנים. השרת מנהל חדרים, ובכל חדר נמצא אובייקט Game שמחזיק את מצב המשחק המקוון. כך יש מקור מוסמך אחד שמאמת מהלכים ומעדכן את שני המשתתפים. מסד SQLite נמצא בצד השרת ושומר חשבונות ותוצאות.</a:t>
            </a:r>
          </a:p>
          <a:p>
            <a:pPr algn="r" rtl="1"/>
          </a:p>
          <a:p>
            <a:pPr algn="r" rtl="1"/>
            <a:r>
              <a:rPr sz="1200">
                <a:latin typeface="Arial"/>
              </a:rPr>
              <a:t>אפשר היה לבחור HTTP עם בקשות חוזרות לקבלת עדכונים. בחרנו TCP מתמשך כדי להעביר בקשות ועדכונים לשני הכיוונים דרך אותו חיבור. זו בחירה שמתאימה לפרויקט, ולא טענה ש־TCP תמיד עדיף. גם HTTP פועל בדרך כלל מעל TCP; כאן ההשוואה היא בין פרוטוקול ההודעות שלנו על Socket לבין תכנון מבוסס בקשות HTTP.</a:t>
            </a:r>
          </a:p>
          <a:p>
            <a:pPr algn="r" rtl="1"/>
          </a:p>
          <a:p>
            <a:pPr algn="r" rtl="1"/>
            <a:r>
              <a:rPr sz="1200">
                <a:latin typeface="Arial"/>
              </a:rPr>
              <a:t>חיבור TCP נפתח כבר בהרשמה או בהתחברות. לאחר ההזדהות אותו Socket משמש לחדרים, למהלכים ולפרופיל. יצירת חדר משייכת שני חיבורים למשחק אחד.</a:t>
            </a:r>
          </a:p>
          <a:p>
            <a:pPr algn="r" rtl="1"/>
            <a:r>
              <a:rPr sz="1200">
                <a:latin typeface="Arial"/>
              </a:rPr>
              <a:t>מקורות להכנה: https://docs.oracle.com/javase/tutorial/networking/sockets/ ; https://www.sqlite.org/about.html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המחלקות והקשרים</a:t>
            </a:r>
          </a:p>
          <a:p>
            <a:pPr algn="r" rtl="1"/>
            <a:r>
              <a:rPr sz="1200">
                <a:latin typeface="Arial"/>
              </a:rPr>
              <a:t>זמן מומלץ: 65 שניות</a:t>
            </a:r>
          </a:p>
          <a:p>
            <a:pPr algn="r" rtl="1"/>
          </a:p>
          <a:p>
            <a:pPr algn="r" rtl="1"/>
            <a:r>
              <a:rPr sz="1200">
                <a:latin typeface="Arial"/>
              </a:rPr>
              <a:t>זהו תרשים של המחלקות המרכזיות ושל קשרי שימוש וקריאה, ולא תרשים מלא של כל המשתנים והירושות. מתחילים ב־DamkaFX שמרכזת את התנהגות הממשק. AccountView, BoardView ו־ProfileWindow מציגות את המסכים; אירועים חוזרים ל־DamkaFX באמצעות callbacks. RoomConnection מנהלת את חיבור ה־TCP, קריאת ההודעות וכתיבה לפי סדר.</a:t>
            </a:r>
          </a:p>
          <a:p>
            <a:pPr algn="r" rtl="1"/>
          </a:p>
          <a:p>
            <a:pPr algn="r" rtl="1"/>
            <a:r>
              <a:rPr sz="1200">
                <a:latin typeface="Arial"/>
              </a:rPr>
              <a:t>בשרת, DamkaServer מקבלת חיבורים ומנתבת בקשות מתוך handleClient. Room אחראית לחדר, לשני המשתתפים ולשידור מצב המשחק. handleMove מזהה את ההקשר ואת התור, ואז מעבירה את בדיקת חוקי הדמקה ל־Game.move. Game מחזיקה Board ונתוני שחקנים וכלים ומספקת גם getValidMoves ובדיקת מנצח. ProfileDatabase מטפלת בהרשמה, בהתחברות ובשמירת תוצאות; גם DamkaServer פונה אליה ישירות, למשל בזמן התחברות ובקשת פרופיל, ו־Room שומרת בה את תוצאת המשחק.</a:t>
            </a:r>
          </a:p>
          <a:p>
            <a:pPr algn="r" rtl="1"/>
          </a:p>
          <a:p>
            <a:pPr algn="r" rtl="1"/>
            <a:r>
              <a:rPr sz="1200">
                <a:latin typeface="Arial"/>
              </a:rPr>
              <a:t>במשחק המקומי DamkaFX מחזיקה Game משלה ומשתמשת ב־BotPlayer.findBestMove. החיפוש פועל על עותקים של Game. חשוב להדגיש: המחלקה Game משותפת כמימוש של הכללים, אבל אין אובייקט משחק יחיד שמשותף לכל המצבים. לכל חדר יש משחק נפרד; ל־BOT המקומי משחק נפרד; ובחיפוש נוצרים עותקים זמניים.</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מהלך אחד מקצה לקצה</a:t>
            </a:r>
          </a:p>
          <a:p>
            <a:pPr algn="r" rtl="1"/>
            <a:r>
              <a:rPr sz="1200">
                <a:latin typeface="Arial"/>
              </a:rPr>
              <a:t>זמן מומלץ: 75 שניות</a:t>
            </a:r>
          </a:p>
          <a:p>
            <a:pPr algn="r" rtl="1"/>
          </a:p>
          <a:p>
            <a:pPr algn="r" rtl="1"/>
            <a:r>
              <a:rPr sz="1200">
                <a:latin typeface="Arial"/>
              </a:rPr>
              <a:t>להתחיל מלחיצה על כלי וממשבצת היעד. DamkaFX שולחת דרך RoomConnection הודעת MOVE עם שורת ועמודת מקור ויעד. המספרים בדוגמה הם קואורדינטות שמתחילות באפס. השרת מזהה את השחקן לפי ה־Socket המאומת; Room בודקת את ההקשר ואת התור, ו־Game.move בודקת את חוקי הדמקה. בקשה לא חוקית מקבלת ERROR בלי לשנות את הלוח.</a:t>
            </a:r>
          </a:p>
          <a:p>
            <a:pPr algn="r" rtl="1"/>
          </a:p>
          <a:p>
            <a:pPr algn="r" rtl="1"/>
            <a:r>
              <a:rPr sz="1200">
                <a:latin typeface="Arial"/>
              </a:rPr>
              <a:t>כאשר המהלך מאושר, שני הלקוחות מקבלים בסדר זה MOVE_APPLIED, BOARD ו־TURN. הראשונה מאפשרת להנפיש את המהלך, השנייה מכילה תמונת לוח של 64 סימנים, והשלישית מציינת את התור. הלקוח משהה את הטיפול בהודעות המאוחרות בזמן האנימציה, ואז מציג את המצב המעודכן.</a:t>
            </a:r>
          </a:p>
          <a:p>
            <a:pPr algn="r" rtl="1"/>
          </a:p>
          <a:p>
            <a:pPr algn="r" rtl="1"/>
            <a:r>
              <a:rPr sz="1200">
                <a:latin typeface="Arial"/>
              </a:rPr>
              <a:t>TCP מעבירה זרם בתים ואינה מסמנת לבדה גבולות הודעה. בחרנו שורת טקסט לכל הודעה: println כותבת סוף שורה ו־readLine קוראת עד סוף שורה. הנקודה מייצגת תא ריק, x/o כלי רגיל ו־X/O מלך.</a:t>
            </a:r>
          </a:p>
          <a:p>
            <a:pPr algn="r" rtl="1"/>
          </a:p>
          <a:p>
            <a:pPr algn="r" rtl="1"/>
            <a:r>
              <a:rPr sz="1200">
                <a:latin typeface="Arial"/>
              </a:rPr>
              <a:t>הרשת נקראת בחוט רקע; כתיבה נעשית דרך עובד כתיבה יחיד ששומר סדר. Platform.runLater מעבירה עדכוני מסך לחוט JavaFX. חיפוש BOT במימוש הנוכחי מתבצע מחוט הממשק.</a:t>
            </a:r>
          </a:p>
          <a:p>
            <a:pPr algn="r" rtl="1"/>
            <a:r>
              <a:rPr sz="1200">
                <a:latin typeface="Arial"/>
              </a:rPr>
              <a:t>לקראת שאלה: הלקוח בוחר ומציג; הסמכות לאשר מהלך מקוון נמצאת בשרת.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כללי המשחק ובחירת מהלך BOT</a:t>
            </a:r>
          </a:p>
          <a:p>
            <a:pPr algn="r" rtl="1"/>
            <a:r>
              <a:rPr sz="1200">
                <a:latin typeface="Arial"/>
              </a:rPr>
              <a:t>זמן מומלץ: 60 שניות</a:t>
            </a:r>
          </a:p>
          <a:p>
            <a:pPr algn="r" rtl="1"/>
          </a:p>
          <a:p>
            <a:pPr algn="r" rtl="1"/>
            <a:r>
              <a:rPr sz="1200">
                <a:latin typeface="Arial"/>
              </a:rPr>
              <a:t>הכללים מרוכזים ב־Game, ולכן השרת והמשחק מול BOT נשענים על אותו מנגנון של תנועה, אכילה, רצף אכילות והכתרה. BotPlayer מחפשת מהלך באמצעות Minimax עם גיזום Alpha-Beta. כל אפשרות נבדקת על עותק עצמאי של Game, כדי לא לשנות את המשחק הפעיל בזמן החיפוש.</a:t>
            </a:r>
          </a:p>
          <a:p>
            <a:pPr algn="r" rtl="1"/>
          </a:p>
          <a:p>
            <a:pPr algn="r" rtl="1"/>
            <a:r>
              <a:rPr sz="1200">
                <a:latin typeface="Arial"/>
              </a:rPr>
              <a:t>להצביע על העץ: בתור ה־BOT מחפשים ציון גבוה; בתור היריב מניחים שהוא יבחר ציון נמוך מבחינת ה־BOT. בענף השמאלי היריב יכול לכפות מינוס 3, ובימני 0, ולכן ה־BOT מעדיף את הימני. הציונים בשקף הם המחשה, לא עקבה של משחק מסוים.</a:t>
            </a:r>
          </a:p>
          <a:p>
            <a:pPr algn="r" rtl="1"/>
          </a:p>
          <a:p>
            <a:pPr algn="r" rtl="1"/>
            <a:r>
              <a:rPr sz="1200">
                <a:latin typeface="Arial"/>
              </a:rPr>
              <a:t>ההערכה מבוססת על ערך כלי BOT פחות ערך כלי היריב: כלי רגיל 3, מלך 6. ניצחון או הפסד מקבלים ציון מכריע. רמות הקושי בוחרות עומק 1, 2 או 3; העומק נספר לפי צעד או קפיצה בודדת. ברצף אכילות אותו שחקן יכול להמשיך, ולכן החיפוש בודק מי השחקן הנוכחי ולא מחליף צד אוטומטית.</a:t>
            </a:r>
          </a:p>
          <a:p>
            <a:pPr algn="r" rtl="1"/>
          </a:p>
          <a:p>
            <a:pPr algn="r" rtl="1"/>
            <a:r>
              <a:rPr sz="1200">
                <a:latin typeface="Arial"/>
              </a:rPr>
              <a:t>Alpha-Beta מצמצמת ענפים שאינם יכולים לשפר את הבחירה בתוך החיפוש. אין צורך להיכנס להוכחה או להציג סיבוכיות בשקף.</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חשבונות ושמירת תוצאות</a:t>
            </a:r>
          </a:p>
          <a:p>
            <a:pPr algn="r" rtl="1"/>
            <a:r>
              <a:rPr sz="1200">
                <a:latin typeface="Arial"/>
              </a:rPr>
              <a:t>זמן מומלץ: 45 שניות</a:t>
            </a:r>
          </a:p>
          <a:p>
            <a:pPr algn="r" rtl="1"/>
          </a:p>
          <a:p>
            <a:pPr algn="r" rtl="1"/>
            <a:r>
              <a:rPr sz="1200">
                <a:latin typeface="Arial"/>
              </a:rPr>
              <a:t>השרת מטפל בהרשמה ובהתחברות ושומר את הנתונים בשתי טבלאות SQLite. profiles כוללת שם משתמש, תאריך יצירה, salt וגיבוב סיסמה; הסיסמה עצמה אינה נשמרת. בהתחברות מחשבים שוב גיבוב עם ה־salt השמור ומשווים אותו לערך שבמסד. המימוש משתמש ב־PBKDF2-HMAC-SHA256.</a:t>
            </a:r>
          </a:p>
          <a:p>
            <a:pPr algn="r" rtl="1"/>
          </a:p>
          <a:p>
            <a:pPr algn="r" rtl="1"/>
            <a:r>
              <a:rPr sz="1200">
                <a:latin typeface="Arial"/>
              </a:rPr>
              <a:t>game_results כוללת את פרטי המשחק ואת תוצאתו. אין טבלה נפרדת של מוני ניצחונות: הסטטיסטיקה מחושבת מתוצאות המשחקים. מזהה משחק ייחודי מונע שמירת אותה תוצאה פעמיים. בתצוגה יש הפרדה בין משחקים מקוונים למשחקי BOT, וההיסטוריה מציגה את 100 התוצאות האחרונות.</a:t>
            </a:r>
          </a:p>
          <a:p>
            <a:pPr algn="r" rtl="1"/>
          </a:p>
          <a:p>
            <a:pPr algn="r" rtl="1"/>
            <a:r>
              <a:rPr sz="1200">
                <a:latin typeface="Arial"/>
              </a:rPr>
              <a:t>תוצאה מקוונת נקבעת בשרת. תוצאת BOT מדווחת מהלקוח ונשלחת רק אם אותו חשבון ואותו חיבור נשארו פעילים מתחילת המשחק ועד סופו. גיבוב סיסמה במסד אינו מצפין את התקשורת ברשת.</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בדיקות ואימות המערכת</a:t>
            </a:r>
          </a:p>
          <a:p>
            <a:pPr algn="r" rtl="1"/>
            <a:r>
              <a:rPr sz="1200">
                <a:latin typeface="Arial"/>
              </a:rPr>
              <a:t>זמן מומלץ: 40 שניות</a:t>
            </a:r>
          </a:p>
          <a:p>
            <a:pPr algn="r" rtl="1"/>
          </a:p>
          <a:p>
            <a:pPr algn="r" rtl="1"/>
            <a:r>
              <a:rPr sz="1200">
                <a:latin typeface="Arial"/>
              </a:rPr>
              <a:t>הבדיקות מחולקות לשלוש שכבות: כללי המשחק, התקשורת ושמירת הנתונים. לתת שתי דוגמאות מוחשיות: מהלך מחוץ לתור נדחה והלוח נשאר ללא שינוי; שמירה חוזרת של מזהה תוצאה אינה מכפילה את הסטטיסטיקה. בדיקות TCP משתמשות בחיבורים אמיתיים ל־loopback, ובדיקות SQLite במסדים זמניים.</a:t>
            </a:r>
          </a:p>
          <a:p>
            <a:pPr algn="r" rtl="1"/>
          </a:p>
          <a:p>
            <a:pPr algn="r" rtl="1"/>
            <a:r>
              <a:rPr sz="1200">
                <a:latin typeface="Arial"/>
              </a:rPr>
              <a:t>בנוסף בוצעו הרצות ידניות עם שני חלונות לקוח. במהלך העבודה נבדקו הודעות שגיאה ואנימציות, ודווחו בעיות בתצוגת הודעה אחרי מהלך תקין ובמיקום האנימציה לאחר שינויי גודל. המספר 48 מבוסס על ההרצה המתועדת מ־12 באוקטובר 2026; אין להציג אותו כמדידה חדשה של היום.</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אתגרים ופתרונות</a:t>
            </a:r>
          </a:p>
          <a:p>
            <a:pPr algn="r" rtl="1"/>
            <a:r>
              <a:rPr sz="1200">
                <a:latin typeface="Arial"/>
              </a:rPr>
              <a:t>זמן מומלץ: 50 שניות</a:t>
            </a:r>
          </a:p>
          <a:p>
            <a:pPr algn="r" rtl="1"/>
          </a:p>
          <a:p>
            <a:pPr algn="r" rtl="1"/>
            <a:r>
              <a:rPr sz="1200">
                <a:latin typeface="Arial"/>
              </a:rPr>
              <a:t>בחרנו להציג אתגרים ולצדם החלטות מימוש, כדי להראות את שיקול הדעת בתהליך. האתגר הראשון הוא לשמור ששני משתמשים יראו אותו משחק: השרת מאשר מהלך באמצעות Game ואז משדר לשניהם את אותה תמונת לוח ותור. כך הלקוח אינו קובע לבדו את המצב המקוון.</a:t>
            </a:r>
          </a:p>
          <a:p>
            <a:pPr algn="r" rtl="1"/>
          </a:p>
          <a:p>
            <a:pPr algn="r" rtl="1"/>
            <a:r>
              <a:rPr sz="1200">
                <a:latin typeface="Arial"/>
              </a:rPr>
              <a:t>האתגר השני הוא תיאום בין רשת לבין JavaFX ואנימציה. RoomConnection קוראת ברקע ושולחת לפי סדר, Platform.runLater מעבירה עדכוני מסך לחוט JavaFX, ותור ההודעות ב־DamkaFX ממתין לסיום האנימציה לפני החלת BOARD ו־TURN. אין לטעון שכל החישובים נעשים ברקע: חיפוש BOT במימוש הנוכחי מופעל מחוט הממשק.</a:t>
            </a:r>
          </a:p>
          <a:p>
            <a:pPr algn="r" rtl="1"/>
          </a:p>
          <a:p>
            <a:pPr algn="r" rtl="1"/>
            <a:r>
              <a:rPr sz="1200">
                <a:latin typeface="Arial"/>
              </a:rPr>
              <a:t>האתגר השלישי הוא התאמה בין חוקי המשחק האמיתי לבין מה שה־BOT מדמה. הפתרון הוא שימוש באותן פונקציות של Game, ובעותקים עצמאיים בזמן החיפוש. לאורך הדרך היה צורך ללמוד את כללי הדמקה, להכיר את JavaFX אחרי ניסיון בממשקי HTML, ולהפוך ידע תאורטי ב־TCP לחיבורי Socket ולפרוטוקול הודעות מעשי.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התרומה שלנו והשימוש ב־AI</a:t>
            </a:r>
          </a:p>
          <a:p>
            <a:pPr algn="r" rtl="1"/>
            <a:r>
              <a:rPr sz="1200">
                <a:latin typeface="Arial"/>
              </a:rPr>
              <a:t>זמן מומלץ: 55 שניות</a:t>
            </a:r>
          </a:p>
          <a:p>
            <a:pPr algn="r" rtl="1"/>
          </a:p>
          <a:p>
            <a:pPr algn="r" rtl="1"/>
            <a:r>
              <a:rPr sz="1200">
                <a:latin typeface="Arial"/>
              </a:rPr>
              <a:t>התרומה בפרויקט כוללת הגדרת דרישות, בחירת התנהגות המערכת, החלטות תכנון, שילוב הרכיבים, בדיקות ולמידת הזרימה בקוד. אפשר להצביע על שלוש החלטות מוחשיות שנדונו לאורך העבודה: השרת הוא שמאשר מצב מקוון; חוקי המשחק מרוכזים ב־Game; תוצאות והיסטוריה נשמרות רק למשחק מזוהה בהתאם לתנאי החיבור. לצד זאת בוצעו הרצות עם שני לקוחות, זוהו בעיות של הודעת מהלך לא תקין שנשארת ושל אנימציה במיקום שגוי, ונדרשו שינויים לפישוט הקוד והממשק.</a:t>
            </a:r>
          </a:p>
          <a:p>
            <a:pPr algn="r" rtl="1"/>
          </a:p>
          <a:p>
            <a:pPr algn="r" rtl="1"/>
            <a:r>
              <a:rPr sz="1200">
                <a:latin typeface="Arial"/>
              </a:rPr>
              <a:t>נעשה שימוש נרחב ב־Codex וב־GitHub Copilot לתכנון, ליצירת קוד ולשינויו, להסברים, לבדיקות ולתיעוד. התהליך כלל הגדרת הדרישה, בחינת התוצר, הרצה, דיווח על בעיה ותיקון. לכן מציגים גם את ההחלטות ואת האימות של התוצאה, לצד העזרה בכתיבה.</a:t>
            </a:r>
          </a:p>
          <a:p>
            <a:pPr algn="r" rtl="1"/>
          </a:p>
          <a:p>
            <a:pPr algn="r" rtl="1"/>
            <a:r>
              <a:rPr sz="1200">
                <a:latin typeface="Arial"/>
              </a:rPr>
              <a:t>תחומי האחריות שהוגדרו בפרויקט: רביע — לוגיקת המשחק; מותנא — חיבור TCP. אין צורך להעריך אחוזי קוד. אם נשאלים על פונקציה, להסביר את האחריות שלה ואת מסלול הקריאה ולא להסתפק באמירה שכלי AI כתב אותה.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סיכום ומסקנות</a:t>
            </a:r>
          </a:p>
          <a:p>
            <a:pPr algn="r" rtl="1"/>
            <a:r>
              <a:rPr sz="1200">
                <a:latin typeface="Arial"/>
              </a:rPr>
              <a:t>זמן מומלץ: 45 שניות</a:t>
            </a:r>
          </a:p>
          <a:p>
            <a:pPr algn="r" rtl="1"/>
          </a:p>
          <a:p>
            <a:pPr algn="r" rtl="1"/>
            <a:r>
              <a:rPr sz="1200">
                <a:latin typeface="Arial"/>
              </a:rPr>
              <a:t>לסכם בתוצר: שני לקוחות מסונכרנים, שרת שמאמת מהלכים, מנוע כללים משותף ונתונים שנשמרים בפרופיל. הלמידה המרכזית היא חיבור ידע תאורטי ברשתות לתקשורת מעשית, עבודה עם JavaFX והפרדת כללי משחק מהתצוגה.</a:t>
            </a:r>
          </a:p>
          <a:p>
            <a:pPr algn="r" rtl="1"/>
          </a:p>
          <a:p>
            <a:pPr algn="r" rtl="1"/>
            <a:r>
              <a:rPr sz="1200">
                <a:latin typeface="Arial"/>
              </a:rPr>
              <a:t>קישור המאגר מופיע בשקף וניתן ללחיצה. השקף מסכם את התוצר ואת הידע שנרכש; תחומי האחריות ותהליך העבודה עם AI הוצגו בשקף נפרד.</a:t>
            </a:r>
          </a:p>
          <a:p>
            <a:pPr algn="r" rtl="1"/>
          </a:p>
          <a:p>
            <a:pPr algn="r" rtl="1"/>
            <a:r>
              <a:rPr sz="1200">
                <a:latin typeface="Arial"/>
              </a:rPr>
              <a:t>כיוון פיתוח עתידי הוא צ׳אט בתוך החדר, דרך חיבורי TCP הקיימים והשרת. זו הצעה להמשך ולא יכולת קיימת.</a:t>
            </a:r>
          </a:p>
          <a:p>
            <a:pPr algn="r" rtl="1"/>
          </a:p>
          <a:p>
            <a:pPr algn="r" rtl="1"/>
            <a:r>
              <a:rPr sz="1200">
                <a:latin typeface="Arial"/>
              </a:rPr>
              <a:t>תקציב המצגת הוא 10 דקות לשקפים, 3 דקות להדגמה נפרדת ועוד 2 דקות לשאלות. לתרגל מראש תשובות: למה יש שרת? מתי נפתח Socket? מי מאשר מהלך? איך BOT בוחרת? איך נמנעת שמירה כפולה? מה ההבדל בין גיבוב סיסמה להצפנת התקשורת?</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תודה ושאלות</a:t>
            </a:r>
          </a:p>
          <a:p>
            <a:pPr algn="r" rtl="1"/>
            <a:r>
              <a:rPr sz="1200">
                <a:latin typeface="Arial"/>
              </a:rPr>
              <a:t>זמן מומלץ: 15 שניות</a:t>
            </a:r>
          </a:p>
          <a:p>
            <a:pPr algn="r" rtl="1"/>
          </a:p>
          <a:p>
            <a:pPr algn="r" rtl="1"/>
            <a:r>
              <a:rPr sz="1200">
                <a:latin typeface="Arial"/>
              </a:rPr>
              <a:t>להודות למנחה ולקהל ולהזמין שאלות. אפשר להשאיר את השקף מוצג בזמן הדיון. ההדגמה מוכנה בנפרד ואינה שקף במצגת.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FINAL PROJECT PRESENTATION · OCTOBER 2026</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41832"/>
            <a:ext cx="11183112" cy="1051560"/>
          </a:xfrm>
          <a:prstGeom prst="rect">
            <a:avLst/>
          </a:prstGeom>
          <a:noFill/>
        </p:spPr>
        <p:txBody>
          <a:bodyPr wrap="square" lIns="0" rIns="0" tIns="0" bIns="0">
            <a:noAutofit/>
          </a:bodyPr>
          <a:lstStyle/>
          <a:p>
            <a:pPr algn="l">
              <a:lnSpc>
                <a:spcPct val="106000"/>
              </a:lnSpc>
              <a:spcBef>
                <a:spcPts val="0"/>
              </a:spcBef>
              <a:spcAft>
                <a:spcPts val="400"/>
              </a:spcAft>
              <a:defRPr sz="5600" b="1">
                <a:solidFill>
                  <a:srgbClr val="153B2D"/>
                </a:solidFill>
                <a:latin typeface="Arial"/>
              </a:defRPr>
            </a:pPr>
            <a:r>
              <a:t>Damka</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01 / 13</a:t>
            </a:r>
          </a:p>
        </p:txBody>
      </p:sp>
      <p:sp>
        <p:nvSpPr>
          <p:cNvPr id="10" name="TextBox 9"/>
          <p:cNvSpPr txBox="1"/>
          <p:nvPr/>
        </p:nvSpPr>
        <p:spPr>
          <a:xfrm>
            <a:off x="566928" y="2231136"/>
            <a:ext cx="5166360" cy="731520"/>
          </a:xfrm>
          <a:prstGeom prst="rect">
            <a:avLst/>
          </a:prstGeom>
          <a:noFill/>
        </p:spPr>
        <p:txBody>
          <a:bodyPr wrap="square" lIns="0" rIns="0" tIns="0" bIns="0">
            <a:noAutofit/>
          </a:bodyPr>
          <a:lstStyle/>
          <a:p>
            <a:pPr algn="l">
              <a:lnSpc>
                <a:spcPct val="106000"/>
              </a:lnSpc>
              <a:spcBef>
                <a:spcPts val="0"/>
              </a:spcBef>
              <a:spcAft>
                <a:spcPts val="400"/>
              </a:spcAft>
              <a:defRPr sz="3200" b="1">
                <a:solidFill>
                  <a:srgbClr val="153B2D"/>
                </a:solidFill>
                <a:latin typeface="Arial"/>
              </a:defRPr>
            </a:pPr>
            <a:r>
              <a:t>Checkers, connected.</a:t>
            </a:r>
          </a:p>
        </p:txBody>
      </p:sp>
      <p:sp>
        <p:nvSpPr>
          <p:cNvPr id="11" name="TextBox 10"/>
          <p:cNvSpPr txBox="1"/>
          <p:nvPr/>
        </p:nvSpPr>
        <p:spPr>
          <a:xfrm>
            <a:off x="566928" y="3310128"/>
            <a:ext cx="4983480" cy="1143000"/>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TCP multiplayer · Local BOT</a:t>
            </a:r>
          </a:p>
          <a:p>
            <a:pPr algn="l">
              <a:lnSpc>
                <a:spcPct val="106000"/>
              </a:lnSpc>
              <a:spcBef>
                <a:spcPts val="0"/>
              </a:spcBef>
              <a:spcAft>
                <a:spcPts val="400"/>
              </a:spcAft>
              <a:defRPr sz="2400" b="0">
                <a:solidFill>
                  <a:srgbClr val="425D50"/>
                </a:solidFill>
                <a:latin typeface="Arial"/>
              </a:defRPr>
            </a:pPr>
            <a:r>
              <a:t>Accounts, statistics and history</a:t>
            </a:r>
          </a:p>
        </p:txBody>
      </p:sp>
      <p:sp>
        <p:nvSpPr>
          <p:cNvPr id="12" name="Rounded Rectangle 11"/>
          <p:cNvSpPr/>
          <p:nvPr/>
        </p:nvSpPr>
        <p:spPr>
          <a:xfrm>
            <a:off x="5815584" y="1746504"/>
            <a:ext cx="5733288" cy="423367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05_online_game.png"/>
          <p:cNvPicPr>
            <a:picLocks noChangeAspect="1"/>
          </p:cNvPicPr>
          <p:nvPr/>
        </p:nvPicPr>
        <p:blipFill>
          <a:blip r:embed="rId2"/>
          <a:stretch>
            <a:fillRect/>
          </a:stretch>
        </p:blipFill>
        <p:spPr>
          <a:xfrm>
            <a:off x="5872106" y="1801368"/>
            <a:ext cx="5620242" cy="4123944"/>
          </a:xfrm>
          <a:prstGeom prst="rect">
            <a:avLst/>
          </a:prstGeom>
        </p:spPr>
      </p:pic>
      <p:sp>
        <p:nvSpPr>
          <p:cNvPr id="14" name="Rectangle 13"/>
          <p:cNvSpPr/>
          <p:nvPr/>
        </p:nvSpPr>
        <p:spPr>
          <a:xfrm>
            <a:off x="566928" y="4965192"/>
            <a:ext cx="4983480" cy="41148"/>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66928" y="5266944"/>
            <a:ext cx="4983480" cy="713232"/>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Muthanna Farhat</a:t>
            </a:r>
          </a:p>
          <a:p>
            <a:pPr algn="l">
              <a:lnSpc>
                <a:spcPct val="106000"/>
              </a:lnSpc>
              <a:spcBef>
                <a:spcPts val="0"/>
              </a:spcBef>
              <a:spcAft>
                <a:spcPts val="400"/>
              </a:spcAft>
              <a:defRPr sz="2200" b="1">
                <a:solidFill>
                  <a:srgbClr val="153B2D"/>
                </a:solidFill>
                <a:latin typeface="Arial"/>
              </a:defRPr>
            </a:pPr>
            <a:r>
              <a:t>Rabea Abu Aad</a:t>
            </a:r>
          </a:p>
        </p:txBody>
      </p:sp>
      <p:sp>
        <p:nvSpPr>
          <p:cNvPr id="16" name="TextBox 15"/>
          <p:cNvSpPr txBox="1"/>
          <p:nvPr/>
        </p:nvSpPr>
        <p:spPr>
          <a:xfrm>
            <a:off x="566928" y="6053328"/>
            <a:ext cx="498348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Supervisor: Inbal Ronen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PROBLEM AND GOAL</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One game, two ways to play</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02 / 13</a:t>
            </a:r>
          </a:p>
        </p:txBody>
      </p:sp>
      <p:sp>
        <p:nvSpPr>
          <p:cNvPr id="10" name="TextBox 9"/>
          <p:cNvSpPr txBox="1"/>
          <p:nvPr/>
        </p:nvSpPr>
        <p:spPr>
          <a:xfrm>
            <a:off x="548640" y="1810512"/>
            <a:ext cx="10972800" cy="73152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Keep both screens in sync — and remember the result.</a:t>
            </a:r>
          </a:p>
        </p:txBody>
      </p:sp>
      <p:sp>
        <p:nvSpPr>
          <p:cNvPr id="11" name="Rounded Rectangle 10"/>
          <p:cNvSpPr/>
          <p:nvPr/>
        </p:nvSpPr>
        <p:spPr>
          <a:xfrm>
            <a:off x="548640"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566928" y="2990088"/>
            <a:ext cx="41148" cy="188366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77240"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Online matches</a:t>
            </a:r>
          </a:p>
        </p:txBody>
      </p:sp>
      <p:sp>
        <p:nvSpPr>
          <p:cNvPr id="14" name="TextBox 13"/>
          <p:cNvSpPr txBox="1"/>
          <p:nvPr/>
        </p:nvSpPr>
        <p:spPr>
          <a:xfrm>
            <a:off x="777240"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Two computers</a:t>
            </a:r>
          </a:p>
          <a:p>
            <a:pPr algn="l">
              <a:lnSpc>
                <a:spcPct val="106000"/>
              </a:lnSpc>
              <a:spcBef>
                <a:spcPts val="0"/>
              </a:spcBef>
              <a:spcAft>
                <a:spcPts val="400"/>
              </a:spcAft>
              <a:defRPr sz="2400" b="0">
                <a:solidFill>
                  <a:srgbClr val="425D50"/>
                </a:solidFill>
                <a:latin typeface="Arial"/>
              </a:defRPr>
            </a:pPr>
            <a:r>
              <a:t>One room code</a:t>
            </a:r>
          </a:p>
        </p:txBody>
      </p:sp>
      <p:sp>
        <p:nvSpPr>
          <p:cNvPr id="15" name="Rounded Rectangle 14"/>
          <p:cNvSpPr/>
          <p:nvPr/>
        </p:nvSpPr>
        <p:spPr>
          <a:xfrm>
            <a:off x="4325112"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4343400" y="2990088"/>
            <a:ext cx="41148" cy="188366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553712"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Local BOT</a:t>
            </a:r>
          </a:p>
        </p:txBody>
      </p:sp>
      <p:sp>
        <p:nvSpPr>
          <p:cNvPr id="18" name="TextBox 17"/>
          <p:cNvSpPr txBox="1"/>
          <p:nvPr/>
        </p:nvSpPr>
        <p:spPr>
          <a:xfrm>
            <a:off x="4553712"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Three difficulty levels</a:t>
            </a:r>
          </a:p>
          <a:p>
            <a:pPr algn="l">
              <a:lnSpc>
                <a:spcPct val="106000"/>
              </a:lnSpc>
              <a:spcBef>
                <a:spcPts val="0"/>
              </a:spcBef>
              <a:spcAft>
                <a:spcPts val="400"/>
              </a:spcAft>
              <a:defRPr sz="2400" b="0">
                <a:solidFill>
                  <a:srgbClr val="425D50"/>
                </a:solidFill>
                <a:latin typeface="Arial"/>
              </a:defRPr>
            </a:pPr>
            <a:r>
              <a:t>Offline practice</a:t>
            </a:r>
          </a:p>
        </p:txBody>
      </p:sp>
      <p:sp>
        <p:nvSpPr>
          <p:cNvPr id="19" name="Rounded Rectangle 18"/>
          <p:cNvSpPr/>
          <p:nvPr/>
        </p:nvSpPr>
        <p:spPr>
          <a:xfrm>
            <a:off x="8110727"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8129015" y="2990088"/>
            <a:ext cx="41148" cy="188366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39327"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Personal profiles</a:t>
            </a:r>
          </a:p>
        </p:txBody>
      </p:sp>
      <p:sp>
        <p:nvSpPr>
          <p:cNvPr id="22" name="TextBox 21"/>
          <p:cNvSpPr txBox="1"/>
          <p:nvPr/>
        </p:nvSpPr>
        <p:spPr>
          <a:xfrm>
            <a:off x="8339327"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Statistics</a:t>
            </a:r>
          </a:p>
          <a:p>
            <a:pPr algn="l">
              <a:lnSpc>
                <a:spcPct val="106000"/>
              </a:lnSpc>
              <a:spcBef>
                <a:spcPts val="0"/>
              </a:spcBef>
              <a:spcAft>
                <a:spcPts val="400"/>
              </a:spcAft>
              <a:defRPr sz="2400" b="0">
                <a:solidFill>
                  <a:srgbClr val="425D50"/>
                </a:solidFill>
                <a:latin typeface="Arial"/>
              </a:defRPr>
            </a:pPr>
            <a:r>
              <a:t>Match history</a:t>
            </a:r>
          </a:p>
        </p:txBody>
      </p:sp>
      <p:sp>
        <p:nvSpPr>
          <p:cNvPr id="23" name="Rounded Rectangle 22"/>
          <p:cNvSpPr/>
          <p:nvPr/>
        </p:nvSpPr>
        <p:spPr>
          <a:xfrm>
            <a:off x="3474720" y="5577840"/>
            <a:ext cx="521208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66160" y="5632703"/>
            <a:ext cx="502920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One shared rules engine: Game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LANGUAGE AND TECHNOLOGIES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Built with Java — from interface to storage</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03 / 13</a:t>
            </a:r>
          </a:p>
        </p:txBody>
      </p:sp>
      <p:sp>
        <p:nvSpPr>
          <p:cNvPr id="10" name="Rounded Rectangle 9"/>
          <p:cNvSpPr/>
          <p:nvPr/>
        </p:nvSpPr>
        <p:spPr>
          <a:xfrm>
            <a:off x="548640" y="193852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39696"/>
            <a:ext cx="41148" cy="1188720"/>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Java 17</a:t>
            </a:r>
          </a:p>
        </p:txBody>
      </p:sp>
      <p:sp>
        <p:nvSpPr>
          <p:cNvPr id="13" name="TextBox 12"/>
          <p:cNvSpPr txBox="1"/>
          <p:nvPr/>
        </p:nvSpPr>
        <p:spPr>
          <a:xfrm>
            <a:off x="777240" y="289864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Object-oriented game and server code</a:t>
            </a:r>
          </a:p>
        </p:txBody>
      </p:sp>
      <p:sp>
        <p:nvSpPr>
          <p:cNvPr id="14" name="Rounded Rectangle 13"/>
          <p:cNvSpPr/>
          <p:nvPr/>
        </p:nvSpPr>
        <p:spPr>
          <a:xfrm>
            <a:off x="6217920" y="193852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236207" y="2139696"/>
            <a:ext cx="41148" cy="1188720"/>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46520" y="215798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JavaFX + CSS</a:t>
            </a:r>
          </a:p>
        </p:txBody>
      </p:sp>
      <p:sp>
        <p:nvSpPr>
          <p:cNvPr id="17" name="TextBox 16"/>
          <p:cNvSpPr txBox="1"/>
          <p:nvPr/>
        </p:nvSpPr>
        <p:spPr>
          <a:xfrm>
            <a:off x="6446520" y="289864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Desktop screens, styling and animation</a:t>
            </a:r>
          </a:p>
        </p:txBody>
      </p:sp>
      <p:sp>
        <p:nvSpPr>
          <p:cNvPr id="18" name="Rounded Rectangle 17"/>
          <p:cNvSpPr/>
          <p:nvPr/>
        </p:nvSpPr>
        <p:spPr>
          <a:xfrm>
            <a:off x="548640" y="381304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566928" y="4014215"/>
            <a:ext cx="41148" cy="1188720"/>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77240" y="403250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TCP / java.net</a:t>
            </a:r>
          </a:p>
        </p:txBody>
      </p:sp>
      <p:sp>
        <p:nvSpPr>
          <p:cNvPr id="21" name="TextBox 20"/>
          <p:cNvSpPr txBox="1"/>
          <p:nvPr/>
        </p:nvSpPr>
        <p:spPr>
          <a:xfrm>
            <a:off x="777240" y="477316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Socket / ServerSocket · UTF-8</a:t>
            </a:r>
          </a:p>
        </p:txBody>
      </p:sp>
      <p:sp>
        <p:nvSpPr>
          <p:cNvPr id="22" name="Rounded Rectangle 21"/>
          <p:cNvSpPr/>
          <p:nvPr/>
        </p:nvSpPr>
        <p:spPr>
          <a:xfrm>
            <a:off x="6217920" y="3813048"/>
            <a:ext cx="5431536" cy="159105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236207" y="4014215"/>
            <a:ext cx="41148" cy="1188720"/>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6446520" y="4032504"/>
            <a:ext cx="4974336"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SQLite + JDBC</a:t>
            </a:r>
          </a:p>
        </p:txBody>
      </p:sp>
      <p:sp>
        <p:nvSpPr>
          <p:cNvPr id="25" name="TextBox 24"/>
          <p:cNvSpPr txBox="1"/>
          <p:nvPr/>
        </p:nvSpPr>
        <p:spPr>
          <a:xfrm>
            <a:off x="6446520" y="4773168"/>
            <a:ext cx="4974336" cy="47548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Accounts, results, statistics and history</a:t>
            </a:r>
          </a:p>
        </p:txBody>
      </p:sp>
      <p:sp>
        <p:nvSpPr>
          <p:cNvPr id="26" name="Rounded Rectangle 25"/>
          <p:cNvSpPr/>
          <p:nvPr/>
        </p:nvSpPr>
        <p:spPr>
          <a:xfrm>
            <a:off x="777240" y="5806440"/>
            <a:ext cx="10634472"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68680" y="5861303"/>
            <a:ext cx="10451592" cy="228600"/>
          </a:xfrm>
          <a:prstGeom prst="rect">
            <a:avLst/>
          </a:prstGeom>
          <a:noFill/>
        </p:spPr>
        <p:txBody>
          <a:bodyPr wrap="square" lIns="0" rIns="0" tIns="0" bIns="0">
            <a:noAutofit/>
          </a:bodyPr>
          <a:lstStyle/>
          <a:p>
            <a:pPr algn="ctr">
              <a:lnSpc>
                <a:spcPct val="106000"/>
              </a:lnSpc>
              <a:spcBef>
                <a:spcPts val="0"/>
              </a:spcBef>
              <a:spcAft>
                <a:spcPts val="400"/>
              </a:spcAft>
              <a:defRPr sz="1700" b="1">
                <a:solidFill>
                  <a:srgbClr val="285942"/>
                </a:solidFill>
                <a:latin typeface="Arial"/>
              </a:defRPr>
            </a:pPr>
            <a:r>
              <a:t>Build: Gradle 8.8     Tests: JUnit 5     Version control: Git + GitHub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ARCHITECTURE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Why a client–server design?</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04 / 13</a:t>
            </a:r>
          </a:p>
        </p:txBody>
      </p:sp>
      <p:sp>
        <p:nvSpPr>
          <p:cNvPr id="10" name="Rounded Rectangle 9"/>
          <p:cNvSpPr/>
          <p:nvPr/>
        </p:nvSpPr>
        <p:spPr>
          <a:xfrm>
            <a:off x="548640"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258568"/>
            <a:ext cx="41148" cy="115214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A</a:t>
            </a:r>
          </a:p>
        </p:txBody>
      </p:sp>
      <p:sp>
        <p:nvSpPr>
          <p:cNvPr id="13" name="TextBox 12"/>
          <p:cNvSpPr txBox="1"/>
          <p:nvPr/>
        </p:nvSpPr>
        <p:spPr>
          <a:xfrm>
            <a:off x="777240"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sp>
        <p:nvSpPr>
          <p:cNvPr id="14" name="Rounded Rectangle 13"/>
          <p:cNvSpPr/>
          <p:nvPr/>
        </p:nvSpPr>
        <p:spPr>
          <a:xfrm>
            <a:off x="4599432" y="1874519"/>
            <a:ext cx="2999232" cy="1947672"/>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617720" y="2075688"/>
            <a:ext cx="41148" cy="1545336"/>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828032" y="2093976"/>
            <a:ext cx="2542032"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7" name="TextBox 16"/>
          <p:cNvSpPr txBox="1"/>
          <p:nvPr/>
        </p:nvSpPr>
        <p:spPr>
          <a:xfrm>
            <a:off x="4828032" y="2834639"/>
            <a:ext cx="2542032" cy="83210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Room → Game</a:t>
            </a:r>
          </a:p>
          <a:p>
            <a:pPr algn="l">
              <a:lnSpc>
                <a:spcPct val="106000"/>
              </a:lnSpc>
              <a:spcBef>
                <a:spcPts val="0"/>
              </a:spcBef>
              <a:spcAft>
                <a:spcPts val="400"/>
              </a:spcAft>
              <a:defRPr sz="2200" b="0">
                <a:solidFill>
                  <a:srgbClr val="425D50"/>
                </a:solidFill>
                <a:latin typeface="Arial"/>
              </a:defRPr>
            </a:pPr>
            <a:r>
              <a:t>Validate + sync</a:t>
            </a:r>
          </a:p>
        </p:txBody>
      </p:sp>
      <p:sp>
        <p:nvSpPr>
          <p:cNvPr id="18" name="Rounded Rectangle 17"/>
          <p:cNvSpPr/>
          <p:nvPr/>
        </p:nvSpPr>
        <p:spPr>
          <a:xfrm>
            <a:off x="8759952"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778240" y="2258568"/>
            <a:ext cx="41148" cy="115214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88552"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B</a:t>
            </a:r>
          </a:p>
        </p:txBody>
      </p:sp>
      <p:sp>
        <p:nvSpPr>
          <p:cNvPr id="21" name="TextBox 20"/>
          <p:cNvSpPr txBox="1"/>
          <p:nvPr/>
        </p:nvSpPr>
        <p:spPr>
          <a:xfrm>
            <a:off x="8988552"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cxnSp>
        <p:nvCxnSpPr>
          <p:cNvPr id="22" name="Connector 21"/>
          <p:cNvCxnSpPr/>
          <p:nvPr/>
        </p:nvCxnSpPr>
        <p:spPr>
          <a:xfrm>
            <a:off x="3438144" y="2788920"/>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3438144" y="3090672"/>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7626096" y="2788920"/>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H="1">
            <a:off x="7626096" y="3090672"/>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3566160"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sp>
        <p:nvSpPr>
          <p:cNvPr id="27" name="TextBox 26"/>
          <p:cNvSpPr txBox="1"/>
          <p:nvPr/>
        </p:nvSpPr>
        <p:spPr>
          <a:xfrm>
            <a:off x="7726679"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cxnSp>
        <p:nvCxnSpPr>
          <p:cNvPr id="28" name="Connector 27"/>
          <p:cNvCxnSpPr/>
          <p:nvPr/>
        </p:nvCxnSpPr>
        <p:spPr>
          <a:xfrm>
            <a:off x="6099048" y="3840480"/>
            <a:ext cx="0" cy="54864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4498848" y="4434840"/>
            <a:ext cx="3200400" cy="822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681728" y="4672584"/>
            <a:ext cx="2834640" cy="45720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SQLite on the server</a:t>
            </a:r>
          </a:p>
        </p:txBody>
      </p:sp>
      <p:sp>
        <p:nvSpPr>
          <p:cNvPr id="31" name="TextBox 30"/>
          <p:cNvSpPr txBox="1"/>
          <p:nvPr/>
        </p:nvSpPr>
        <p:spPr>
          <a:xfrm>
            <a:off x="594360" y="5614416"/>
            <a:ext cx="8046720" cy="4114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Choice: persistent TCP for two-way updates</a:t>
            </a:r>
          </a:p>
        </p:txBody>
      </p:sp>
      <p:sp>
        <p:nvSpPr>
          <p:cNvPr id="32" name="TextBox 31"/>
          <p:cNvSpPr txBox="1"/>
          <p:nvPr/>
        </p:nvSpPr>
        <p:spPr>
          <a:xfrm>
            <a:off x="8366760" y="5650992"/>
            <a:ext cx="3246120" cy="365760"/>
          </a:xfrm>
          <a:prstGeom prst="rect">
            <a:avLst/>
          </a:prstGeom>
          <a:noFill/>
        </p:spPr>
        <p:txBody>
          <a:bodyPr wrap="square" lIns="0" rIns="0" tIns="0" bIns="0">
            <a:noAutofit/>
          </a:bodyPr>
          <a:lstStyle/>
          <a:p>
            <a:pPr algn="r">
              <a:lnSpc>
                <a:spcPct val="106000"/>
              </a:lnSpc>
              <a:spcBef>
                <a:spcPts val="0"/>
              </a:spcBef>
              <a:spcAft>
                <a:spcPts val="400"/>
              </a:spcAft>
              <a:defRPr sz="1700" b="0">
                <a:solidFill>
                  <a:srgbClr val="425D50"/>
                </a:solidFill>
                <a:latin typeface="Arial"/>
              </a:defRPr>
            </a:pPr>
            <a:r>
              <a:t>Alternative: HTTP polling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CODE STRUCTURE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Main classes and their responsibilities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05 / 13</a:t>
            </a:r>
          </a:p>
        </p:txBody>
      </p:sp>
      <p:sp>
        <p:nvSpPr>
          <p:cNvPr id="10" name="TextBox 9"/>
          <p:cNvSpPr txBox="1"/>
          <p:nvPr/>
        </p:nvSpPr>
        <p:spPr>
          <a:xfrm>
            <a:off x="594360" y="1810512"/>
            <a:ext cx="539496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CLIENT</a:t>
            </a:r>
          </a:p>
        </p:txBody>
      </p:sp>
      <p:sp>
        <p:nvSpPr>
          <p:cNvPr id="11" name="TextBox 10"/>
          <p:cNvSpPr txBox="1"/>
          <p:nvPr/>
        </p:nvSpPr>
        <p:spPr>
          <a:xfrm>
            <a:off x="6858000" y="1810512"/>
            <a:ext cx="475488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BD614A"/>
                </a:solidFill>
                <a:latin typeface="Arial"/>
              </a:defRPr>
            </a:pPr>
            <a:r>
              <a:t>SERVER</a:t>
            </a:r>
          </a:p>
        </p:txBody>
      </p:sp>
      <p:cxnSp>
        <p:nvCxnSpPr>
          <p:cNvPr id="12" name="Connector 11"/>
          <p:cNvCxnSpPr/>
          <p:nvPr/>
        </p:nvCxnSpPr>
        <p:spPr>
          <a:xfrm>
            <a:off x="3108960" y="2688336"/>
            <a:ext cx="3383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6035040" y="2688336"/>
            <a:ext cx="7955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9418320" y="2688336"/>
            <a:ext cx="338328" cy="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071616" y="2221992"/>
            <a:ext cx="713232" cy="256032"/>
          </a:xfrm>
          <a:prstGeom prst="rect">
            <a:avLst/>
          </a:prstGeom>
          <a:noFill/>
        </p:spPr>
        <p:txBody>
          <a:bodyPr wrap="square" lIns="0" rIns="0" tIns="0" bIns="0">
            <a:noAutofit/>
          </a:bodyPr>
          <a:lstStyle/>
          <a:p>
            <a:pPr algn="ctr">
              <a:lnSpc>
                <a:spcPct val="106000"/>
              </a:lnSpc>
              <a:spcBef>
                <a:spcPts val="0"/>
              </a:spcBef>
              <a:spcAft>
                <a:spcPts val="400"/>
              </a:spcAft>
              <a:defRPr sz="1400" b="1">
                <a:solidFill>
                  <a:srgbClr val="285942"/>
                </a:solidFill>
                <a:latin typeface="Arial"/>
              </a:defRPr>
            </a:pPr>
            <a:r>
              <a:t>TCP</a:t>
            </a:r>
          </a:p>
        </p:txBody>
      </p:sp>
      <p:cxnSp>
        <p:nvCxnSpPr>
          <p:cNvPr id="16" name="Connector 15"/>
          <p:cNvCxnSpPr/>
          <p:nvPr/>
        </p:nvCxnSpPr>
        <p:spPr>
          <a:xfrm>
            <a:off x="1828800" y="3227832"/>
            <a:ext cx="0" cy="10515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a:off x="2779776" y="3227832"/>
            <a:ext cx="1380744" cy="10515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2788920" y="3602736"/>
            <a:ext cx="16459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local BOT</a:t>
            </a:r>
          </a:p>
        </p:txBody>
      </p:sp>
      <p:cxnSp>
        <p:nvCxnSpPr>
          <p:cNvPr id="19" name="Connector 18"/>
          <p:cNvCxnSpPr/>
          <p:nvPr/>
        </p:nvCxnSpPr>
        <p:spPr>
          <a:xfrm>
            <a:off x="4754880" y="5504688"/>
            <a:ext cx="0" cy="137160"/>
          </a:xfrm>
          <a:prstGeom prst="line">
            <a:avLst/>
          </a:prstGeom>
          <a:ln w="2286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H="1">
            <a:off x="8851392" y="3227832"/>
            <a:ext cx="1188720" cy="1051560"/>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522208" y="3639312"/>
            <a:ext cx="14173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save result</a:t>
            </a:r>
          </a:p>
        </p:txBody>
      </p:sp>
      <p:cxnSp>
        <p:nvCxnSpPr>
          <p:cNvPr id="22" name="Connector 21"/>
          <p:cNvCxnSpPr/>
          <p:nvPr/>
        </p:nvCxnSpPr>
        <p:spPr>
          <a:xfrm>
            <a:off x="8138160" y="3310128"/>
            <a:ext cx="0" cy="969264"/>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6931152" y="3657600"/>
            <a:ext cx="105156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accounts</a:t>
            </a:r>
          </a:p>
        </p:txBody>
      </p:sp>
      <p:cxnSp>
        <p:nvCxnSpPr>
          <p:cNvPr id="24" name="Connector 23"/>
          <p:cNvCxnSpPr/>
          <p:nvPr/>
        </p:nvCxnSpPr>
        <p:spPr>
          <a:xfrm>
            <a:off x="10716768" y="3227832"/>
            <a:ext cx="0" cy="1051560"/>
          </a:xfrm>
          <a:prstGeom prst="line">
            <a:avLst/>
          </a:prstGeom>
          <a:ln w="22860">
            <a:solidFill>
              <a:srgbClr val="BD614A"/>
            </a:solidFill>
            <a:tailEnd type="triangle"/>
          </a:ln>
          <a:effectLst/>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54864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667512"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DamkaFX</a:t>
            </a:r>
          </a:p>
        </p:txBody>
      </p:sp>
      <p:sp>
        <p:nvSpPr>
          <p:cNvPr id="27" name="TextBox 26"/>
          <p:cNvSpPr txBox="1"/>
          <p:nvPr/>
        </p:nvSpPr>
        <p:spPr>
          <a:xfrm>
            <a:off x="667512"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Actions + screen state</a:t>
            </a:r>
          </a:p>
        </p:txBody>
      </p:sp>
      <p:sp>
        <p:nvSpPr>
          <p:cNvPr id="28" name="Rounded Rectangle 27"/>
          <p:cNvSpPr/>
          <p:nvPr/>
        </p:nvSpPr>
        <p:spPr>
          <a:xfrm>
            <a:off x="347472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3593591"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000" b="1">
                <a:solidFill>
                  <a:srgbClr val="285942"/>
                </a:solidFill>
                <a:latin typeface="Consolas"/>
              </a:defRPr>
            </a:pPr>
            <a:r>
              <a:t>RoomConnection</a:t>
            </a:r>
          </a:p>
        </p:txBody>
      </p:sp>
      <p:sp>
        <p:nvSpPr>
          <p:cNvPr id="30" name="TextBox 29"/>
          <p:cNvSpPr txBox="1"/>
          <p:nvPr/>
        </p:nvSpPr>
        <p:spPr>
          <a:xfrm>
            <a:off x="3593591"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connect() / send()</a:t>
            </a:r>
          </a:p>
        </p:txBody>
      </p:sp>
      <p:sp>
        <p:nvSpPr>
          <p:cNvPr id="31" name="Rounded Rectangle 30"/>
          <p:cNvSpPr/>
          <p:nvPr/>
        </p:nvSpPr>
        <p:spPr>
          <a:xfrm>
            <a:off x="6858000" y="212140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6976872" y="2267712"/>
            <a:ext cx="2322576" cy="36576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BD614A"/>
                </a:solidFill>
                <a:latin typeface="Consolas"/>
              </a:defRPr>
            </a:pPr>
            <a:r>
              <a:t>DamkaServer</a:t>
            </a:r>
          </a:p>
        </p:txBody>
      </p:sp>
      <p:sp>
        <p:nvSpPr>
          <p:cNvPr id="33" name="TextBox 32"/>
          <p:cNvSpPr txBox="1"/>
          <p:nvPr/>
        </p:nvSpPr>
        <p:spPr>
          <a:xfrm>
            <a:off x="6976872" y="277063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handleClient()</a:t>
            </a:r>
          </a:p>
        </p:txBody>
      </p:sp>
      <p:sp>
        <p:nvSpPr>
          <p:cNvPr id="34" name="Rounded Rectangle 33"/>
          <p:cNvSpPr/>
          <p:nvPr/>
        </p:nvSpPr>
        <p:spPr>
          <a:xfrm>
            <a:off x="9784080" y="2121408"/>
            <a:ext cx="1865376"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9902952" y="2267712"/>
            <a:ext cx="1627632"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BD614A"/>
                </a:solidFill>
                <a:latin typeface="Consolas"/>
              </a:defRPr>
            </a:pPr>
            <a:r>
              <a:t>Room</a:t>
            </a:r>
          </a:p>
        </p:txBody>
      </p:sp>
      <p:sp>
        <p:nvSpPr>
          <p:cNvPr id="36" name="TextBox 35"/>
          <p:cNvSpPr txBox="1"/>
          <p:nvPr/>
        </p:nvSpPr>
        <p:spPr>
          <a:xfrm>
            <a:off x="9902952" y="2770632"/>
            <a:ext cx="1627632"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handleMove()</a:t>
            </a:r>
          </a:p>
        </p:txBody>
      </p:sp>
      <p:sp>
        <p:nvSpPr>
          <p:cNvPr id="37" name="Rounded Rectangle 36"/>
          <p:cNvSpPr/>
          <p:nvPr/>
        </p:nvSpPr>
        <p:spPr>
          <a:xfrm>
            <a:off x="54864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667512"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Views</a:t>
            </a:r>
          </a:p>
        </p:txBody>
      </p:sp>
      <p:sp>
        <p:nvSpPr>
          <p:cNvPr id="39" name="TextBox 38"/>
          <p:cNvSpPr txBox="1"/>
          <p:nvPr/>
        </p:nvSpPr>
        <p:spPr>
          <a:xfrm>
            <a:off x="667512"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BoardView / AccountView</a:t>
            </a:r>
          </a:p>
          <a:p>
            <a:pPr algn="l">
              <a:lnSpc>
                <a:spcPct val="106000"/>
              </a:lnSpc>
              <a:spcBef>
                <a:spcPts val="0"/>
              </a:spcBef>
              <a:spcAft>
                <a:spcPts val="400"/>
              </a:spcAft>
              <a:defRPr sz="1600" b="0">
                <a:solidFill>
                  <a:srgbClr val="425D50"/>
                </a:solidFill>
                <a:latin typeface="Arial"/>
              </a:defRPr>
            </a:pPr>
            <a:r>
              <a:t>ProfileWindow</a:t>
            </a:r>
          </a:p>
        </p:txBody>
      </p:sp>
      <p:sp>
        <p:nvSpPr>
          <p:cNvPr id="40" name="Rounded Rectangle 39"/>
          <p:cNvSpPr/>
          <p:nvPr/>
        </p:nvSpPr>
        <p:spPr>
          <a:xfrm>
            <a:off x="347472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3593591"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Consolas"/>
              </a:defRPr>
            </a:pPr>
            <a:r>
              <a:t>BotPlayer</a:t>
            </a:r>
          </a:p>
        </p:txBody>
      </p:sp>
      <p:sp>
        <p:nvSpPr>
          <p:cNvPr id="42" name="TextBox 41"/>
          <p:cNvSpPr txBox="1"/>
          <p:nvPr/>
        </p:nvSpPr>
        <p:spPr>
          <a:xfrm>
            <a:off x="3593591"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findBestMove()</a:t>
            </a:r>
          </a:p>
        </p:txBody>
      </p:sp>
      <p:sp>
        <p:nvSpPr>
          <p:cNvPr id="43" name="Rounded Rectangle 42"/>
          <p:cNvSpPr/>
          <p:nvPr/>
        </p:nvSpPr>
        <p:spPr>
          <a:xfrm>
            <a:off x="6858000" y="4315968"/>
            <a:ext cx="2560320"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TextBox 43"/>
          <p:cNvSpPr txBox="1"/>
          <p:nvPr/>
        </p:nvSpPr>
        <p:spPr>
          <a:xfrm>
            <a:off x="6976872" y="4462272"/>
            <a:ext cx="2322576" cy="365760"/>
          </a:xfrm>
          <a:prstGeom prst="rect">
            <a:avLst/>
          </a:prstGeom>
          <a:noFill/>
        </p:spPr>
        <p:txBody>
          <a:bodyPr wrap="square" lIns="0" rIns="0" tIns="0" bIns="0">
            <a:noAutofit/>
          </a:bodyPr>
          <a:lstStyle/>
          <a:p>
            <a:pPr algn="l">
              <a:lnSpc>
                <a:spcPct val="106000"/>
              </a:lnSpc>
              <a:spcBef>
                <a:spcPts val="0"/>
              </a:spcBef>
              <a:spcAft>
                <a:spcPts val="400"/>
              </a:spcAft>
              <a:defRPr sz="2000" b="1">
                <a:solidFill>
                  <a:srgbClr val="BD614A"/>
                </a:solidFill>
                <a:latin typeface="Consolas"/>
              </a:defRPr>
            </a:pPr>
            <a:r>
              <a:t>ProfileDatabase</a:t>
            </a:r>
          </a:p>
        </p:txBody>
      </p:sp>
      <p:sp>
        <p:nvSpPr>
          <p:cNvPr id="45" name="TextBox 44"/>
          <p:cNvSpPr txBox="1"/>
          <p:nvPr/>
        </p:nvSpPr>
        <p:spPr>
          <a:xfrm>
            <a:off x="6976872" y="4965192"/>
            <a:ext cx="2322576"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Accounts + SQL</a:t>
            </a:r>
          </a:p>
        </p:txBody>
      </p:sp>
      <p:sp>
        <p:nvSpPr>
          <p:cNvPr id="46" name="Rounded Rectangle 45"/>
          <p:cNvSpPr/>
          <p:nvPr/>
        </p:nvSpPr>
        <p:spPr>
          <a:xfrm>
            <a:off x="9784080" y="4315968"/>
            <a:ext cx="1865376" cy="11887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9902952" y="4462272"/>
            <a:ext cx="1627632" cy="36576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Consolas"/>
              </a:defRPr>
            </a:pPr>
            <a:r>
              <a:t>Game · room</a:t>
            </a:r>
          </a:p>
        </p:txBody>
      </p:sp>
      <p:sp>
        <p:nvSpPr>
          <p:cNvPr id="48" name="TextBox 47"/>
          <p:cNvSpPr txBox="1"/>
          <p:nvPr/>
        </p:nvSpPr>
        <p:spPr>
          <a:xfrm>
            <a:off x="9902952" y="4965192"/>
            <a:ext cx="1627632" cy="493776"/>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move()</a:t>
            </a:r>
          </a:p>
          <a:p>
            <a:pPr algn="l">
              <a:lnSpc>
                <a:spcPct val="106000"/>
              </a:lnSpc>
              <a:spcBef>
                <a:spcPts val="0"/>
              </a:spcBef>
              <a:spcAft>
                <a:spcPts val="400"/>
              </a:spcAft>
              <a:defRPr sz="1600" b="0">
                <a:solidFill>
                  <a:srgbClr val="425D50"/>
                </a:solidFill>
                <a:latin typeface="Arial"/>
              </a:defRPr>
            </a:pPr>
            <a:r>
              <a:t>getValidMoves()</a:t>
            </a:r>
          </a:p>
        </p:txBody>
      </p:sp>
      <p:sp>
        <p:nvSpPr>
          <p:cNvPr id="49" name="Rounded Rectangle 48"/>
          <p:cNvSpPr/>
          <p:nvPr/>
        </p:nvSpPr>
        <p:spPr>
          <a:xfrm>
            <a:off x="3474720" y="5650992"/>
            <a:ext cx="2560320" cy="365760"/>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3566160" y="5724144"/>
            <a:ext cx="2377440" cy="237744"/>
          </a:xfrm>
          <a:prstGeom prst="rect">
            <a:avLst/>
          </a:prstGeom>
          <a:noFill/>
        </p:spPr>
        <p:txBody>
          <a:bodyPr wrap="square" lIns="0" rIns="0" tIns="0" bIns="0">
            <a:noAutofit/>
          </a:bodyPr>
          <a:lstStyle/>
          <a:p>
            <a:pPr algn="l">
              <a:lnSpc>
                <a:spcPct val="106000"/>
              </a:lnSpc>
              <a:spcBef>
                <a:spcPts val="0"/>
              </a:spcBef>
              <a:spcAft>
                <a:spcPts val="400"/>
              </a:spcAft>
              <a:defRPr sz="1600" b="1">
                <a:solidFill>
                  <a:srgbClr val="285942"/>
                </a:solidFill>
                <a:latin typeface="Consolas"/>
              </a:defRPr>
            </a:pPr>
            <a:r>
              <a:t>Game · BOT / copies</a:t>
            </a:r>
          </a:p>
        </p:txBody>
      </p:sp>
      <p:sp>
        <p:nvSpPr>
          <p:cNvPr id="51" name="TextBox 50"/>
          <p:cNvSpPr txBox="1"/>
          <p:nvPr/>
        </p:nvSpPr>
        <p:spPr>
          <a:xfrm>
            <a:off x="6858000" y="5715000"/>
            <a:ext cx="4754880" cy="274320"/>
          </a:xfrm>
          <a:prstGeom prst="rect">
            <a:avLst/>
          </a:prstGeom>
          <a:noFill/>
        </p:spPr>
        <p:txBody>
          <a:bodyPr wrap="square" lIns="0" rIns="0" tIns="0" bIns="0">
            <a:noAutofit/>
          </a:bodyPr>
          <a:lstStyle/>
          <a:p>
            <a:pPr algn="l">
              <a:lnSpc>
                <a:spcPct val="106000"/>
              </a:lnSpc>
              <a:spcBef>
                <a:spcPts val="0"/>
              </a:spcBef>
              <a:spcAft>
                <a:spcPts val="400"/>
              </a:spcAft>
              <a:defRPr sz="1500" b="0">
                <a:solidFill>
                  <a:srgbClr val="425D50"/>
                </a:solidFill>
                <a:latin typeface="Arial"/>
              </a:defRPr>
            </a:pPr>
            <a:r>
              <a:t>State: Board, Piece, Player, Position</a:t>
            </a:r>
          </a:p>
        </p:txBody>
      </p:sp>
      <p:sp>
        <p:nvSpPr>
          <p:cNvPr id="52" name="TextBox 51"/>
          <p:cNvSpPr txBox="1"/>
          <p:nvPr/>
        </p:nvSpPr>
        <p:spPr>
          <a:xfrm>
            <a:off x="594360" y="5724144"/>
            <a:ext cx="2560320" cy="274320"/>
          </a:xfrm>
          <a:prstGeom prst="rect">
            <a:avLst/>
          </a:prstGeom>
          <a:noFill/>
        </p:spPr>
        <p:txBody>
          <a:bodyPr wrap="square" lIns="0" rIns="0" tIns="0" bIns="0">
            <a:noAutofit/>
          </a:bodyPr>
          <a:lstStyle/>
          <a:p>
            <a:pPr algn="l">
              <a:lnSpc>
                <a:spcPct val="106000"/>
              </a:lnSpc>
              <a:spcBef>
                <a:spcPts val="0"/>
              </a:spcBef>
              <a:spcAft>
                <a:spcPts val="400"/>
              </a:spcAft>
              <a:defRPr sz="1400" b="0">
                <a:solidFill>
                  <a:srgbClr val="425D50"/>
                </a:solidFill>
                <a:latin typeface="Arial"/>
              </a:defRPr>
            </a:pPr>
            <a:r>
              <a:t>Arrows: uses / calls</a:t>
            </a:r>
          </a:p>
        </p:txBody>
      </p:sp>
      <p:sp>
        <p:nvSpPr>
          <p:cNvPr id="53" name="Rounded Rectangle 52"/>
          <p:cNvSpPr/>
          <p:nvPr/>
        </p:nvSpPr>
        <p:spPr>
          <a:xfrm>
            <a:off x="594360" y="6062472"/>
            <a:ext cx="1101852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685800" y="6117336"/>
            <a:ext cx="1083564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Game rules are reused; rooms, local BOT and search use separate game instances.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TCP MOVE FLOW</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From a click to both screens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06 / 13</a:t>
            </a:r>
          </a:p>
        </p:txBody>
      </p:sp>
      <p:sp>
        <p:nvSpPr>
          <p:cNvPr id="10" name="Rounded Rectangle 9"/>
          <p:cNvSpPr/>
          <p:nvPr/>
        </p:nvSpPr>
        <p:spPr>
          <a:xfrm>
            <a:off x="548640" y="1856231"/>
            <a:ext cx="2788920"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2112264"/>
            <a:ext cx="233172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Client A</a:t>
            </a:r>
          </a:p>
        </p:txBody>
      </p:sp>
      <p:sp>
        <p:nvSpPr>
          <p:cNvPr id="12" name="TextBox 11"/>
          <p:cNvSpPr txBox="1"/>
          <p:nvPr/>
        </p:nvSpPr>
        <p:spPr>
          <a:xfrm>
            <a:off x="777240" y="2843784"/>
            <a:ext cx="2331720" cy="9418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153B2D"/>
                </a:solidFill>
                <a:latin typeface="Arial"/>
              </a:defRPr>
            </a:pPr>
            <a:r>
              <a:t>Select a piece</a:t>
            </a:r>
          </a:p>
          <a:p>
            <a:pPr algn="l">
              <a:lnSpc>
                <a:spcPct val="106000"/>
              </a:lnSpc>
              <a:spcBef>
                <a:spcPts val="0"/>
              </a:spcBef>
              <a:spcAft>
                <a:spcPts val="400"/>
              </a:spcAft>
              <a:defRPr sz="2400" b="0">
                <a:solidFill>
                  <a:srgbClr val="153B2D"/>
                </a:solidFill>
                <a:latin typeface="Arial"/>
              </a:defRPr>
            </a:pPr>
            <a:r>
              <a:t>and destination</a:t>
            </a:r>
          </a:p>
        </p:txBody>
      </p:sp>
      <p:sp>
        <p:nvSpPr>
          <p:cNvPr id="13" name="Rounded Rectangle 12"/>
          <p:cNvSpPr/>
          <p:nvPr/>
        </p:nvSpPr>
        <p:spPr>
          <a:xfrm>
            <a:off x="777240" y="4206240"/>
            <a:ext cx="2331720" cy="68580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7824" y="4416552"/>
            <a:ext cx="2130552" cy="365760"/>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53B2D"/>
                </a:solidFill>
                <a:latin typeface="Consolas"/>
              </a:defRPr>
            </a:pPr>
            <a:r>
              <a:t>MOVE 5 0 4 1</a:t>
            </a:r>
          </a:p>
        </p:txBody>
      </p:sp>
      <p:cxnSp>
        <p:nvCxnSpPr>
          <p:cNvPr id="15" name="Connector 14"/>
          <p:cNvCxnSpPr/>
          <p:nvPr/>
        </p:nvCxnSpPr>
        <p:spPr>
          <a:xfrm>
            <a:off x="3383280" y="3584448"/>
            <a:ext cx="621792"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4069080" y="1856231"/>
            <a:ext cx="3611880" cy="35112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315968" y="2112264"/>
            <a:ext cx="310896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8" name="TextBox 17"/>
          <p:cNvSpPr txBox="1"/>
          <p:nvPr/>
        </p:nvSpPr>
        <p:spPr>
          <a:xfrm>
            <a:off x="4315968" y="2880360"/>
            <a:ext cx="3108960" cy="1024128"/>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Room: identity + turn</a:t>
            </a:r>
          </a:p>
          <a:p>
            <a:pPr algn="l">
              <a:lnSpc>
                <a:spcPct val="106000"/>
              </a:lnSpc>
              <a:spcBef>
                <a:spcPts val="0"/>
              </a:spcBef>
              <a:spcAft>
                <a:spcPts val="400"/>
              </a:spcAft>
              <a:defRPr sz="2300" b="0">
                <a:solidFill>
                  <a:srgbClr val="153B2D"/>
                </a:solidFill>
                <a:latin typeface="Arial"/>
              </a:defRPr>
            </a:pPr>
            <a:r>
              <a:t>Game: check move rules</a:t>
            </a:r>
          </a:p>
        </p:txBody>
      </p:sp>
      <p:sp>
        <p:nvSpPr>
          <p:cNvPr id="19" name="Rounded Rectangle 18"/>
          <p:cNvSpPr/>
          <p:nvPr/>
        </p:nvSpPr>
        <p:spPr>
          <a:xfrm>
            <a:off x="4315968" y="4224528"/>
            <a:ext cx="3127248" cy="685800"/>
          </a:xfrm>
          <a:prstGeom prst="roundRect">
            <a:avLst>
              <a:gd name="adj" fmla="val 12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434840" y="4443984"/>
            <a:ext cx="2889504" cy="365760"/>
          </a:xfrm>
          <a:prstGeom prst="rect">
            <a:avLst/>
          </a:prstGeom>
          <a:noFill/>
        </p:spPr>
        <p:txBody>
          <a:bodyPr wrap="square" lIns="0" rIns="0" tIns="0" bIns="0">
            <a:noAutofit/>
          </a:bodyPr>
          <a:lstStyle/>
          <a:p>
            <a:pPr algn="ctr">
              <a:lnSpc>
                <a:spcPct val="106000"/>
              </a:lnSpc>
              <a:spcBef>
                <a:spcPts val="0"/>
              </a:spcBef>
              <a:spcAft>
                <a:spcPts val="400"/>
              </a:spcAft>
              <a:defRPr sz="1800" b="1">
                <a:solidFill>
                  <a:srgbClr val="153B2D"/>
                </a:solidFill>
                <a:latin typeface="Consolas"/>
              </a:defRPr>
            </a:pPr>
            <a:r>
              <a:t>game.move(from, to)</a:t>
            </a:r>
          </a:p>
        </p:txBody>
      </p:sp>
      <p:cxnSp>
        <p:nvCxnSpPr>
          <p:cNvPr id="21" name="Connector 20"/>
          <p:cNvCxnSpPr/>
          <p:nvPr/>
        </p:nvCxnSpPr>
        <p:spPr>
          <a:xfrm>
            <a:off x="7726679" y="3584448"/>
            <a:ext cx="612648"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8412480" y="1856231"/>
            <a:ext cx="3227832"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50224" y="2112264"/>
            <a:ext cx="274320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Both clients</a:t>
            </a:r>
          </a:p>
        </p:txBody>
      </p:sp>
      <p:sp>
        <p:nvSpPr>
          <p:cNvPr id="24" name="TextBox 23"/>
          <p:cNvSpPr txBox="1"/>
          <p:nvPr/>
        </p:nvSpPr>
        <p:spPr>
          <a:xfrm>
            <a:off x="8650224" y="2697480"/>
            <a:ext cx="274320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Accepted move</a:t>
            </a:r>
          </a:p>
        </p:txBody>
      </p:sp>
      <p:sp>
        <p:nvSpPr>
          <p:cNvPr id="25" name="TextBox 24"/>
          <p:cNvSpPr txBox="1"/>
          <p:nvPr/>
        </p:nvSpPr>
        <p:spPr>
          <a:xfrm>
            <a:off x="8650224" y="3200400"/>
            <a:ext cx="2743200" cy="13258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Consolas"/>
              </a:defRPr>
            </a:pPr>
            <a:r>
              <a:t>1  MOVE_APPLIED</a:t>
            </a:r>
          </a:p>
          <a:p>
            <a:pPr algn="l">
              <a:lnSpc>
                <a:spcPct val="106000"/>
              </a:lnSpc>
              <a:spcBef>
                <a:spcPts val="0"/>
              </a:spcBef>
              <a:spcAft>
                <a:spcPts val="400"/>
              </a:spcAft>
              <a:defRPr sz="2300" b="1">
                <a:solidFill>
                  <a:srgbClr val="285942"/>
                </a:solidFill>
                <a:latin typeface="Consolas"/>
              </a:defRPr>
            </a:pPr>
            <a:r>
              <a:t>2  BOARD</a:t>
            </a:r>
          </a:p>
          <a:p>
            <a:pPr algn="l">
              <a:lnSpc>
                <a:spcPct val="106000"/>
              </a:lnSpc>
              <a:spcBef>
                <a:spcPts val="0"/>
              </a:spcBef>
              <a:spcAft>
                <a:spcPts val="400"/>
              </a:spcAft>
              <a:defRPr sz="2300" b="1">
                <a:solidFill>
                  <a:srgbClr val="285942"/>
                </a:solidFill>
                <a:latin typeface="Consolas"/>
              </a:defRPr>
            </a:pPr>
            <a:r>
              <a:t>3  TURN</a:t>
            </a:r>
          </a:p>
        </p:txBody>
      </p:sp>
      <p:sp>
        <p:nvSpPr>
          <p:cNvPr id="26" name="TextBox 25"/>
          <p:cNvSpPr txBox="1"/>
          <p:nvPr/>
        </p:nvSpPr>
        <p:spPr>
          <a:xfrm>
            <a:off x="8650224" y="4645152"/>
            <a:ext cx="2743200" cy="676656"/>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Animate → display</a:t>
            </a:r>
          </a:p>
          <a:p>
            <a:pPr algn="l">
              <a:lnSpc>
                <a:spcPct val="106000"/>
              </a:lnSpc>
              <a:spcBef>
                <a:spcPts val="0"/>
              </a:spcBef>
              <a:spcAft>
                <a:spcPts val="400"/>
              </a:spcAft>
              <a:defRPr sz="2000" b="0">
                <a:solidFill>
                  <a:srgbClr val="425D50"/>
                </a:solidFill>
                <a:latin typeface="Arial"/>
              </a:defRPr>
            </a:pPr>
            <a:r>
              <a:t>the accepted state</a:t>
            </a:r>
          </a:p>
        </p:txBody>
      </p:sp>
      <p:sp>
        <p:nvSpPr>
          <p:cNvPr id="27" name="TextBox 26"/>
          <p:cNvSpPr txBox="1"/>
          <p:nvPr/>
        </p:nvSpPr>
        <p:spPr>
          <a:xfrm>
            <a:off x="594360" y="5687568"/>
            <a:ext cx="1097280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UTF-8 · one message per line · network work off the UI thread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BOT DECISION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Minimax: how the BOT chooses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07 / 13</a:t>
            </a:r>
          </a:p>
        </p:txBody>
      </p:sp>
      <p:sp>
        <p:nvSpPr>
          <p:cNvPr id="10" name="Rounded Rectangle 9"/>
          <p:cNvSpPr/>
          <p:nvPr/>
        </p:nvSpPr>
        <p:spPr>
          <a:xfrm>
            <a:off x="548640" y="1874519"/>
            <a:ext cx="4114800" cy="40965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04672" y="2157984"/>
            <a:ext cx="3611880" cy="8229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Shared game rules</a:t>
            </a:r>
          </a:p>
        </p:txBody>
      </p:sp>
      <p:sp>
        <p:nvSpPr>
          <p:cNvPr id="12" name="TextBox 11"/>
          <p:cNvSpPr txBox="1"/>
          <p:nvPr/>
        </p:nvSpPr>
        <p:spPr>
          <a:xfrm>
            <a:off x="804672" y="3108960"/>
            <a:ext cx="3611880" cy="2286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Legal moves on copies</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Piece = 3    King = 6</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Depth: 1 / 2 / 3</a:t>
            </a:r>
          </a:p>
        </p:txBody>
      </p:sp>
      <p:cxnSp>
        <p:nvCxnSpPr>
          <p:cNvPr id="13" name="Connector 12"/>
          <p:cNvCxnSpPr/>
          <p:nvPr/>
        </p:nvCxnSpPr>
        <p:spPr>
          <a:xfrm flipH="1">
            <a:off x="6446520" y="2606040"/>
            <a:ext cx="1691640" cy="914400"/>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138160" y="2606040"/>
            <a:ext cx="1691640" cy="914400"/>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flipH="1">
            <a:off x="57150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644652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a:off x="9098280" y="4041648"/>
            <a:ext cx="731520" cy="850392"/>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98298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9" name="Rounded Rectangle 18"/>
          <p:cNvSpPr/>
          <p:nvPr/>
        </p:nvSpPr>
        <p:spPr>
          <a:xfrm>
            <a:off x="7040880" y="1965960"/>
            <a:ext cx="21945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132320" y="2212848"/>
            <a:ext cx="2011680"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BOT · MAX = 0</a:t>
            </a:r>
          </a:p>
        </p:txBody>
      </p:sp>
      <p:sp>
        <p:nvSpPr>
          <p:cNvPr id="21" name="Rounded Rectangle 20"/>
          <p:cNvSpPr/>
          <p:nvPr/>
        </p:nvSpPr>
        <p:spPr>
          <a:xfrm>
            <a:off x="5468112" y="3364992"/>
            <a:ext cx="1965960" cy="7315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54126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−3</a:t>
            </a:r>
          </a:p>
        </p:txBody>
      </p:sp>
      <p:sp>
        <p:nvSpPr>
          <p:cNvPr id="23" name="Rounded Rectangle 22"/>
          <p:cNvSpPr/>
          <p:nvPr/>
        </p:nvSpPr>
        <p:spPr>
          <a:xfrm>
            <a:off x="8851392" y="3364992"/>
            <a:ext cx="19659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92454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0</a:t>
            </a:r>
          </a:p>
        </p:txBody>
      </p:sp>
      <p:sp>
        <p:nvSpPr>
          <p:cNvPr id="25" name="Rounded Rectangle 24"/>
          <p:cNvSpPr/>
          <p:nvPr/>
        </p:nvSpPr>
        <p:spPr>
          <a:xfrm>
            <a:off x="521208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28523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7" name="Rounded Rectangle 26"/>
          <p:cNvSpPr/>
          <p:nvPr/>
        </p:nvSpPr>
        <p:spPr>
          <a:xfrm>
            <a:off x="667512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674827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9" name="Rounded Rectangle 28"/>
          <p:cNvSpPr/>
          <p:nvPr/>
        </p:nvSpPr>
        <p:spPr>
          <a:xfrm>
            <a:off x="8595360" y="4773168"/>
            <a:ext cx="1005840" cy="658368"/>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66851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0</a:t>
            </a:r>
          </a:p>
        </p:txBody>
      </p:sp>
      <p:sp>
        <p:nvSpPr>
          <p:cNvPr id="31" name="Rounded Rectangle 30"/>
          <p:cNvSpPr/>
          <p:nvPr/>
        </p:nvSpPr>
        <p:spPr>
          <a:xfrm>
            <a:off x="1005840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013155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33" name="TextBox 32"/>
          <p:cNvSpPr txBox="1"/>
          <p:nvPr/>
        </p:nvSpPr>
        <p:spPr>
          <a:xfrm>
            <a:off x="5486400" y="5669280"/>
            <a:ext cx="5943600" cy="320040"/>
          </a:xfrm>
          <a:prstGeom prst="rect">
            <a:avLst/>
          </a:prstGeom>
          <a:noFill/>
        </p:spPr>
        <p:txBody>
          <a:bodyPr wrap="square" lIns="0" rIns="0" tIns="0" bIns="0">
            <a:noAutofit/>
          </a:bodyPr>
          <a:lstStyle/>
          <a:p>
            <a:pPr algn="ctr">
              <a:lnSpc>
                <a:spcPct val="106000"/>
              </a:lnSpc>
              <a:spcBef>
                <a:spcPts val="0"/>
              </a:spcBef>
              <a:spcAft>
                <a:spcPts val="400"/>
              </a:spcAft>
              <a:defRPr sz="1700" b="0">
                <a:solidFill>
                  <a:srgbClr val="425D50"/>
                </a:solidFill>
                <a:latin typeface="Arial"/>
              </a:defRPr>
            </a:pPr>
            <a:r>
              <a:t>Illustrative two-step search</a:t>
            </a:r>
          </a:p>
        </p:txBody>
      </p:sp>
      <p:sp>
        <p:nvSpPr>
          <p:cNvPr id="34" name="TextBox 33"/>
          <p:cNvSpPr txBox="1"/>
          <p:nvPr/>
        </p:nvSpPr>
        <p:spPr>
          <a:xfrm>
            <a:off x="594360" y="6080760"/>
            <a:ext cx="10972800" cy="292608"/>
          </a:xfrm>
          <a:prstGeom prst="rect">
            <a:avLst/>
          </a:prstGeom>
          <a:noFill/>
        </p:spPr>
        <p:txBody>
          <a:bodyPr wrap="square" lIns="0" rIns="0" tIns="0" bIns="0">
            <a:noAutofit/>
          </a:bodyPr>
          <a:lstStyle/>
          <a:p>
            <a:pPr algn="l">
              <a:lnSpc>
                <a:spcPct val="106000"/>
              </a:lnSpc>
              <a:spcBef>
                <a:spcPts val="0"/>
              </a:spcBef>
              <a:spcAft>
                <a:spcPts val="400"/>
              </a:spcAft>
              <a:defRPr sz="1900" b="0">
                <a:solidFill>
                  <a:srgbClr val="285942"/>
                </a:solidFill>
                <a:latin typeface="Arial"/>
              </a:defRPr>
            </a:pPr>
            <a:r>
              <a:t>Alpha–Beta skips branches that cannot improve the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PERSISTENCE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Accounts that remember results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08 / 13</a:t>
            </a:r>
          </a:p>
        </p:txBody>
      </p:sp>
      <p:sp>
        <p:nvSpPr>
          <p:cNvPr id="10" name="Rounded Rectangle 9"/>
          <p:cNvSpPr/>
          <p:nvPr/>
        </p:nvSpPr>
        <p:spPr>
          <a:xfrm>
            <a:off x="594360" y="1938528"/>
            <a:ext cx="6126480" cy="42976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68680" y="2203704"/>
            <a:ext cx="5440680" cy="45720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Player profile</a:t>
            </a:r>
          </a:p>
        </p:txBody>
      </p:sp>
      <p:sp>
        <p:nvSpPr>
          <p:cNvPr id="12" name="TextBox 11"/>
          <p:cNvSpPr txBox="1"/>
          <p:nvPr/>
        </p:nvSpPr>
        <p:spPr>
          <a:xfrm>
            <a:off x="868680" y="2761488"/>
            <a:ext cx="5440680" cy="320040"/>
          </a:xfrm>
          <a:prstGeom prst="rect">
            <a:avLst/>
          </a:prstGeom>
          <a:noFill/>
        </p:spPr>
        <p:txBody>
          <a:bodyPr wrap="square" lIns="0" rIns="0" tIns="0" bIns="0">
            <a:noAutofit/>
          </a:bodyPr>
          <a:lstStyle/>
          <a:p>
            <a:pPr algn="l">
              <a:lnSpc>
                <a:spcPct val="106000"/>
              </a:lnSpc>
              <a:spcBef>
                <a:spcPts val="0"/>
              </a:spcBef>
              <a:spcAft>
                <a:spcPts val="400"/>
              </a:spcAft>
              <a:defRPr sz="1700" b="0">
                <a:solidFill>
                  <a:srgbClr val="425D50"/>
                </a:solidFill>
                <a:latin typeface="Arial"/>
              </a:defRPr>
            </a:pPr>
            <a:r>
              <a:t>Illustrative account</a:t>
            </a:r>
          </a:p>
        </p:txBody>
      </p:sp>
      <p:sp>
        <p:nvSpPr>
          <p:cNvPr id="13" name="Rounded Rectangle 12"/>
          <p:cNvSpPr/>
          <p:nvPr/>
        </p:nvSpPr>
        <p:spPr>
          <a:xfrm>
            <a:off x="868680" y="3291840"/>
            <a:ext cx="2651760" cy="123444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3749039" y="3291840"/>
            <a:ext cx="2651760" cy="1234440"/>
          </a:xfrm>
          <a:prstGeom prst="roundRect">
            <a:avLst>
              <a:gd name="adj" fmla="val 12000"/>
            </a:avLst>
          </a:prstGeom>
          <a:solidFill>
            <a:srgbClr val="F8E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60704"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Arial"/>
              </a:defRPr>
            </a:pPr>
            <a:r>
              <a:t>ONLINE</a:t>
            </a:r>
          </a:p>
        </p:txBody>
      </p:sp>
      <p:sp>
        <p:nvSpPr>
          <p:cNvPr id="16" name="TextBox 15"/>
          <p:cNvSpPr txBox="1"/>
          <p:nvPr/>
        </p:nvSpPr>
        <p:spPr>
          <a:xfrm>
            <a:off x="1060704"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1 win / 1 match</a:t>
            </a:r>
          </a:p>
        </p:txBody>
      </p:sp>
      <p:sp>
        <p:nvSpPr>
          <p:cNvPr id="17" name="TextBox 16"/>
          <p:cNvSpPr txBox="1"/>
          <p:nvPr/>
        </p:nvSpPr>
        <p:spPr>
          <a:xfrm>
            <a:off x="3941063"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BD614A"/>
                </a:solidFill>
                <a:latin typeface="Arial"/>
              </a:defRPr>
            </a:pPr>
            <a:r>
              <a:t>BOT</a:t>
            </a:r>
          </a:p>
        </p:txBody>
      </p:sp>
      <p:sp>
        <p:nvSpPr>
          <p:cNvPr id="18" name="TextBox 17"/>
          <p:cNvSpPr txBox="1"/>
          <p:nvPr/>
        </p:nvSpPr>
        <p:spPr>
          <a:xfrm>
            <a:off x="3941063"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0 matches</a:t>
            </a:r>
          </a:p>
        </p:txBody>
      </p:sp>
      <p:sp>
        <p:nvSpPr>
          <p:cNvPr id="19" name="TextBox 18"/>
          <p:cNvSpPr txBox="1"/>
          <p:nvPr/>
        </p:nvSpPr>
        <p:spPr>
          <a:xfrm>
            <a:off x="868680" y="4882896"/>
            <a:ext cx="544068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Match history</a:t>
            </a:r>
          </a:p>
        </p:txBody>
      </p:sp>
      <p:cxnSp>
        <p:nvCxnSpPr>
          <p:cNvPr id="20" name="Connector 19"/>
          <p:cNvCxnSpPr/>
          <p:nvPr/>
        </p:nvCxnSpPr>
        <p:spPr>
          <a:xfrm>
            <a:off x="868680" y="5468112"/>
            <a:ext cx="5532120"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68680" y="5669280"/>
            <a:ext cx="1280160"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Online</a:t>
            </a:r>
          </a:p>
        </p:txBody>
      </p:sp>
      <p:sp>
        <p:nvSpPr>
          <p:cNvPr id="22" name="TextBox 21"/>
          <p:cNvSpPr txBox="1"/>
          <p:nvPr/>
        </p:nvSpPr>
        <p:spPr>
          <a:xfrm>
            <a:off x="2770632" y="5669280"/>
            <a:ext cx="1005840"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Arial"/>
              </a:defRPr>
            </a:pPr>
            <a:r>
              <a:t>WIN</a:t>
            </a:r>
          </a:p>
        </p:txBody>
      </p:sp>
      <p:sp>
        <p:nvSpPr>
          <p:cNvPr id="23" name="TextBox 22"/>
          <p:cNvSpPr txBox="1"/>
          <p:nvPr/>
        </p:nvSpPr>
        <p:spPr>
          <a:xfrm>
            <a:off x="4169663" y="5669280"/>
            <a:ext cx="2212848"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Resignation</a:t>
            </a:r>
          </a:p>
        </p:txBody>
      </p:sp>
      <p:sp>
        <p:nvSpPr>
          <p:cNvPr id="24" name="Rounded Rectangle 23"/>
          <p:cNvSpPr/>
          <p:nvPr/>
        </p:nvSpPr>
        <p:spPr>
          <a:xfrm>
            <a:off x="7114032" y="193852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70064" y="2194560"/>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profiles</a:t>
            </a:r>
          </a:p>
        </p:txBody>
      </p:sp>
      <p:sp>
        <p:nvSpPr>
          <p:cNvPr id="26" name="TextBox 25"/>
          <p:cNvSpPr txBox="1"/>
          <p:nvPr/>
        </p:nvSpPr>
        <p:spPr>
          <a:xfrm>
            <a:off x="7370064" y="2871216"/>
            <a:ext cx="3968496" cy="4572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425D50"/>
                </a:solidFill>
                <a:latin typeface="Arial"/>
              </a:defRPr>
            </a:pPr>
            <a:r>
              <a:t>Username · salt · hash</a:t>
            </a:r>
          </a:p>
        </p:txBody>
      </p:sp>
      <p:sp>
        <p:nvSpPr>
          <p:cNvPr id="27" name="Rounded Rectangle 26"/>
          <p:cNvSpPr/>
          <p:nvPr/>
        </p:nvSpPr>
        <p:spPr>
          <a:xfrm>
            <a:off x="7114032" y="372160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370064" y="3977639"/>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game_results</a:t>
            </a:r>
          </a:p>
        </p:txBody>
      </p:sp>
      <p:sp>
        <p:nvSpPr>
          <p:cNvPr id="29" name="TextBox 28"/>
          <p:cNvSpPr txBox="1"/>
          <p:nvPr/>
        </p:nvSpPr>
        <p:spPr>
          <a:xfrm>
            <a:off x="7370064" y="4626864"/>
            <a:ext cx="3968496" cy="45720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Players · result · mode · time</a:t>
            </a:r>
          </a:p>
        </p:txBody>
      </p:sp>
      <p:sp>
        <p:nvSpPr>
          <p:cNvPr id="30" name="TextBox 29"/>
          <p:cNvSpPr txBox="1"/>
          <p:nvPr/>
        </p:nvSpPr>
        <p:spPr>
          <a:xfrm>
            <a:off x="7114032" y="5705856"/>
            <a:ext cx="4489704" cy="45720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Saved results → statistics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VERIFICATION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How we checked the system</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09 / 13</a:t>
            </a:r>
          </a:p>
        </p:txBody>
      </p:sp>
      <p:sp>
        <p:nvSpPr>
          <p:cNvPr id="10" name="TextBox 9"/>
          <p:cNvSpPr txBox="1"/>
          <p:nvPr/>
        </p:nvSpPr>
        <p:spPr>
          <a:xfrm>
            <a:off x="594360" y="1856231"/>
            <a:ext cx="1828800" cy="960120"/>
          </a:xfrm>
          <a:prstGeom prst="rect">
            <a:avLst/>
          </a:prstGeom>
          <a:noFill/>
        </p:spPr>
        <p:txBody>
          <a:bodyPr wrap="square" lIns="0" rIns="0" tIns="0" bIns="0">
            <a:noAutofit/>
          </a:bodyPr>
          <a:lstStyle/>
          <a:p>
            <a:pPr algn="l">
              <a:lnSpc>
                <a:spcPct val="106000"/>
              </a:lnSpc>
              <a:spcBef>
                <a:spcPts val="0"/>
              </a:spcBef>
              <a:spcAft>
                <a:spcPts val="400"/>
              </a:spcAft>
              <a:defRPr sz="6200" b="1">
                <a:solidFill>
                  <a:srgbClr val="285942"/>
                </a:solidFill>
                <a:latin typeface="Arial"/>
              </a:defRPr>
            </a:pPr>
            <a:r>
              <a:t>48</a:t>
            </a:r>
          </a:p>
        </p:txBody>
      </p:sp>
      <p:sp>
        <p:nvSpPr>
          <p:cNvPr id="11" name="TextBox 10"/>
          <p:cNvSpPr txBox="1"/>
          <p:nvPr/>
        </p:nvSpPr>
        <p:spPr>
          <a:xfrm>
            <a:off x="2560320" y="2286000"/>
            <a:ext cx="7589520" cy="457200"/>
          </a:xfrm>
          <a:prstGeom prst="rect">
            <a:avLst/>
          </a:prstGeom>
          <a:noFill/>
        </p:spPr>
        <p:txBody>
          <a:bodyPr wrap="square" lIns="0" rIns="0" tIns="0" bIns="0">
            <a:noAutofit/>
          </a:bodyPr>
          <a:lstStyle/>
          <a:p>
            <a:pPr algn="l">
              <a:lnSpc>
                <a:spcPct val="106000"/>
              </a:lnSpc>
              <a:spcBef>
                <a:spcPts val="0"/>
              </a:spcBef>
              <a:spcAft>
                <a:spcPts val="400"/>
              </a:spcAft>
              <a:defRPr sz="2900" b="1">
                <a:solidFill>
                  <a:srgbClr val="153B2D"/>
                </a:solidFill>
                <a:latin typeface="Arial"/>
              </a:defRPr>
            </a:pPr>
            <a:r>
              <a:t>automated tests</a:t>
            </a:r>
          </a:p>
        </p:txBody>
      </p:sp>
      <p:sp>
        <p:nvSpPr>
          <p:cNvPr id="12" name="Rounded Rectangle 11"/>
          <p:cNvSpPr/>
          <p:nvPr/>
        </p:nvSpPr>
        <p:spPr>
          <a:xfrm>
            <a:off x="548640"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66928" y="3493008"/>
            <a:ext cx="41148" cy="156362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777240"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Game rules</a:t>
            </a:r>
          </a:p>
        </p:txBody>
      </p:sp>
      <p:sp>
        <p:nvSpPr>
          <p:cNvPr id="15" name="TextBox 14"/>
          <p:cNvSpPr txBox="1"/>
          <p:nvPr/>
        </p:nvSpPr>
        <p:spPr>
          <a:xfrm>
            <a:off x="777240"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Invalid moves, turns</a:t>
            </a:r>
          </a:p>
          <a:p>
            <a:pPr algn="l">
              <a:lnSpc>
                <a:spcPct val="106000"/>
              </a:lnSpc>
              <a:spcBef>
                <a:spcPts val="0"/>
              </a:spcBef>
              <a:spcAft>
                <a:spcPts val="400"/>
              </a:spcAft>
              <a:defRPr sz="2200" b="0">
                <a:solidFill>
                  <a:srgbClr val="425D50"/>
                </a:solidFill>
                <a:latin typeface="Arial"/>
              </a:defRPr>
            </a:pPr>
            <a:r>
              <a:t>and capture chains</a:t>
            </a:r>
          </a:p>
        </p:txBody>
      </p:sp>
      <p:sp>
        <p:nvSpPr>
          <p:cNvPr id="16" name="Rounded Rectangle 15"/>
          <p:cNvSpPr/>
          <p:nvPr/>
        </p:nvSpPr>
        <p:spPr>
          <a:xfrm>
            <a:off x="4325112"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343400" y="3493008"/>
            <a:ext cx="41148" cy="156362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553712"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TCP behavior</a:t>
            </a:r>
          </a:p>
        </p:txBody>
      </p:sp>
      <p:sp>
        <p:nvSpPr>
          <p:cNvPr id="19" name="TextBox 18"/>
          <p:cNvSpPr txBox="1"/>
          <p:nvPr/>
        </p:nvSpPr>
        <p:spPr>
          <a:xfrm>
            <a:off x="4553712"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Two real connections</a:t>
            </a:r>
          </a:p>
          <a:p>
            <a:pPr algn="l">
              <a:lnSpc>
                <a:spcPct val="106000"/>
              </a:lnSpc>
              <a:spcBef>
                <a:spcPts val="0"/>
              </a:spcBef>
              <a:spcAft>
                <a:spcPts val="400"/>
              </a:spcAft>
              <a:defRPr sz="2200" b="0">
                <a:solidFill>
                  <a:srgbClr val="425D50"/>
                </a:solidFill>
                <a:latin typeface="Arial"/>
              </a:defRPr>
            </a:pPr>
            <a:r>
              <a:t>Matching board updates</a:t>
            </a:r>
          </a:p>
        </p:txBody>
      </p:sp>
      <p:sp>
        <p:nvSpPr>
          <p:cNvPr id="20" name="Rounded Rectangle 19"/>
          <p:cNvSpPr/>
          <p:nvPr/>
        </p:nvSpPr>
        <p:spPr>
          <a:xfrm>
            <a:off x="8110727" y="3291840"/>
            <a:ext cx="3538728" cy="1965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8129015" y="3493008"/>
            <a:ext cx="41148" cy="156362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339327" y="35112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Stored results</a:t>
            </a:r>
          </a:p>
        </p:txBody>
      </p:sp>
      <p:sp>
        <p:nvSpPr>
          <p:cNvPr id="23" name="TextBox 22"/>
          <p:cNvSpPr txBox="1"/>
          <p:nvPr/>
        </p:nvSpPr>
        <p:spPr>
          <a:xfrm>
            <a:off x="8339327" y="4251960"/>
            <a:ext cx="3081528" cy="85039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Authentication</a:t>
            </a:r>
          </a:p>
          <a:p>
            <a:pPr algn="l">
              <a:lnSpc>
                <a:spcPct val="106000"/>
              </a:lnSpc>
              <a:spcBef>
                <a:spcPts val="0"/>
              </a:spcBef>
              <a:spcAft>
                <a:spcPts val="400"/>
              </a:spcAft>
              <a:defRPr sz="2100" b="0">
                <a:solidFill>
                  <a:srgbClr val="425D50"/>
                </a:solidFill>
                <a:latin typeface="Arial"/>
              </a:defRPr>
            </a:pPr>
            <a:r>
              <a:t>Persistence + deduplication</a:t>
            </a:r>
          </a:p>
        </p:txBody>
      </p:sp>
      <p:sp>
        <p:nvSpPr>
          <p:cNvPr id="24" name="TextBox 23"/>
          <p:cNvSpPr txBox="1"/>
          <p:nvPr/>
        </p:nvSpPr>
        <p:spPr>
          <a:xfrm>
            <a:off x="594360" y="5632704"/>
            <a:ext cx="10972800" cy="41148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153B2D"/>
                </a:solidFill>
                <a:latin typeface="Arial"/>
              </a:defRPr>
            </a:pPr>
            <a:r>
              <a:t>Manual UI checks: two windows, error messages and movement animation</a:t>
            </a:r>
          </a:p>
        </p:txBody>
      </p:sp>
      <p:sp>
        <p:nvSpPr>
          <p:cNvPr id="25" name="TextBox 24"/>
          <p:cNvSpPr txBox="1"/>
          <p:nvPr/>
        </p:nvSpPr>
        <p:spPr>
          <a:xfrm>
            <a:off x="594360" y="6135624"/>
            <a:ext cx="10972800" cy="256032"/>
          </a:xfrm>
          <a:prstGeom prst="rect">
            <a:avLst/>
          </a:prstGeom>
          <a:noFill/>
        </p:spPr>
        <p:txBody>
          <a:bodyPr wrap="square" lIns="0" rIns="0" tIns="0" bIns="0">
            <a:noAutofit/>
          </a:bodyPr>
          <a:lstStyle/>
          <a:p>
            <a:pPr algn="l">
              <a:lnSpc>
                <a:spcPct val="106000"/>
              </a:lnSpc>
              <a:spcBef>
                <a:spcPts val="0"/>
              </a:spcBef>
              <a:spcAft>
                <a:spcPts val="400"/>
              </a:spcAft>
              <a:defRPr sz="1500" b="0">
                <a:solidFill>
                  <a:srgbClr val="425D50"/>
                </a:solidFill>
                <a:latin typeface="Arial"/>
              </a:defRPr>
            </a:pPr>
            <a:r>
              <a:t>Automated count: documented passing run, 12 Oct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CHALLENGES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Engineering challenges and our solutions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10 / 13</a:t>
            </a:r>
          </a:p>
        </p:txBody>
      </p:sp>
      <p:sp>
        <p:nvSpPr>
          <p:cNvPr id="10" name="Rounded Rectangle 9"/>
          <p:cNvSpPr/>
          <p:nvPr/>
        </p:nvSpPr>
        <p:spPr>
          <a:xfrm>
            <a:off x="548640" y="1965960"/>
            <a:ext cx="3538728" cy="37033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67128"/>
            <a:ext cx="41148" cy="330098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85415"/>
            <a:ext cx="3081528" cy="5943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Online consistency</a:t>
            </a:r>
          </a:p>
        </p:txBody>
      </p:sp>
      <p:sp>
        <p:nvSpPr>
          <p:cNvPr id="13" name="TextBox 12"/>
          <p:cNvSpPr txBox="1"/>
          <p:nvPr/>
        </p:nvSpPr>
        <p:spPr>
          <a:xfrm>
            <a:off x="777240" y="2926080"/>
            <a:ext cx="3081528" cy="258775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Challenge</a:t>
            </a:r>
          </a:p>
          <a:p>
            <a:pPr algn="l">
              <a:lnSpc>
                <a:spcPct val="106000"/>
              </a:lnSpc>
              <a:spcBef>
                <a:spcPts val="0"/>
              </a:spcBef>
              <a:spcAft>
                <a:spcPts val="400"/>
              </a:spcAft>
              <a:defRPr sz="2100" b="0">
                <a:solidFill>
                  <a:srgbClr val="425D50"/>
                </a:solidFill>
                <a:latin typeface="Arial"/>
              </a:defRPr>
            </a:pPr>
            <a:r>
              <a:t>Two screens, one game</a:t>
            </a:r>
          </a:p>
          <a:p>
            <a:pPr algn="l">
              <a:lnSpc>
                <a:spcPct val="106000"/>
              </a:lnSpc>
              <a:spcBef>
                <a:spcPts val="0"/>
              </a:spcBef>
              <a:spcAft>
                <a:spcPts val="400"/>
              </a:spcAft>
              <a:defRPr sz="2100" b="0">
                <a:solidFill>
                  <a:srgbClr val="425D50"/>
                </a:solidFill>
                <a:latin typeface="Arial"/>
              </a:defRPr>
            </a:pPr>
          </a:p>
          <a:p>
            <a:pPr algn="l">
              <a:lnSpc>
                <a:spcPct val="106000"/>
              </a:lnSpc>
              <a:spcBef>
                <a:spcPts val="0"/>
              </a:spcBef>
              <a:spcAft>
                <a:spcPts val="400"/>
              </a:spcAft>
              <a:defRPr sz="2100" b="0">
                <a:solidFill>
                  <a:srgbClr val="425D50"/>
                </a:solidFill>
                <a:latin typeface="Arial"/>
              </a:defRPr>
            </a:pPr>
            <a:r>
              <a:t>Solution</a:t>
            </a:r>
          </a:p>
          <a:p>
            <a:pPr algn="l">
              <a:lnSpc>
                <a:spcPct val="106000"/>
              </a:lnSpc>
              <a:spcBef>
                <a:spcPts val="0"/>
              </a:spcBef>
              <a:spcAft>
                <a:spcPts val="400"/>
              </a:spcAft>
              <a:defRPr sz="2100" b="0">
                <a:solidFill>
                  <a:srgbClr val="425D50"/>
                </a:solidFill>
                <a:latin typeface="Arial"/>
              </a:defRPr>
            </a:pPr>
            <a:r>
              <a:t>Server validates moves</a:t>
            </a:r>
          </a:p>
          <a:p>
            <a:pPr algn="l">
              <a:lnSpc>
                <a:spcPct val="106000"/>
              </a:lnSpc>
              <a:spcBef>
                <a:spcPts val="0"/>
              </a:spcBef>
              <a:spcAft>
                <a:spcPts val="400"/>
              </a:spcAft>
              <a:defRPr sz="2100" b="0">
                <a:solidFill>
                  <a:srgbClr val="425D50"/>
                </a:solidFill>
                <a:latin typeface="Arial"/>
              </a:defRPr>
            </a:pPr>
            <a:r>
              <a:t>Both clients update</a:t>
            </a:r>
          </a:p>
        </p:txBody>
      </p:sp>
      <p:sp>
        <p:nvSpPr>
          <p:cNvPr id="14" name="Rounded Rectangle 13"/>
          <p:cNvSpPr/>
          <p:nvPr/>
        </p:nvSpPr>
        <p:spPr>
          <a:xfrm>
            <a:off x="4325112" y="1965960"/>
            <a:ext cx="3538728" cy="37033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343400" y="2167128"/>
            <a:ext cx="41148" cy="330098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553712" y="2185415"/>
            <a:ext cx="3081528" cy="5943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Network + UI timing</a:t>
            </a:r>
          </a:p>
        </p:txBody>
      </p:sp>
      <p:sp>
        <p:nvSpPr>
          <p:cNvPr id="17" name="TextBox 16"/>
          <p:cNvSpPr txBox="1"/>
          <p:nvPr/>
        </p:nvSpPr>
        <p:spPr>
          <a:xfrm>
            <a:off x="4553712" y="2926080"/>
            <a:ext cx="3081528" cy="258775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Challenge</a:t>
            </a:r>
          </a:p>
          <a:p>
            <a:pPr algn="l">
              <a:lnSpc>
                <a:spcPct val="106000"/>
              </a:lnSpc>
              <a:spcBef>
                <a:spcPts val="0"/>
              </a:spcBef>
              <a:spcAft>
                <a:spcPts val="400"/>
              </a:spcAft>
              <a:defRPr sz="2100" b="0">
                <a:solidFill>
                  <a:srgbClr val="425D50"/>
                </a:solidFill>
                <a:latin typeface="Arial"/>
              </a:defRPr>
            </a:pPr>
            <a:r>
              <a:t>Updates during animation</a:t>
            </a:r>
          </a:p>
          <a:p>
            <a:pPr algn="l">
              <a:lnSpc>
                <a:spcPct val="106000"/>
              </a:lnSpc>
              <a:spcBef>
                <a:spcPts val="0"/>
              </a:spcBef>
              <a:spcAft>
                <a:spcPts val="400"/>
              </a:spcAft>
              <a:defRPr sz="2100" b="0">
                <a:solidFill>
                  <a:srgbClr val="425D50"/>
                </a:solidFill>
                <a:latin typeface="Arial"/>
              </a:defRPr>
            </a:pPr>
          </a:p>
          <a:p>
            <a:pPr algn="l">
              <a:lnSpc>
                <a:spcPct val="106000"/>
              </a:lnSpc>
              <a:spcBef>
                <a:spcPts val="0"/>
              </a:spcBef>
              <a:spcAft>
                <a:spcPts val="400"/>
              </a:spcAft>
              <a:defRPr sz="2100" b="0">
                <a:solidFill>
                  <a:srgbClr val="425D50"/>
                </a:solidFill>
                <a:latin typeface="Arial"/>
              </a:defRPr>
            </a:pPr>
            <a:r>
              <a:t>Solution</a:t>
            </a:r>
          </a:p>
          <a:p>
            <a:pPr algn="l">
              <a:lnSpc>
                <a:spcPct val="106000"/>
              </a:lnSpc>
              <a:spcBef>
                <a:spcPts val="0"/>
              </a:spcBef>
              <a:spcAft>
                <a:spcPts val="400"/>
              </a:spcAft>
              <a:defRPr sz="2100" b="0">
                <a:solidFill>
                  <a:srgbClr val="425D50"/>
                </a:solidFill>
                <a:latin typeface="Arial"/>
              </a:defRPr>
            </a:pPr>
            <a:r>
              <a:t>Background network I/O</a:t>
            </a:r>
          </a:p>
          <a:p>
            <a:pPr algn="l">
              <a:lnSpc>
                <a:spcPct val="106000"/>
              </a:lnSpc>
              <a:spcBef>
                <a:spcPts val="0"/>
              </a:spcBef>
              <a:spcAft>
                <a:spcPts val="400"/>
              </a:spcAft>
              <a:defRPr sz="2100" b="0">
                <a:solidFill>
                  <a:srgbClr val="425D50"/>
                </a:solidFill>
                <a:latin typeface="Arial"/>
              </a:defRPr>
            </a:pPr>
            <a:r>
              <a:t>Queued UI updates</a:t>
            </a:r>
          </a:p>
        </p:txBody>
      </p:sp>
      <p:sp>
        <p:nvSpPr>
          <p:cNvPr id="18" name="Rounded Rectangle 17"/>
          <p:cNvSpPr/>
          <p:nvPr/>
        </p:nvSpPr>
        <p:spPr>
          <a:xfrm>
            <a:off x="8110727" y="1965960"/>
            <a:ext cx="3538728" cy="37033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129015" y="2167128"/>
            <a:ext cx="41148" cy="330098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39327" y="2185415"/>
            <a:ext cx="3081528" cy="5943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Rules + BOT search</a:t>
            </a:r>
          </a:p>
        </p:txBody>
      </p:sp>
      <p:sp>
        <p:nvSpPr>
          <p:cNvPr id="21" name="TextBox 20"/>
          <p:cNvSpPr txBox="1"/>
          <p:nvPr/>
        </p:nvSpPr>
        <p:spPr>
          <a:xfrm>
            <a:off x="8339327" y="2926080"/>
            <a:ext cx="3081528" cy="258775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425D50"/>
                </a:solidFill>
                <a:latin typeface="Arial"/>
              </a:defRPr>
            </a:pPr>
            <a:r>
              <a:t>Challenge</a:t>
            </a:r>
          </a:p>
          <a:p>
            <a:pPr algn="l">
              <a:lnSpc>
                <a:spcPct val="106000"/>
              </a:lnSpc>
              <a:spcBef>
                <a:spcPts val="0"/>
              </a:spcBef>
              <a:spcAft>
                <a:spcPts val="400"/>
              </a:spcAft>
              <a:defRPr sz="2100" b="0">
                <a:solidFill>
                  <a:srgbClr val="425D50"/>
                </a:solidFill>
                <a:latin typeface="Arial"/>
              </a:defRPr>
            </a:pPr>
            <a:r>
              <a:t>Consistent move rules</a:t>
            </a:r>
          </a:p>
          <a:p>
            <a:pPr algn="l">
              <a:lnSpc>
                <a:spcPct val="106000"/>
              </a:lnSpc>
              <a:spcBef>
                <a:spcPts val="0"/>
              </a:spcBef>
              <a:spcAft>
                <a:spcPts val="400"/>
              </a:spcAft>
              <a:defRPr sz="2100" b="0">
                <a:solidFill>
                  <a:srgbClr val="425D50"/>
                </a:solidFill>
                <a:latin typeface="Arial"/>
              </a:defRPr>
            </a:pPr>
          </a:p>
          <a:p>
            <a:pPr algn="l">
              <a:lnSpc>
                <a:spcPct val="106000"/>
              </a:lnSpc>
              <a:spcBef>
                <a:spcPts val="0"/>
              </a:spcBef>
              <a:spcAft>
                <a:spcPts val="400"/>
              </a:spcAft>
              <a:defRPr sz="2100" b="0">
                <a:solidFill>
                  <a:srgbClr val="425D50"/>
                </a:solidFill>
                <a:latin typeface="Arial"/>
              </a:defRPr>
            </a:pPr>
            <a:r>
              <a:t>Solution</a:t>
            </a:r>
          </a:p>
          <a:p>
            <a:pPr algn="l">
              <a:lnSpc>
                <a:spcPct val="106000"/>
              </a:lnSpc>
              <a:spcBef>
                <a:spcPts val="0"/>
              </a:spcBef>
              <a:spcAft>
                <a:spcPts val="400"/>
              </a:spcAft>
              <a:defRPr sz="2100" b="0">
                <a:solidFill>
                  <a:srgbClr val="425D50"/>
                </a:solidFill>
                <a:latin typeface="Arial"/>
              </a:defRPr>
            </a:pPr>
            <a:r>
              <a:t>One Game rules engine</a:t>
            </a:r>
          </a:p>
          <a:p>
            <a:pPr algn="l">
              <a:lnSpc>
                <a:spcPct val="106000"/>
              </a:lnSpc>
              <a:spcBef>
                <a:spcPts val="0"/>
              </a:spcBef>
              <a:spcAft>
                <a:spcPts val="400"/>
              </a:spcAft>
              <a:defRPr sz="2100" b="0">
                <a:solidFill>
                  <a:srgbClr val="425D50"/>
                </a:solidFill>
                <a:latin typeface="Arial"/>
              </a:defRPr>
            </a:pPr>
            <a:r>
              <a:t>Copies for BOT search</a:t>
            </a:r>
          </a:p>
        </p:txBody>
      </p:sp>
      <p:sp>
        <p:nvSpPr>
          <p:cNvPr id="22" name="TextBox 21"/>
          <p:cNvSpPr txBox="1"/>
          <p:nvPr/>
        </p:nvSpPr>
        <p:spPr>
          <a:xfrm>
            <a:off x="594360" y="5852160"/>
            <a:ext cx="10972800" cy="438912"/>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285942"/>
                </a:solidFill>
                <a:latin typeface="Arial"/>
              </a:defRPr>
            </a:pPr>
            <a:r>
              <a:t>Learning curve: JavaFX after HTML · practical sockets after network 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ENGINEERING WORK AND OWNERSHIP</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Our contribution — with AI assistance</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11 / 13</a:t>
            </a:r>
          </a:p>
        </p:txBody>
      </p:sp>
      <p:sp>
        <p:nvSpPr>
          <p:cNvPr id="10" name="Rounded Rectangle 9"/>
          <p:cNvSpPr/>
          <p:nvPr/>
        </p:nvSpPr>
        <p:spPr>
          <a:xfrm>
            <a:off x="548640" y="1920240"/>
            <a:ext cx="3538728" cy="31821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21408"/>
            <a:ext cx="41148" cy="2779776"/>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396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Our decisions</a:t>
            </a:r>
          </a:p>
        </p:txBody>
      </p:sp>
      <p:sp>
        <p:nvSpPr>
          <p:cNvPr id="13" name="TextBox 12"/>
          <p:cNvSpPr txBox="1"/>
          <p:nvPr/>
        </p:nvSpPr>
        <p:spPr>
          <a:xfrm>
            <a:off x="777240" y="2880360"/>
            <a:ext cx="3081528" cy="206654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Server owns online state</a:t>
            </a:r>
          </a:p>
          <a:p>
            <a:pPr algn="l">
              <a:lnSpc>
                <a:spcPct val="106000"/>
              </a:lnSpc>
              <a:spcBef>
                <a:spcPts val="0"/>
              </a:spcBef>
              <a:spcAft>
                <a:spcPts val="400"/>
              </a:spcAft>
              <a:defRPr sz="2200" b="0">
                <a:solidFill>
                  <a:srgbClr val="425D50"/>
                </a:solidFill>
                <a:latin typeface="Arial"/>
              </a:defRPr>
            </a:pPr>
            <a:r>
              <a:t>Shared Game rules</a:t>
            </a:r>
          </a:p>
          <a:p>
            <a:pPr algn="l">
              <a:lnSpc>
                <a:spcPct val="106000"/>
              </a:lnSpc>
              <a:spcBef>
                <a:spcPts val="0"/>
              </a:spcBef>
              <a:spcAft>
                <a:spcPts val="400"/>
              </a:spcAft>
              <a:defRPr sz="2200" b="0">
                <a:solidFill>
                  <a:srgbClr val="425D50"/>
                </a:solidFill>
                <a:latin typeface="Arial"/>
              </a:defRPr>
            </a:pPr>
            <a:r>
              <a:t>Authenticated result saving</a:t>
            </a:r>
          </a:p>
        </p:txBody>
      </p:sp>
      <p:sp>
        <p:nvSpPr>
          <p:cNvPr id="14" name="Rounded Rectangle 13"/>
          <p:cNvSpPr/>
          <p:nvPr/>
        </p:nvSpPr>
        <p:spPr>
          <a:xfrm>
            <a:off x="4325112" y="1920240"/>
            <a:ext cx="3538728" cy="31821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343400" y="2121408"/>
            <a:ext cx="41148" cy="2779776"/>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553712" y="21396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Our validation</a:t>
            </a:r>
          </a:p>
        </p:txBody>
      </p:sp>
      <p:sp>
        <p:nvSpPr>
          <p:cNvPr id="17" name="TextBox 16"/>
          <p:cNvSpPr txBox="1"/>
          <p:nvPr/>
        </p:nvSpPr>
        <p:spPr>
          <a:xfrm>
            <a:off x="4553712" y="2880360"/>
            <a:ext cx="3081528" cy="206654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Run two clients</a:t>
            </a:r>
          </a:p>
          <a:p>
            <a:pPr algn="l">
              <a:lnSpc>
                <a:spcPct val="106000"/>
              </a:lnSpc>
              <a:spcBef>
                <a:spcPts val="0"/>
              </a:spcBef>
              <a:spcAft>
                <a:spcPts val="400"/>
              </a:spcAft>
              <a:defRPr sz="2200" b="0">
                <a:solidFill>
                  <a:srgbClr val="425D50"/>
                </a:solidFill>
                <a:latin typeface="Arial"/>
              </a:defRPr>
            </a:pPr>
            <a:r>
              <a:t>Identify UI + animation issues</a:t>
            </a:r>
          </a:p>
          <a:p>
            <a:pPr algn="l">
              <a:lnSpc>
                <a:spcPct val="106000"/>
              </a:lnSpc>
              <a:spcBef>
                <a:spcPts val="0"/>
              </a:spcBef>
              <a:spcAft>
                <a:spcPts val="400"/>
              </a:spcAft>
              <a:defRPr sz="2200" b="0">
                <a:solidFill>
                  <a:srgbClr val="425D50"/>
                </a:solidFill>
                <a:latin typeface="Arial"/>
              </a:defRPr>
            </a:pPr>
            <a:r>
              <a:t>Review and trace the flow</a:t>
            </a:r>
          </a:p>
        </p:txBody>
      </p:sp>
      <p:sp>
        <p:nvSpPr>
          <p:cNvPr id="18" name="Rounded Rectangle 17"/>
          <p:cNvSpPr/>
          <p:nvPr/>
        </p:nvSpPr>
        <p:spPr>
          <a:xfrm>
            <a:off x="8110727" y="1920240"/>
            <a:ext cx="3538728" cy="31821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129015" y="2121408"/>
            <a:ext cx="41148" cy="2779776"/>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339327" y="213969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53B2D"/>
                </a:solidFill>
                <a:latin typeface="Arial"/>
              </a:defRPr>
            </a:pPr>
            <a:r>
              <a:t>AI assistance</a:t>
            </a:r>
          </a:p>
        </p:txBody>
      </p:sp>
      <p:sp>
        <p:nvSpPr>
          <p:cNvPr id="21" name="TextBox 20"/>
          <p:cNvSpPr txBox="1"/>
          <p:nvPr/>
        </p:nvSpPr>
        <p:spPr>
          <a:xfrm>
            <a:off x="8339327" y="2880360"/>
            <a:ext cx="3081528" cy="206654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Generate + revise code</a:t>
            </a:r>
          </a:p>
          <a:p>
            <a:pPr algn="l">
              <a:lnSpc>
                <a:spcPct val="106000"/>
              </a:lnSpc>
              <a:spcBef>
                <a:spcPts val="0"/>
              </a:spcBef>
              <a:spcAft>
                <a:spcPts val="400"/>
              </a:spcAft>
              <a:defRPr sz="2200" b="0">
                <a:solidFill>
                  <a:srgbClr val="425D50"/>
                </a:solidFill>
                <a:latin typeface="Arial"/>
              </a:defRPr>
            </a:pPr>
            <a:r>
              <a:t>Explain behavior</a:t>
            </a:r>
          </a:p>
          <a:p>
            <a:pPr algn="l">
              <a:lnSpc>
                <a:spcPct val="106000"/>
              </a:lnSpc>
              <a:spcBef>
                <a:spcPts val="0"/>
              </a:spcBef>
              <a:spcAft>
                <a:spcPts val="400"/>
              </a:spcAft>
              <a:defRPr sz="2200" b="0">
                <a:solidFill>
                  <a:srgbClr val="425D50"/>
                </a:solidFill>
                <a:latin typeface="Arial"/>
              </a:defRPr>
            </a:pPr>
            <a:r>
              <a:t>Help with tests + documents</a:t>
            </a:r>
          </a:p>
        </p:txBody>
      </p:sp>
      <p:sp>
        <p:nvSpPr>
          <p:cNvPr id="22" name="TextBox 21"/>
          <p:cNvSpPr txBox="1"/>
          <p:nvPr/>
        </p:nvSpPr>
        <p:spPr>
          <a:xfrm>
            <a:off x="594360" y="5385816"/>
            <a:ext cx="10972800" cy="365760"/>
          </a:xfrm>
          <a:prstGeom prst="rect">
            <a:avLst/>
          </a:prstGeom>
          <a:noFill/>
        </p:spPr>
        <p:txBody>
          <a:bodyPr wrap="square" lIns="0" rIns="0" tIns="0" bIns="0">
            <a:noAutofit/>
          </a:bodyPr>
          <a:lstStyle/>
          <a:p>
            <a:pPr algn="l">
              <a:lnSpc>
                <a:spcPct val="106000"/>
              </a:lnSpc>
              <a:spcBef>
                <a:spcPts val="0"/>
              </a:spcBef>
              <a:spcAft>
                <a:spcPts val="400"/>
              </a:spcAft>
              <a:defRPr sz="1900" b="1">
                <a:solidFill>
                  <a:srgbClr val="425D50"/>
                </a:solidFill>
                <a:latin typeface="Arial"/>
              </a:defRPr>
            </a:pPr>
            <a:r>
              <a:t>Responsibility areas</a:t>
            </a:r>
          </a:p>
        </p:txBody>
      </p:sp>
      <p:sp>
        <p:nvSpPr>
          <p:cNvPr id="23" name="TextBox 22"/>
          <p:cNvSpPr txBox="1"/>
          <p:nvPr/>
        </p:nvSpPr>
        <p:spPr>
          <a:xfrm>
            <a:off x="594360" y="5715000"/>
            <a:ext cx="10972800" cy="658368"/>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153B2D"/>
                </a:solidFill>
                <a:latin typeface="Arial"/>
              </a:defRPr>
            </a:pPr>
            <a:r>
              <a:t>Rabea Abu Aad — Game Logic</a:t>
            </a:r>
          </a:p>
          <a:p>
            <a:pPr algn="l">
              <a:lnSpc>
                <a:spcPct val="106000"/>
              </a:lnSpc>
              <a:spcBef>
                <a:spcPts val="0"/>
              </a:spcBef>
              <a:spcAft>
                <a:spcPts val="400"/>
              </a:spcAft>
              <a:defRPr sz="2100" b="0">
                <a:solidFill>
                  <a:srgbClr val="153B2D"/>
                </a:solidFill>
                <a:latin typeface="Arial"/>
              </a:defRPr>
            </a:pPr>
            <a:r>
              <a:t>Muthanna Farhat — TCP Communication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CONCLUSIONS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What we built and learned</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12 / 13</a:t>
            </a:r>
          </a:p>
        </p:txBody>
      </p:sp>
      <p:sp>
        <p:nvSpPr>
          <p:cNvPr id="10" name="TextBox 9"/>
          <p:cNvSpPr txBox="1"/>
          <p:nvPr/>
        </p:nvSpPr>
        <p:spPr>
          <a:xfrm>
            <a:off x="594360" y="1901952"/>
            <a:ext cx="7040880" cy="2148840"/>
          </a:xfrm>
          <a:prstGeom prst="rect">
            <a:avLst/>
          </a:prstGeom>
          <a:noFill/>
        </p:spPr>
        <p:txBody>
          <a:bodyPr wrap="square" lIns="0" rIns="0" tIns="0" bIns="0">
            <a:noAutofit/>
          </a:bodyPr>
          <a:lstStyle/>
          <a:p>
            <a:pPr algn="l">
              <a:lnSpc>
                <a:spcPct val="106000"/>
              </a:lnSpc>
              <a:spcBef>
                <a:spcPts val="0"/>
              </a:spcBef>
              <a:spcAft>
                <a:spcPts val="400"/>
              </a:spcAft>
              <a:defRPr sz="3300" b="1">
                <a:solidFill>
                  <a:srgbClr val="153B2D"/>
                </a:solidFill>
                <a:latin typeface="Arial"/>
              </a:defRPr>
            </a:pPr>
            <a:r>
              <a:t>One authoritative game.</a:t>
            </a:r>
          </a:p>
          <a:p>
            <a:pPr algn="l">
              <a:lnSpc>
                <a:spcPct val="106000"/>
              </a:lnSpc>
              <a:spcBef>
                <a:spcPts val="0"/>
              </a:spcBef>
              <a:spcAft>
                <a:spcPts val="400"/>
              </a:spcAft>
              <a:defRPr sz="3300" b="1">
                <a:solidFill>
                  <a:srgbClr val="153B2D"/>
                </a:solidFill>
                <a:latin typeface="Arial"/>
              </a:defRPr>
            </a:pPr>
            <a:r>
              <a:t>Two synchronized clients.</a:t>
            </a:r>
          </a:p>
          <a:p>
            <a:pPr algn="l">
              <a:lnSpc>
                <a:spcPct val="106000"/>
              </a:lnSpc>
              <a:spcBef>
                <a:spcPts val="0"/>
              </a:spcBef>
              <a:spcAft>
                <a:spcPts val="400"/>
              </a:spcAft>
              <a:defRPr sz="3300" b="1">
                <a:solidFill>
                  <a:srgbClr val="153B2D"/>
                </a:solidFill>
                <a:latin typeface="Arial"/>
              </a:defRPr>
            </a:pPr>
            <a:r>
              <a:t>Persistent player results.</a:t>
            </a:r>
          </a:p>
        </p:txBody>
      </p:sp>
      <p:sp>
        <p:nvSpPr>
          <p:cNvPr id="11" name="Rounded Rectangle 10"/>
          <p:cNvSpPr/>
          <p:nvPr/>
        </p:nvSpPr>
        <p:spPr>
          <a:xfrm>
            <a:off x="8321040" y="1874519"/>
            <a:ext cx="3291840" cy="2761488"/>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549640" y="2523744"/>
            <a:ext cx="2834640" cy="640080"/>
          </a:xfrm>
          <a:prstGeom prst="rect">
            <a:avLst/>
          </a:prstGeom>
          <a:noFill/>
        </p:spPr>
        <p:txBody>
          <a:bodyPr wrap="square" lIns="0" rIns="0" tIns="0" bIns="0">
            <a:noAutofit/>
          </a:bodyPr>
          <a:lstStyle/>
          <a:p>
            <a:pPr algn="ctr">
              <a:lnSpc>
                <a:spcPct val="106000"/>
              </a:lnSpc>
              <a:spcBef>
                <a:spcPts val="0"/>
              </a:spcBef>
              <a:spcAft>
                <a:spcPts val="400"/>
              </a:spcAft>
              <a:defRPr sz="2900" b="1">
                <a:solidFill>
                  <a:srgbClr val="153B2D"/>
                </a:solidFill>
                <a:latin typeface="Arial"/>
              </a:defRPr>
            </a:pPr>
            <a:r>
              <a:t>Next: chat</a:t>
            </a:r>
          </a:p>
        </p:txBody>
      </p:sp>
      <p:sp>
        <p:nvSpPr>
          <p:cNvPr id="13" name="TextBox 12"/>
          <p:cNvSpPr txBox="1"/>
          <p:nvPr/>
        </p:nvSpPr>
        <p:spPr>
          <a:xfrm>
            <a:off x="8549640" y="3429000"/>
            <a:ext cx="2834640" cy="932688"/>
          </a:xfrm>
          <a:prstGeom prst="rect">
            <a:avLst/>
          </a:prstGeom>
          <a:noFill/>
        </p:spPr>
        <p:txBody>
          <a:bodyPr wrap="square" lIns="0" rIns="0" tIns="0" bIns="0">
            <a:noAutofit/>
          </a:bodyPr>
          <a:lstStyle/>
          <a:p>
            <a:pPr algn="ctr">
              <a:lnSpc>
                <a:spcPct val="106000"/>
              </a:lnSpc>
              <a:spcBef>
                <a:spcPts val="0"/>
              </a:spcBef>
              <a:spcAft>
                <a:spcPts val="400"/>
              </a:spcAft>
              <a:defRPr sz="2200" b="0">
                <a:solidFill>
                  <a:srgbClr val="425D50"/>
                </a:solidFill>
                <a:latin typeface="Arial"/>
              </a:defRPr>
            </a:pPr>
            <a:r>
              <a:t>Inside the room</a:t>
            </a:r>
          </a:p>
          <a:p>
            <a:pPr algn="ctr">
              <a:lnSpc>
                <a:spcPct val="106000"/>
              </a:lnSpc>
              <a:spcBef>
                <a:spcPts val="0"/>
              </a:spcBef>
              <a:spcAft>
                <a:spcPts val="400"/>
              </a:spcAft>
              <a:defRPr sz="2200" b="0">
                <a:solidFill>
                  <a:srgbClr val="425D50"/>
                </a:solidFill>
                <a:latin typeface="Arial"/>
              </a:defRPr>
            </a:pPr>
            <a:r>
              <a:t>Over existing TCP</a:t>
            </a:r>
          </a:p>
        </p:txBody>
      </p:sp>
      <p:cxnSp>
        <p:nvCxnSpPr>
          <p:cNvPr id="14" name="Connector 13"/>
          <p:cNvCxnSpPr/>
          <p:nvPr/>
        </p:nvCxnSpPr>
        <p:spPr>
          <a:xfrm>
            <a:off x="594360" y="4507992"/>
            <a:ext cx="6720840" cy="0"/>
          </a:xfrm>
          <a:prstGeom prst="line">
            <a:avLst/>
          </a:prstGeom>
          <a:ln w="1778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594360" y="4773168"/>
            <a:ext cx="7315200" cy="9144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Learning: JavaFX, practical networking,</a:t>
            </a:r>
          </a:p>
          <a:p>
            <a:pPr algn="l">
              <a:lnSpc>
                <a:spcPct val="106000"/>
              </a:lnSpc>
              <a:spcBef>
                <a:spcPts val="0"/>
              </a:spcBef>
              <a:spcAft>
                <a:spcPts val="400"/>
              </a:spcAft>
              <a:defRPr sz="2300" b="0">
                <a:solidFill>
                  <a:srgbClr val="153B2D"/>
                </a:solidFill>
                <a:latin typeface="Arial"/>
              </a:defRPr>
            </a:pPr>
            <a:r>
              <a:t>and integration across UI, rules and storage.</a:t>
            </a:r>
          </a:p>
        </p:txBody>
      </p:sp>
      <p:sp>
        <p:nvSpPr>
          <p:cNvPr id="16" name="TextBox 15"/>
          <p:cNvSpPr txBox="1"/>
          <p:nvPr/>
        </p:nvSpPr>
        <p:spPr>
          <a:xfrm>
            <a:off x="594360" y="5888736"/>
            <a:ext cx="9966960" cy="384048"/>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285942"/>
                </a:solidFill>
                <a:latin typeface="Arial"/>
              </a:defRPr>
            </a:pPr>
            <a:r>
              <a:rPr>
                <a:hlinkClick r:id="rId2"/>
              </a:rPr>
              <a:t>github.com/MuthannaFrhat/damka-game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THANK YOU</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13 / 13</a:t>
            </a:r>
          </a:p>
        </p:txBody>
      </p:sp>
      <p:sp>
        <p:nvSpPr>
          <p:cNvPr id="10" name="Rectangle 9"/>
          <p:cNvSpPr/>
          <p:nvPr/>
        </p:nvSpPr>
        <p:spPr>
          <a:xfrm>
            <a:off x="9034272"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509760"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9985248"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10460736"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9034272"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9509760"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9985248"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10460736"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9034272"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9509760"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9985248"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10460736"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9034272"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9509760"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9985248"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10460736"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9134856"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0085832"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9134856" y="3950207"/>
            <a:ext cx="274320" cy="274320"/>
          </a:xfrm>
          <a:prstGeom prst="ellipse">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85800" y="2148840"/>
            <a:ext cx="7955279" cy="1051560"/>
          </a:xfrm>
          <a:prstGeom prst="rect">
            <a:avLst/>
          </a:prstGeom>
          <a:noFill/>
        </p:spPr>
        <p:txBody>
          <a:bodyPr wrap="square" lIns="0" rIns="0" tIns="0" bIns="0">
            <a:noAutofit/>
          </a:bodyPr>
          <a:lstStyle/>
          <a:p>
            <a:pPr algn="l">
              <a:lnSpc>
                <a:spcPct val="106000"/>
              </a:lnSpc>
              <a:spcBef>
                <a:spcPts val="0"/>
              </a:spcBef>
              <a:spcAft>
                <a:spcPts val="400"/>
              </a:spcAft>
              <a:defRPr sz="6100" b="1">
                <a:solidFill>
                  <a:srgbClr val="153B2D"/>
                </a:solidFill>
                <a:latin typeface="Arial"/>
              </a:defRPr>
            </a:pPr>
            <a:r>
              <a:t>THANK YOU</a:t>
            </a:r>
          </a:p>
        </p:txBody>
      </p:sp>
      <p:sp>
        <p:nvSpPr>
          <p:cNvPr id="30" name="Rectangle 29"/>
          <p:cNvSpPr/>
          <p:nvPr/>
        </p:nvSpPr>
        <p:spPr>
          <a:xfrm>
            <a:off x="713232" y="3557016"/>
            <a:ext cx="1143000" cy="59436"/>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13232" y="3931920"/>
            <a:ext cx="7772400" cy="658368"/>
          </a:xfrm>
          <a:prstGeom prst="rect">
            <a:avLst/>
          </a:prstGeom>
          <a:noFill/>
        </p:spPr>
        <p:txBody>
          <a:bodyPr wrap="square" lIns="0" rIns="0" tIns="0" bIns="0">
            <a:noAutofit/>
          </a:bodyPr>
          <a:lstStyle/>
          <a:p>
            <a:pPr algn="l">
              <a:lnSpc>
                <a:spcPct val="106000"/>
              </a:lnSpc>
              <a:spcBef>
                <a:spcPts val="0"/>
              </a:spcBef>
              <a:spcAft>
                <a:spcPts val="400"/>
              </a:spcAft>
              <a:defRPr sz="2900" b="0">
                <a:solidFill>
                  <a:srgbClr val="425D50"/>
                </a:solidFill>
                <a:latin typeface="Arial"/>
              </a:defRPr>
            </a:pPr>
            <a:r>
              <a:t>Questions &amp; discussion</a:t>
            </a:r>
          </a:p>
        </p:txBody>
      </p:sp>
      <p:sp>
        <p:nvSpPr>
          <p:cNvPr id="32" name="TextBox 31"/>
          <p:cNvSpPr txBox="1"/>
          <p:nvPr/>
        </p:nvSpPr>
        <p:spPr>
          <a:xfrm>
            <a:off x="713232" y="5715000"/>
            <a:ext cx="10789920" cy="43891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285942"/>
                </a:solidFill>
                <a:latin typeface="Arial"/>
              </a:defRPr>
            </a:pPr>
            <a:r>
              <a:rPr>
                <a:hlinkClick r:id="rId2"/>
              </a:rPr>
              <a:t>github.com/MuthannaFrhat/damka-game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Damka — Network Checkers</dc:title>
  <dc:subject>Final project presentation — 15 minutes</dc:subject>
  <dc:creator>Muthanna Farhat; Rabea Abu Aad</dc:creator>
  <cp:keywords>Java, JavaFX, TCP, SQLite, Checkers, Minimax</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